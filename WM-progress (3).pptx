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326" r:id="rId6"/>
    <p:sldId id="330" r:id="rId7"/>
    <p:sldId id="350" r:id="rId8"/>
    <p:sldId id="354" r:id="rId9"/>
    <p:sldId id="355" r:id="rId10"/>
    <p:sldId id="351" r:id="rId11"/>
    <p:sldId id="359" r:id="rId12"/>
    <p:sldId id="358" r:id="rId13"/>
    <p:sldId id="352" r:id="rId14"/>
    <p:sldId id="353" r:id="rId15"/>
    <p:sldId id="346" r:id="rId16"/>
    <p:sldId id="357" r:id="rId17"/>
    <p:sldId id="363" r:id="rId18"/>
    <p:sldId id="356" r:id="rId19"/>
    <p:sldId id="364" r:id="rId20"/>
    <p:sldId id="361" r:id="rId21"/>
    <p:sldId id="360" r:id="rId22"/>
    <p:sldId id="362" r:id="rId23"/>
    <p:sldId id="34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E77C97F-AD16-7306-61E3-58C22FBF3ADE}" name="Tran Van Toan 20214932" initials="TVT2" userId="S::Toan.TV214932@sis.hust.edu.vn::cab34314-403c-46c4-baac-963e1336331f" providerId="AD"/>
  <p188:author id="{4DE688C1-7E9F-9FDC-F2A2-CB786ED72896}" name="Truong Gia Bach 20210087" initials="" userId="S::Bach.TG210087@sis.hust.edu.vn::03395925-491c-4cec-8e54-6eb19e6ddd7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5594EE-6AD1-84C5-6EC7-E78E4C4F0AF1}" v="47" dt="2024-12-22T16:42:54.199"/>
    <p1510:client id="{DBAB7BAE-2D29-5D93-7531-9D03C24DE28B}" v="8" dt="2024-12-22T16:41:29.085"/>
    <p1510:client id="{DC596EC8-8BFA-BDE2-84F9-69440BBF2AB9}" v="19" dt="2024-12-22T12:00:39.007"/>
    <p1510:client id="{E586D1B5-4140-0970-CA33-66D5F9979C55}" v="8" dt="2024-12-22T16:25:08.151"/>
    <p1510:client id="{E5E1C827-CE3D-0952-FB45-A48DBD40F132}" v="2" dt="2024-12-22T16:31:29.029"/>
    <p1510:client id="{EE6D9648-54B5-F235-3FD6-A8360CE7714E}" v="1495" dt="2024-12-22T16:24:21.405"/>
    <p1510:client id="{FEBEB4B4-D472-4423-3E84-A92CFBFC91B1}" v="77" dt="2024-12-22T16:35:57.3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8/10/relationships/authors" Target="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051E2-C16D-6EB3-A8B3-F3E2DD5A15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02AEF1-68AC-2F3E-A0CD-4E5455F31F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t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D6AA9-B494-38F8-6874-CAAEE2587D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E69FA9-D36C-4A97-9468-96BCF2EACC0E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F9594-9A91-FE55-C6A3-EA81D7F28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84BA1-1F9E-5119-BB1B-67FEAA387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C5F7AD-49E5-4CD1-A1CD-29877F67F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4539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AB250-4B8E-8134-0E28-D38AA45BC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6EBE2-54D8-F6FE-0A51-DE56F7582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D58F5-FCAB-9E23-DE92-233112D0FD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E69FA9-D36C-4A97-9468-96BCF2EACC0E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88CA6-2957-F5EB-AF53-CAB5A7643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85E5A-752E-8C49-3A47-B9E3EFB0B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C5F7AD-49E5-4CD1-A1CD-29877F67F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6116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01C64-ACA0-8A8E-C7A1-E46ABC7B9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B3BAE6-AEBA-EE6D-CFD3-4F903DE51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40A09-C0B0-74CE-2C45-D572C4908E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E69FA9-D36C-4A97-9468-96BCF2EACC0E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01F1A1-0F7B-6D25-E1BC-2D6F6C5CB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E98BE-A0C5-3826-31D1-33EA7C347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C5F7AD-49E5-4CD1-A1CD-29877F67F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6941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63C41-6380-86D7-6E1F-C04BDD431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EDFDB-18C6-A93D-C05A-935B5007D8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D779F2-F0F7-291A-A02D-98B6719134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44D345-E714-69BA-FEE6-1B6E535624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E69FA9-D36C-4A97-9468-96BCF2EACC0E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2D33F7-83AE-6848-7975-B76523B74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DE5565-FCDE-8FEF-1943-6349E349D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C5F7AD-49E5-4CD1-A1CD-29877F67F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6473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9BD11-48BC-BB49-B5BC-EC3738ED2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319C4D-ECA5-A06B-52FC-08A4CB53A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D77438-CF7D-F266-655E-70E6B7C9A2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80EE18-0BE4-E122-4BE6-93830C9B58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4DBB70-0029-2D11-04ED-F1B8DA3967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5FC963-F9B6-BFFD-0FAF-60222DF245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E69FA9-D36C-4A97-9468-96BCF2EACC0E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F3FE2C-4D09-21F4-DF88-085BCD482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D17851-600D-5AE6-5BE3-E99648F49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C5F7AD-49E5-4CD1-A1CD-29877F67F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4747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C0699-52CF-146D-97CF-6CD7C0DFA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3D23D-32E5-C76E-CF90-1B57CB7BA2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E69FA9-D36C-4A97-9468-96BCF2EACC0E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CC028B-101F-9888-34F9-B4345CA46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835239-F8C4-8301-7ECC-6D6E0BE22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C5F7AD-49E5-4CD1-A1CD-29877F67F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7462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CC8856-469B-FFF7-77F9-9B63CDFA01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E69FA9-D36C-4A97-9468-96BCF2EACC0E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3F4016-0490-AC5C-7534-61CAE02D9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02F94D-66E1-7ACE-9CDF-A2D1AFFF8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C5F7AD-49E5-4CD1-A1CD-29877F67F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620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10FFE-CD6A-B1C7-137E-276441D2D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D451E-9B2C-6C81-FE07-19F5A281ED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9BA80E-F2EB-4F8B-527C-23376F5A76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DD3286-FC3E-59B8-7699-73BCA73C76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E69FA9-D36C-4A97-9468-96BCF2EACC0E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C51989-64C4-50D8-142E-2DB38476E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4BF58F-7D7A-0DBA-0B58-3AD459283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C5F7AD-49E5-4CD1-A1CD-29877F67F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6200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8B275-63D9-D27C-1166-243585B5D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921A9D-B1C7-67CA-4FA1-A89B821FA5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AC33C3-C422-21B4-4C51-F681022602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6165DB-6E84-FB6B-D591-BE2508D082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E69FA9-D36C-4A97-9468-96BCF2EACC0E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BCEA2D-8406-B274-B577-A9100824A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88287B-FA3B-C3D8-AF87-1450C4D7B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C5F7AD-49E5-4CD1-A1CD-29877F67F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8492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65312-B3E3-DBC4-815B-1F4672597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B27B54-94FA-4DEF-7DAA-62DC90E8D7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CBCAE-6D62-4B4D-F930-3C6EEA544A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E69FA9-D36C-4A97-9468-96BCF2EACC0E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77F6D-CF37-644F-7A58-7733D61A0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0175A-173A-C34B-1597-0562CC185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C5F7AD-49E5-4CD1-A1CD-29877F67F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5350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89E35D-DFD8-D4AD-44C4-3C130CA806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B11953-111F-0A1A-CD4F-67E000FF10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B9D4C-5C52-59B3-B7F7-120C314813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E69FA9-D36C-4A97-9468-96BCF2EACC0E}" type="datetimeFigureOut">
              <a:rPr lang="en-US" smtClean="0"/>
              <a:t>12/22/2024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1B18A-F54F-ACFB-801F-E3DE52503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2C160-1F28-5B7B-6544-1140D5542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C5F7AD-49E5-4CD1-A1CD-29877F67F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8931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ED1D4A-8E03-FC03-6AD4-AB6718815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C52B6D-BD4D-944D-A4F5-736679F53B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CA240-4D9D-92A3-4C82-46D5FAF4A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82FB5E-119A-4D83-B6F5-6AE3347CDCB7}" type="datetime1">
              <a:rPr lang="vi-VN" smtClean="0"/>
              <a:pPr/>
              <a:t>22/12/2024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5672E-84C9-3CA0-81FB-2703B7D60A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7308A-97EE-92F5-D207-8056264176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C5F7AD-49E5-4CD1-A1CD-29877F67F6D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257D14-7726-4514-5EEF-519FB8068B80}"/>
              </a:ext>
            </a:extLst>
          </p:cNvPr>
          <p:cNvSpPr/>
          <p:nvPr userDrawn="1"/>
        </p:nvSpPr>
        <p:spPr>
          <a:xfrm>
            <a:off x="0" y="0"/>
            <a:ext cx="277368" cy="6858000"/>
          </a:xfrm>
          <a:prstGeom prst="rect">
            <a:avLst/>
          </a:prstGeom>
          <a:ln w="28575">
            <a:solidFill>
              <a:srgbClr val="99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5C76CC7E-A64C-53C1-C7A1-FEA77B1C5A4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8110" y="6412476"/>
            <a:ext cx="1386522" cy="27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350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92215-93AB-4FE6-1492-F28294BBAF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11905"/>
            <a:ext cx="9263062" cy="2387600"/>
          </a:xfrm>
        </p:spPr>
        <p:txBody>
          <a:bodyPr>
            <a:normAutofit/>
          </a:bodyPr>
          <a:lstStyle/>
          <a:p>
            <a:r>
              <a:rPr lang="en-US" b="1" err="1"/>
              <a:t>Movielen</a:t>
            </a:r>
            <a:r>
              <a:rPr lang="en-US" b="1"/>
              <a:t> Dataset</a:t>
            </a:r>
            <a:br>
              <a:rPr lang="en-US" b="1"/>
            </a:br>
            <a:r>
              <a:rPr lang="en-US" b="1"/>
              <a:t>Recommend System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A3BC7EC8-052A-FBF1-14B4-EF6BE2F927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900799"/>
              </p:ext>
            </p:extLst>
          </p:nvPr>
        </p:nvGraphicFramePr>
        <p:xfrm>
          <a:off x="1524000" y="3850175"/>
          <a:ext cx="7751637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82956">
                  <a:extLst>
                    <a:ext uri="{9D8B030D-6E8A-4147-A177-3AD203B41FA5}">
                      <a16:colId xmlns:a16="http://schemas.microsoft.com/office/drawing/2014/main" val="12582986"/>
                    </a:ext>
                  </a:extLst>
                </a:gridCol>
                <a:gridCol w="4968681">
                  <a:extLst>
                    <a:ext uri="{9D8B030D-6E8A-4147-A177-3AD203B41FA5}">
                      <a16:colId xmlns:a16="http://schemas.microsoft.com/office/drawing/2014/main" val="3402216171"/>
                    </a:ext>
                  </a:extLst>
                </a:gridCol>
              </a:tblGrid>
              <a:tr h="349857">
                <a:tc gridSpan="2">
                  <a:txBody>
                    <a:bodyPr/>
                    <a:lstStyle/>
                    <a:p>
                      <a:r>
                        <a:rPr lang="en-US"/>
                        <a:t>Members: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2991096"/>
                  </a:ext>
                </a:extLst>
              </a:tr>
              <a:tr h="349857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latin typeface="+mn-lt"/>
                        </a:rPr>
                        <a:t>Phan Duc Hung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latin typeface="+mn-lt"/>
                        </a:rPr>
                        <a:t>Nguyen Nam Hai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latin typeface="+mn-lt"/>
                        </a:rPr>
                        <a:t>Le Ngoc Binh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800000"/>
                          </a:solidFill>
                        </a:rPr>
                        <a:t>Nguyen Thanh Binh</a:t>
                      </a:r>
                    </a:p>
                    <a:p>
                      <a:pPr lvl="0" algn="l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800000"/>
                          </a:solidFill>
                          <a:latin typeface="Lato"/>
                        </a:rPr>
                        <a:t>Tran Quoc De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20214903</a:t>
                      </a:r>
                    </a:p>
                    <a:p>
                      <a:pPr lvl="0" algn="l">
                        <a:buNone/>
                      </a:pPr>
                      <a:r>
                        <a:rPr lang="en-US"/>
                        <a:t>20214894</a:t>
                      </a:r>
                    </a:p>
                    <a:p>
                      <a:pPr lvl="0" algn="l">
                        <a:buNone/>
                      </a:pPr>
                      <a:r>
                        <a:rPr lang="en-US"/>
                        <a:t>20214878</a:t>
                      </a:r>
                    </a:p>
                    <a:p>
                      <a:pPr lvl="0" algn="l">
                        <a:buNone/>
                      </a:pPr>
                      <a:r>
                        <a:rPr lang="en-US"/>
                        <a:t>20210106</a:t>
                      </a:r>
                    </a:p>
                    <a:p>
                      <a:pPr lvl="0" algn="l">
                        <a:buNone/>
                      </a:pPr>
                      <a:r>
                        <a:rPr lang="en-US"/>
                        <a:t>20210179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3652707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20554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86FDA77-1A00-8A23-AEB5-5027F14B6FC4}"/>
              </a:ext>
            </a:extLst>
          </p:cNvPr>
          <p:cNvSpPr txBox="1">
            <a:spLocks/>
          </p:cNvSpPr>
          <p:nvPr/>
        </p:nvSpPr>
        <p:spPr>
          <a:xfrm>
            <a:off x="838200" y="3700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Table Of Content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189639-84A9-8C0C-1ACE-C78604D86DF2}"/>
              </a:ext>
            </a:extLst>
          </p:cNvPr>
          <p:cNvSpPr txBox="1"/>
          <p:nvPr/>
        </p:nvSpPr>
        <p:spPr>
          <a:xfrm>
            <a:off x="838200" y="1728758"/>
            <a:ext cx="11015268" cy="4262257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/>
          <a:p>
            <a:pPr marL="971550" indent="-514350">
              <a:lnSpc>
                <a:spcPct val="200000"/>
              </a:lnSpc>
              <a:buFont typeface="+mj-lt"/>
              <a:buAutoNum type="arabicPeriod"/>
            </a:pPr>
            <a:r>
              <a:rPr lang="en-US" sz="2800" b="1"/>
              <a:t>Introduction</a:t>
            </a:r>
          </a:p>
          <a:p>
            <a:pPr marL="971550" indent="-514350">
              <a:lnSpc>
                <a:spcPct val="200000"/>
              </a:lnSpc>
              <a:buAutoNum type="arabicPeriod"/>
            </a:pPr>
            <a:r>
              <a:rPr lang="en-US" sz="2800" b="1">
                <a:ea typeface="Lato"/>
                <a:cs typeface="Lato"/>
              </a:rPr>
              <a:t>Dataset</a:t>
            </a:r>
          </a:p>
          <a:p>
            <a:pPr marL="971550" indent="-514350">
              <a:lnSpc>
                <a:spcPct val="200000"/>
              </a:lnSpc>
              <a:buAutoNum type="arabicPeriod"/>
            </a:pPr>
            <a:r>
              <a:rPr lang="en-US" sz="2800" b="1">
                <a:ea typeface="Lato"/>
                <a:cs typeface="Lato"/>
              </a:rPr>
              <a:t>Methods</a:t>
            </a:r>
          </a:p>
          <a:p>
            <a:pPr marL="971550" indent="-514350">
              <a:lnSpc>
                <a:spcPct val="200000"/>
              </a:lnSpc>
              <a:buAutoNum type="arabicPeriod"/>
            </a:pPr>
            <a:r>
              <a:rPr lang="en-US" sz="2800" b="1">
                <a:ea typeface="Lato"/>
                <a:cs typeface="Lato"/>
              </a:rPr>
              <a:t>Experiment Result</a:t>
            </a:r>
          </a:p>
          <a:p>
            <a:pPr marL="971550" indent="-514350">
              <a:lnSpc>
                <a:spcPct val="200000"/>
              </a:lnSpc>
              <a:buAutoNum type="arabicPeriod"/>
            </a:pPr>
            <a:r>
              <a:rPr lang="en-US" sz="2800" b="1">
                <a:ea typeface="Lato"/>
                <a:cs typeface="Lato"/>
              </a:rPr>
              <a:t>Contributions</a:t>
            </a:r>
          </a:p>
        </p:txBody>
      </p:sp>
    </p:spTree>
    <p:extLst>
      <p:ext uri="{BB962C8B-B14F-4D97-AF65-F5344CB8AC3E}">
        <p14:creationId xmlns:p14="http://schemas.microsoft.com/office/powerpoint/2010/main" val="12684624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75DE5-E84C-8DC2-5851-6C6C7F352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1. Introduction</a:t>
            </a:r>
            <a:endParaRPr lang="en-US" b="1">
              <a:ea typeface="Questrial"/>
              <a:cs typeface="Quest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0D918-4D20-E570-A834-3467E0031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65600" cy="482493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just">
              <a:buFont typeface="Calibri" panose="020B0604020202020204" pitchFamily="34" charset="0"/>
              <a:buChar char="-"/>
            </a:pPr>
            <a:r>
              <a:rPr lang="en-US" sz="2000">
                <a:highlight>
                  <a:srgbClr val="FFFFFF"/>
                </a:highlight>
                <a:ea typeface="Lato"/>
                <a:cs typeface="Lato"/>
              </a:rPr>
              <a:t>What</a:t>
            </a:r>
            <a:r>
              <a:rPr lang="en-US" sz="2000">
                <a:solidFill>
                  <a:schemeClr val="tx1">
                    <a:lumMod val="49000"/>
                  </a:schemeClr>
                </a:solidFill>
                <a:highlight>
                  <a:srgbClr val="FFFFFF"/>
                </a:highlight>
                <a:ea typeface="Lato"/>
                <a:cs typeface="Lato"/>
              </a:rPr>
              <a:t>: Systems</a:t>
            </a:r>
            <a:r>
              <a:rPr lang="en-US" sz="2000">
                <a:solidFill>
                  <a:schemeClr val="tx1">
                    <a:lumMod val="49000"/>
                  </a:schemeClr>
                </a:solidFill>
                <a:highlight>
                  <a:srgbClr val="FFFFFF"/>
                </a:highlight>
                <a:ea typeface="+mn-lt"/>
                <a:cs typeface="+mn-lt"/>
              </a:rPr>
              <a:t> that suggest things you might like (e.g., movies, products).</a:t>
            </a:r>
            <a:endParaRPr lang="vi-VN">
              <a:solidFill>
                <a:schemeClr val="tx1">
                  <a:lumMod val="49000"/>
                </a:schemeClr>
              </a:solidFill>
              <a:ea typeface="Lato"/>
              <a:cs typeface="Lato"/>
            </a:endParaRPr>
          </a:p>
          <a:p>
            <a:pPr marL="342900" indent="-342900" algn="just">
              <a:buFont typeface="Calibri" panose="020B0604020202020204" pitchFamily="34" charset="0"/>
              <a:buChar char="-"/>
            </a:pPr>
            <a:r>
              <a:rPr lang="en-US" sz="2000">
                <a:highlight>
                  <a:srgbClr val="FFFFFF"/>
                </a:highlight>
                <a:ea typeface="Lato"/>
                <a:cs typeface="Lato"/>
              </a:rPr>
              <a:t>Why</a:t>
            </a:r>
            <a:r>
              <a:rPr lang="en-US" sz="2000">
                <a:solidFill>
                  <a:schemeClr val="tx1">
                    <a:lumMod val="49000"/>
                  </a:schemeClr>
                </a:solidFill>
                <a:highlight>
                  <a:srgbClr val="FFFFFF"/>
                </a:highlight>
                <a:ea typeface="Lato"/>
                <a:cs typeface="Lato"/>
              </a:rPr>
              <a:t>: </a:t>
            </a:r>
            <a:endParaRPr lang="en-US" sz="2000">
              <a:solidFill>
                <a:schemeClr val="tx1">
                  <a:lumMod val="49000"/>
                </a:schemeClr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pPr marL="800100" lvl="1" indent="-342900" algn="just">
              <a:buFont typeface="Courier New,monospace" panose="020B0604020202020204" pitchFamily="34" charset="0"/>
              <a:buChar char="o"/>
            </a:pPr>
            <a:r>
              <a:rPr lang="en-US" sz="1600">
                <a:solidFill>
                  <a:schemeClr val="tx1">
                    <a:lumMod val="49000"/>
                  </a:schemeClr>
                </a:solidFill>
                <a:highlight>
                  <a:srgbClr val="FFFFFF"/>
                </a:highlight>
                <a:latin typeface="Arial"/>
                <a:ea typeface="Lato"/>
                <a:cs typeface="Arial"/>
              </a:rPr>
              <a:t>Help users find what they need.</a:t>
            </a:r>
          </a:p>
          <a:p>
            <a:pPr marL="800100" lvl="1" indent="-342900" algn="just">
              <a:buFont typeface="Courier New,monospace" panose="020B0604020202020204" pitchFamily="34" charset="0"/>
              <a:buChar char="o"/>
            </a:pPr>
            <a:r>
              <a:rPr lang="en-US" sz="1600">
                <a:solidFill>
                  <a:schemeClr val="tx1">
                    <a:lumMod val="49000"/>
                  </a:schemeClr>
                </a:solidFill>
                <a:highlight>
                  <a:srgbClr val="FFFFFF"/>
                </a:highlight>
                <a:latin typeface="Arial"/>
                <a:ea typeface="Lato"/>
                <a:cs typeface="Arial"/>
              </a:rPr>
              <a:t>Boost sales and user activity for retailer.</a:t>
            </a:r>
            <a:endParaRPr lang="en-US">
              <a:solidFill>
                <a:schemeClr val="tx1">
                  <a:lumMod val="49000"/>
                </a:schemeClr>
              </a:solidFill>
              <a:ea typeface="Lato"/>
              <a:cs typeface="Lato"/>
            </a:endParaRPr>
          </a:p>
          <a:p>
            <a:pPr marL="342900" indent="-342900" algn="just">
              <a:buFont typeface="Calibri" panose="020B0604020202020204" pitchFamily="34" charset="0"/>
              <a:buChar char="-"/>
            </a:pPr>
            <a:r>
              <a:rPr lang="en-US" sz="2000">
                <a:highlight>
                  <a:srgbClr val="FFFFFF"/>
                </a:highlight>
                <a:ea typeface="Lato"/>
                <a:cs typeface="Lato"/>
              </a:rPr>
              <a:t>Types</a:t>
            </a:r>
            <a:r>
              <a:rPr lang="en-US" sz="2000">
                <a:solidFill>
                  <a:schemeClr val="tx1">
                    <a:lumMod val="49000"/>
                  </a:schemeClr>
                </a:solidFill>
                <a:highlight>
                  <a:srgbClr val="FFFFFF"/>
                </a:highlight>
                <a:ea typeface="Lato"/>
                <a:cs typeface="Lato"/>
              </a:rPr>
              <a:t>:</a:t>
            </a:r>
          </a:p>
          <a:p>
            <a:pPr marL="800100" lvl="1" indent="-342900" algn="just">
              <a:buFont typeface="Courier New,monospace" panose="020B0604020202020204" pitchFamily="34" charset="0"/>
              <a:buChar char="o"/>
            </a:pPr>
            <a:r>
              <a:rPr lang="en-US" sz="1600" b="1">
                <a:solidFill>
                  <a:schemeClr val="tx1">
                    <a:lumMod val="49000"/>
                  </a:schemeClr>
                </a:solidFill>
                <a:highlight>
                  <a:srgbClr val="FFFFFF"/>
                </a:highlight>
                <a:ea typeface="+mn-lt"/>
                <a:cs typeface="+mn-lt"/>
              </a:rPr>
              <a:t>Content-Based Filtering:</a:t>
            </a:r>
            <a:r>
              <a:rPr lang="en-US" sz="1600">
                <a:solidFill>
                  <a:schemeClr val="tx1">
                    <a:lumMod val="49000"/>
                  </a:schemeClr>
                </a:solidFill>
                <a:highlight>
                  <a:srgbClr val="FFFFFF"/>
                </a:highlight>
                <a:ea typeface="+mn-lt"/>
                <a:cs typeface="+mn-lt"/>
              </a:rPr>
              <a:t> Matches item features with user preferences.</a:t>
            </a:r>
          </a:p>
          <a:p>
            <a:pPr marL="800100" lvl="1" indent="-342900" algn="just">
              <a:buFont typeface="Courier New,monospace" panose="020B0604020202020204" pitchFamily="34" charset="0"/>
              <a:buChar char="o"/>
            </a:pPr>
            <a:r>
              <a:rPr lang="en-US" sz="1600" b="1">
                <a:solidFill>
                  <a:schemeClr val="tx1">
                    <a:lumMod val="49000"/>
                  </a:schemeClr>
                </a:solidFill>
                <a:highlight>
                  <a:srgbClr val="FFFFFF"/>
                </a:highlight>
                <a:ea typeface="+mn-lt"/>
                <a:cs typeface="+mn-lt"/>
              </a:rPr>
              <a:t>Collaborative Filtering:</a:t>
            </a:r>
            <a:r>
              <a:rPr lang="en-US" sz="1600">
                <a:solidFill>
                  <a:schemeClr val="tx1">
                    <a:lumMod val="49000"/>
                  </a:schemeClr>
                </a:solidFill>
                <a:highlight>
                  <a:srgbClr val="FFFFFF"/>
                </a:highlight>
                <a:ea typeface="+mn-lt"/>
                <a:cs typeface="+mn-lt"/>
              </a:rPr>
              <a:t> Leverages preferences of similar users.</a:t>
            </a:r>
            <a:endParaRPr lang="en-US">
              <a:solidFill>
                <a:schemeClr val="tx1">
                  <a:lumMod val="49000"/>
                </a:schemeClr>
              </a:solidFill>
            </a:endParaRPr>
          </a:p>
          <a:p>
            <a:pPr marL="342900" indent="-342900" algn="just">
              <a:buFont typeface="Calibri" panose="020B0604020202020204" pitchFamily="34" charset="0"/>
              <a:buChar char="-"/>
            </a:pPr>
            <a:r>
              <a:rPr lang="en-US" sz="2000">
                <a:highlight>
                  <a:srgbClr val="FFFFFF"/>
                </a:highlight>
                <a:ea typeface="+mn-lt"/>
                <a:cs typeface="+mn-lt"/>
              </a:rPr>
              <a:t>Target</a:t>
            </a:r>
            <a:r>
              <a:rPr lang="en-US" sz="2000">
                <a:solidFill>
                  <a:schemeClr val="tx1">
                    <a:lumMod val="49000"/>
                  </a:schemeClr>
                </a:solidFill>
                <a:highlight>
                  <a:srgbClr val="FFFFFF"/>
                </a:highlight>
                <a:ea typeface="+mn-lt"/>
                <a:cs typeface="+mn-lt"/>
              </a:rPr>
              <a:t>:</a:t>
            </a:r>
          </a:p>
          <a:p>
            <a:pPr marL="800100" lvl="1" indent="-342900" algn="just">
              <a:buFont typeface="Courier New" panose="020B0604020202020204" pitchFamily="34" charset="0"/>
              <a:buChar char="o"/>
            </a:pPr>
            <a:r>
              <a:rPr lang="en-US" sz="1600">
                <a:solidFill>
                  <a:schemeClr val="tx1">
                    <a:lumMod val="49000"/>
                  </a:schemeClr>
                </a:solidFill>
                <a:highlight>
                  <a:srgbClr val="FFFFFF"/>
                </a:highlight>
                <a:ea typeface="+mn-lt"/>
                <a:cs typeface="+mn-lt"/>
              </a:rPr>
              <a:t>Unify the methods on the same dataset for comparison.</a:t>
            </a:r>
          </a:p>
          <a:p>
            <a:pPr marL="800100" lvl="1" indent="-342900" algn="just">
              <a:buFont typeface="Courier New" panose="020B0604020202020204" pitchFamily="34" charset="0"/>
              <a:buChar char="o"/>
            </a:pPr>
            <a:r>
              <a:rPr lang="en-US" sz="1600">
                <a:solidFill>
                  <a:schemeClr val="tx1">
                    <a:lumMod val="49000"/>
                  </a:schemeClr>
                </a:solidFill>
                <a:highlight>
                  <a:srgbClr val="FFFFFF"/>
                </a:highlight>
                <a:ea typeface="+mn-lt"/>
                <a:cs typeface="+mn-lt"/>
              </a:rPr>
              <a:t>Explore cold-start problem</a:t>
            </a:r>
          </a:p>
          <a:p>
            <a:pPr marL="457200" lvl="1" indent="0" algn="just">
              <a:buNone/>
            </a:pPr>
            <a:endParaRPr lang="en-US" sz="1600">
              <a:solidFill>
                <a:schemeClr val="tx1">
                  <a:lumMod val="49000"/>
                </a:schemeClr>
              </a:solidFill>
              <a:highlight>
                <a:srgbClr val="FFFFFF"/>
              </a:highlight>
              <a:ea typeface="Lato"/>
              <a:cs typeface="Lato"/>
            </a:endParaRPr>
          </a:p>
          <a:p>
            <a:pPr marL="457200" lvl="1" indent="0" algn="just">
              <a:buNone/>
            </a:pPr>
            <a:endParaRPr lang="en-US" sz="1600">
              <a:solidFill>
                <a:schemeClr val="tx1">
                  <a:lumMod val="49000"/>
                </a:schemeClr>
              </a:solidFill>
              <a:highlight>
                <a:srgbClr val="FFFFFF"/>
              </a:highlight>
              <a:ea typeface="Lato"/>
              <a:cs typeface="Lato"/>
            </a:endParaRPr>
          </a:p>
          <a:p>
            <a:pPr marL="457200" lvl="1" indent="0" algn="just">
              <a:buNone/>
            </a:pPr>
            <a:endParaRPr lang="en-US" sz="1600">
              <a:solidFill>
                <a:schemeClr val="tx1">
                  <a:lumMod val="49000"/>
                </a:schemeClr>
              </a:solidFill>
              <a:highlight>
                <a:srgbClr val="FFFFFF"/>
              </a:highlight>
              <a:ea typeface="Lato"/>
              <a:cs typeface="Lato"/>
            </a:endParaRPr>
          </a:p>
          <a:p>
            <a:pPr marL="457200" lvl="1" indent="0" algn="just">
              <a:buNone/>
            </a:pPr>
            <a:endParaRPr lang="en-US" sz="1600">
              <a:solidFill>
                <a:schemeClr val="tx1">
                  <a:lumMod val="49000"/>
                </a:schemeClr>
              </a:solidFill>
              <a:highlight>
                <a:srgbClr val="FFFFFF"/>
              </a:highlight>
              <a:ea typeface="Lato"/>
              <a:cs typeface="Lato"/>
            </a:endParaRPr>
          </a:p>
          <a:p>
            <a:pPr marL="342900" indent="-342900" algn="just">
              <a:buFont typeface="Calibri" panose="020B0604020202020204" pitchFamily="34" charset="0"/>
              <a:buChar char="-"/>
            </a:pPr>
            <a:endParaRPr lang="en-US" sz="2000">
              <a:solidFill>
                <a:schemeClr val="tx1">
                  <a:lumMod val="49000"/>
                </a:schemeClr>
              </a:solidFill>
              <a:highlight>
                <a:srgbClr val="FFFFFF"/>
              </a:highlight>
              <a:ea typeface="Lato"/>
              <a:cs typeface="Lato"/>
            </a:endParaRPr>
          </a:p>
          <a:p>
            <a:pPr marL="342900" indent="-342900" algn="just">
              <a:buFont typeface="Calibri" panose="020B0604020202020204" pitchFamily="34" charset="0"/>
              <a:buChar char="-"/>
            </a:pPr>
            <a:endParaRPr lang="en-US" sz="2000">
              <a:solidFill>
                <a:schemeClr val="tx1">
                  <a:lumMod val="49000"/>
                </a:schemeClr>
              </a:solidFill>
              <a:highlight>
                <a:srgbClr val="FFFFFF"/>
              </a:highlight>
              <a:ea typeface="Lato"/>
              <a:cs typeface="Lato"/>
            </a:endParaRPr>
          </a:p>
          <a:p>
            <a:pPr marL="342900" indent="-342900" algn="just">
              <a:buFont typeface="Calibri" panose="020B0604020202020204" pitchFamily="34" charset="0"/>
              <a:buChar char="-"/>
            </a:pPr>
            <a:endParaRPr lang="en-US" sz="2000">
              <a:solidFill>
                <a:schemeClr val="tx1">
                  <a:lumMod val="49000"/>
                </a:schemeClr>
              </a:solidFill>
              <a:highlight>
                <a:srgbClr val="FFFFFF"/>
              </a:highlight>
              <a:ea typeface="Lato"/>
              <a:cs typeface="Lato"/>
            </a:endParaRPr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44AA93FF-4C75-D419-1B28-839B5568F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4949" y="1947751"/>
            <a:ext cx="6096000" cy="3726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7371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C5EDDC7-1703-2EA0-35E9-E375EA5B4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>
                <a:ea typeface="Questrial"/>
                <a:cs typeface="Questrial"/>
              </a:rPr>
              <a:t>2. </a:t>
            </a:r>
            <a:r>
              <a:rPr lang="vi-VN" b="1" err="1">
                <a:ea typeface="Questrial"/>
                <a:cs typeface="Questrial"/>
              </a:rPr>
              <a:t>Dataset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0E1005C4-AEB6-839B-BF9D-2123C1A81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vi-VN" sz="2100" b="1" err="1">
                <a:ea typeface="+mn-lt"/>
                <a:cs typeface="+mn-lt"/>
              </a:rPr>
              <a:t>Overview</a:t>
            </a:r>
            <a:r>
              <a:rPr lang="vi-VN" sz="2100">
                <a:ea typeface="+mn-lt"/>
                <a:cs typeface="+mn-lt"/>
              </a:rPr>
              <a:t>:</a:t>
            </a:r>
            <a:endParaRPr lang="vi-VN" sz="2100">
              <a:ea typeface="Lato"/>
              <a:cs typeface="Lato"/>
            </a:endParaRPr>
          </a:p>
          <a:p>
            <a:r>
              <a:rPr lang="vi-VN" sz="2100" err="1">
                <a:ea typeface="+mn-lt"/>
                <a:cs typeface="+mn-lt"/>
              </a:rPr>
              <a:t>Contains</a:t>
            </a:r>
            <a:r>
              <a:rPr lang="vi-VN" sz="2100">
                <a:ea typeface="+mn-lt"/>
                <a:cs typeface="+mn-lt"/>
              </a:rPr>
              <a:t> </a:t>
            </a:r>
            <a:r>
              <a:rPr lang="vi-VN" sz="2100" b="1">
                <a:ea typeface="+mn-lt"/>
                <a:cs typeface="+mn-lt"/>
              </a:rPr>
              <a:t>100,000 </a:t>
            </a:r>
            <a:r>
              <a:rPr lang="vi-VN" sz="2100" b="1" err="1">
                <a:ea typeface="+mn-lt"/>
                <a:cs typeface="+mn-lt"/>
              </a:rPr>
              <a:t>ratings</a:t>
            </a:r>
            <a:r>
              <a:rPr lang="vi-VN" sz="2100" b="1">
                <a:ea typeface="+mn-lt"/>
                <a:cs typeface="+mn-lt"/>
              </a:rPr>
              <a:t> (1-5)</a:t>
            </a:r>
            <a:r>
              <a:rPr lang="vi-VN" sz="2100">
                <a:ea typeface="+mn-lt"/>
                <a:cs typeface="+mn-lt"/>
              </a:rPr>
              <a:t> </a:t>
            </a:r>
            <a:r>
              <a:rPr lang="vi-VN" sz="2100" err="1">
                <a:ea typeface="+mn-lt"/>
                <a:cs typeface="+mn-lt"/>
              </a:rPr>
              <a:t>from</a:t>
            </a:r>
            <a:r>
              <a:rPr lang="vi-VN" sz="2100">
                <a:ea typeface="+mn-lt"/>
                <a:cs typeface="+mn-lt"/>
              </a:rPr>
              <a:t> </a:t>
            </a:r>
            <a:r>
              <a:rPr lang="vi-VN" sz="2100" b="1">
                <a:ea typeface="+mn-lt"/>
                <a:cs typeface="+mn-lt"/>
              </a:rPr>
              <a:t>943 </a:t>
            </a:r>
            <a:r>
              <a:rPr lang="vi-VN" sz="2100" b="1" err="1">
                <a:ea typeface="+mn-lt"/>
                <a:cs typeface="+mn-lt"/>
              </a:rPr>
              <a:t>users</a:t>
            </a:r>
            <a:r>
              <a:rPr lang="vi-VN" sz="2100">
                <a:ea typeface="+mn-lt"/>
                <a:cs typeface="+mn-lt"/>
              </a:rPr>
              <a:t> </a:t>
            </a:r>
            <a:r>
              <a:rPr lang="vi-VN" sz="2100" err="1">
                <a:ea typeface="+mn-lt"/>
                <a:cs typeface="+mn-lt"/>
              </a:rPr>
              <a:t>on</a:t>
            </a:r>
            <a:r>
              <a:rPr lang="vi-VN" sz="2100">
                <a:ea typeface="+mn-lt"/>
                <a:cs typeface="+mn-lt"/>
              </a:rPr>
              <a:t> </a:t>
            </a:r>
            <a:r>
              <a:rPr lang="vi-VN" sz="2100" b="1">
                <a:ea typeface="+mn-lt"/>
                <a:cs typeface="+mn-lt"/>
              </a:rPr>
              <a:t>1,682 </a:t>
            </a:r>
            <a:r>
              <a:rPr lang="vi-VN" sz="2100" b="1" err="1">
                <a:ea typeface="+mn-lt"/>
                <a:cs typeface="+mn-lt"/>
              </a:rPr>
              <a:t>movies</a:t>
            </a:r>
            <a:r>
              <a:rPr lang="vi-VN" sz="2100">
                <a:ea typeface="+mn-lt"/>
                <a:cs typeface="+mn-lt"/>
              </a:rPr>
              <a:t>.</a:t>
            </a:r>
            <a:endParaRPr lang="vi-VN" sz="2100">
              <a:ea typeface="Lato"/>
              <a:cs typeface="Lato"/>
            </a:endParaRPr>
          </a:p>
          <a:p>
            <a:r>
              <a:rPr lang="vi-VN" sz="2100" err="1">
                <a:ea typeface="+mn-lt"/>
                <a:cs typeface="+mn-lt"/>
              </a:rPr>
              <a:t>Users</a:t>
            </a:r>
            <a:r>
              <a:rPr lang="vi-VN" sz="2100">
                <a:ea typeface="+mn-lt"/>
                <a:cs typeface="+mn-lt"/>
              </a:rPr>
              <a:t> </a:t>
            </a:r>
            <a:r>
              <a:rPr lang="vi-VN" sz="2100" err="1">
                <a:ea typeface="+mn-lt"/>
                <a:cs typeface="+mn-lt"/>
              </a:rPr>
              <a:t>have</a:t>
            </a:r>
            <a:r>
              <a:rPr lang="vi-VN" sz="2100">
                <a:ea typeface="+mn-lt"/>
                <a:cs typeface="+mn-lt"/>
              </a:rPr>
              <a:t> </a:t>
            </a:r>
            <a:r>
              <a:rPr lang="vi-VN" sz="2100" err="1">
                <a:ea typeface="+mn-lt"/>
                <a:cs typeface="+mn-lt"/>
              </a:rPr>
              <a:t>rated</a:t>
            </a:r>
            <a:r>
              <a:rPr lang="vi-VN" sz="2100">
                <a:ea typeface="+mn-lt"/>
                <a:cs typeface="+mn-lt"/>
              </a:rPr>
              <a:t> </a:t>
            </a:r>
            <a:r>
              <a:rPr lang="vi-VN" sz="2100" err="1">
                <a:ea typeface="+mn-lt"/>
                <a:cs typeface="+mn-lt"/>
              </a:rPr>
              <a:t>at</a:t>
            </a:r>
            <a:r>
              <a:rPr lang="vi-VN" sz="2100">
                <a:ea typeface="+mn-lt"/>
                <a:cs typeface="+mn-lt"/>
              </a:rPr>
              <a:t> </a:t>
            </a:r>
            <a:r>
              <a:rPr lang="vi-VN" sz="2100" err="1">
                <a:ea typeface="+mn-lt"/>
                <a:cs typeface="+mn-lt"/>
              </a:rPr>
              <a:t>least</a:t>
            </a:r>
            <a:r>
              <a:rPr lang="vi-VN" sz="2100">
                <a:ea typeface="+mn-lt"/>
                <a:cs typeface="+mn-lt"/>
              </a:rPr>
              <a:t> 20 </a:t>
            </a:r>
            <a:r>
              <a:rPr lang="vi-VN" sz="2100" err="1">
                <a:ea typeface="+mn-lt"/>
                <a:cs typeface="+mn-lt"/>
              </a:rPr>
              <a:t>movies</a:t>
            </a:r>
            <a:r>
              <a:rPr lang="vi-VN" sz="2100">
                <a:ea typeface="+mn-lt"/>
                <a:cs typeface="+mn-lt"/>
              </a:rPr>
              <a:t>.</a:t>
            </a:r>
            <a:endParaRPr lang="vi-VN" sz="2100">
              <a:ea typeface="Lato"/>
              <a:cs typeface="Lato"/>
            </a:endParaRPr>
          </a:p>
          <a:p>
            <a:r>
              <a:rPr lang="vi-VN" sz="2100" err="1">
                <a:ea typeface="+mn-lt"/>
                <a:cs typeface="+mn-lt"/>
              </a:rPr>
              <a:t>Collected</a:t>
            </a:r>
            <a:r>
              <a:rPr lang="vi-VN" sz="2100">
                <a:ea typeface="+mn-lt"/>
                <a:cs typeface="+mn-lt"/>
              </a:rPr>
              <a:t> </a:t>
            </a:r>
            <a:r>
              <a:rPr lang="vi-VN" sz="2100" err="1">
                <a:ea typeface="+mn-lt"/>
                <a:cs typeface="+mn-lt"/>
              </a:rPr>
              <a:t>from</a:t>
            </a:r>
            <a:r>
              <a:rPr lang="vi-VN" sz="2100">
                <a:ea typeface="+mn-lt"/>
                <a:cs typeface="+mn-lt"/>
              </a:rPr>
              <a:t> </a:t>
            </a:r>
            <a:r>
              <a:rPr lang="vi-VN" sz="2100" b="1" err="1">
                <a:ea typeface="+mn-lt"/>
                <a:cs typeface="+mn-lt"/>
              </a:rPr>
              <a:t>September</a:t>
            </a:r>
            <a:r>
              <a:rPr lang="vi-VN" sz="2100" b="1">
                <a:ea typeface="+mn-lt"/>
                <a:cs typeface="+mn-lt"/>
              </a:rPr>
              <a:t> 1997</a:t>
            </a:r>
            <a:r>
              <a:rPr lang="vi-VN" sz="2100">
                <a:ea typeface="+mn-lt"/>
                <a:cs typeface="+mn-lt"/>
              </a:rPr>
              <a:t> to </a:t>
            </a:r>
            <a:r>
              <a:rPr lang="vi-VN" sz="2100" b="1" err="1">
                <a:ea typeface="+mn-lt"/>
                <a:cs typeface="+mn-lt"/>
              </a:rPr>
              <a:t>April</a:t>
            </a:r>
            <a:r>
              <a:rPr lang="vi-VN" sz="2100" b="1">
                <a:ea typeface="+mn-lt"/>
                <a:cs typeface="+mn-lt"/>
              </a:rPr>
              <a:t> 1998</a:t>
            </a:r>
            <a:r>
              <a:rPr lang="vi-VN" sz="2100">
                <a:ea typeface="+mn-lt"/>
                <a:cs typeface="+mn-lt"/>
              </a:rPr>
              <a:t> </a:t>
            </a:r>
            <a:r>
              <a:rPr lang="vi-VN" sz="2100" err="1">
                <a:ea typeface="+mn-lt"/>
                <a:cs typeface="+mn-lt"/>
              </a:rPr>
              <a:t>via</a:t>
            </a:r>
            <a:r>
              <a:rPr lang="vi-VN" sz="2100">
                <a:ea typeface="+mn-lt"/>
                <a:cs typeface="+mn-lt"/>
              </a:rPr>
              <a:t> </a:t>
            </a:r>
            <a:r>
              <a:rPr lang="vi-VN" sz="2100" err="1">
                <a:ea typeface="+mn-lt"/>
                <a:cs typeface="+mn-lt"/>
              </a:rPr>
              <a:t>MovieLens</a:t>
            </a:r>
            <a:r>
              <a:rPr lang="vi-VN" sz="2100">
                <a:ea typeface="+mn-lt"/>
                <a:cs typeface="+mn-lt"/>
              </a:rPr>
              <a:t> </a:t>
            </a:r>
            <a:r>
              <a:rPr lang="vi-VN" sz="2100" err="1">
                <a:ea typeface="+mn-lt"/>
                <a:cs typeface="+mn-lt"/>
              </a:rPr>
              <a:t>website</a:t>
            </a:r>
            <a:r>
              <a:rPr lang="vi-VN" sz="2100">
                <a:ea typeface="+mn-lt"/>
                <a:cs typeface="+mn-lt"/>
              </a:rPr>
              <a:t>.</a:t>
            </a:r>
            <a:endParaRPr lang="vi-VN" sz="2100">
              <a:ea typeface="Lato"/>
              <a:cs typeface="Lato"/>
            </a:endParaRPr>
          </a:p>
          <a:p>
            <a:endParaRPr lang="vi-VN" sz="2100">
              <a:ea typeface="+mn-lt"/>
              <a:cs typeface="+mn-lt"/>
            </a:endParaRPr>
          </a:p>
          <a:p>
            <a:pPr marL="0" indent="0">
              <a:buNone/>
            </a:pPr>
            <a:r>
              <a:rPr lang="vi-VN" sz="2100" b="1" err="1">
                <a:ea typeface="+mn-lt"/>
                <a:cs typeface="+mn-lt"/>
              </a:rPr>
              <a:t>Data</a:t>
            </a:r>
            <a:r>
              <a:rPr lang="vi-VN" sz="2100" b="1">
                <a:ea typeface="+mn-lt"/>
                <a:cs typeface="+mn-lt"/>
              </a:rPr>
              <a:t> </a:t>
            </a:r>
            <a:r>
              <a:rPr lang="vi-VN" sz="2100" b="1" err="1">
                <a:ea typeface="+mn-lt"/>
                <a:cs typeface="+mn-lt"/>
              </a:rPr>
              <a:t>Descriptions</a:t>
            </a:r>
            <a:r>
              <a:rPr lang="vi-VN" sz="2100">
                <a:ea typeface="+mn-lt"/>
                <a:cs typeface="+mn-lt"/>
              </a:rPr>
              <a:t>:</a:t>
            </a:r>
            <a:endParaRPr lang="vi-VN" sz="2100">
              <a:ea typeface="Lato"/>
              <a:cs typeface="Lato"/>
            </a:endParaRPr>
          </a:p>
          <a:p>
            <a:r>
              <a:rPr lang="vi-VN" sz="2100" err="1">
                <a:ea typeface="+mn-lt"/>
                <a:cs typeface="+mn-lt"/>
              </a:rPr>
              <a:t>u.data</a:t>
            </a:r>
            <a:r>
              <a:rPr lang="vi-VN" sz="2100">
                <a:ea typeface="+mn-lt"/>
                <a:cs typeface="+mn-lt"/>
              </a:rPr>
              <a:t>: </a:t>
            </a:r>
            <a:r>
              <a:rPr lang="vi-VN" sz="2100" b="1" err="1">
                <a:ea typeface="+mn-lt"/>
                <a:cs typeface="+mn-lt"/>
              </a:rPr>
              <a:t>Ratings</a:t>
            </a:r>
            <a:r>
              <a:rPr lang="vi-VN" sz="2100">
                <a:ea typeface="+mn-lt"/>
                <a:cs typeface="+mn-lt"/>
              </a:rPr>
              <a:t> </a:t>
            </a:r>
            <a:r>
              <a:rPr lang="vi-VN" sz="2100" err="1">
                <a:ea typeface="+mn-lt"/>
                <a:cs typeface="+mn-lt"/>
              </a:rPr>
              <a:t>data</a:t>
            </a:r>
            <a:r>
              <a:rPr lang="vi-VN" sz="2100">
                <a:ea typeface="+mn-lt"/>
                <a:cs typeface="+mn-lt"/>
              </a:rPr>
              <a:t> (</a:t>
            </a:r>
            <a:r>
              <a:rPr lang="vi-VN" sz="2100" err="1">
                <a:ea typeface="+mn-lt"/>
                <a:cs typeface="+mn-lt"/>
              </a:rPr>
              <a:t>user</a:t>
            </a:r>
            <a:r>
              <a:rPr lang="vi-VN" sz="2100">
                <a:ea typeface="+mn-lt"/>
                <a:cs typeface="+mn-lt"/>
              </a:rPr>
              <a:t> ID, </a:t>
            </a:r>
            <a:r>
              <a:rPr lang="vi-VN" sz="2100" err="1">
                <a:ea typeface="+mn-lt"/>
                <a:cs typeface="+mn-lt"/>
              </a:rPr>
              <a:t>item</a:t>
            </a:r>
            <a:r>
              <a:rPr lang="vi-VN" sz="2100">
                <a:ea typeface="+mn-lt"/>
                <a:cs typeface="+mn-lt"/>
              </a:rPr>
              <a:t> ID, </a:t>
            </a:r>
            <a:r>
              <a:rPr lang="vi-VN" sz="2100" err="1">
                <a:ea typeface="+mn-lt"/>
                <a:cs typeface="+mn-lt"/>
              </a:rPr>
              <a:t>rating</a:t>
            </a:r>
            <a:r>
              <a:rPr lang="vi-VN" sz="2100">
                <a:ea typeface="+mn-lt"/>
                <a:cs typeface="+mn-lt"/>
              </a:rPr>
              <a:t>, </a:t>
            </a:r>
            <a:r>
              <a:rPr lang="vi-VN" sz="2100" err="1">
                <a:ea typeface="+mn-lt"/>
                <a:cs typeface="+mn-lt"/>
              </a:rPr>
              <a:t>timestamp</a:t>
            </a:r>
            <a:r>
              <a:rPr lang="vi-VN" sz="2100">
                <a:ea typeface="+mn-lt"/>
                <a:cs typeface="+mn-lt"/>
              </a:rPr>
              <a:t>).</a:t>
            </a:r>
            <a:endParaRPr lang="vi-VN" sz="2100">
              <a:ea typeface="Lato"/>
              <a:cs typeface="Lato"/>
            </a:endParaRPr>
          </a:p>
          <a:p>
            <a:r>
              <a:rPr lang="vi-VN" sz="2100" err="1">
                <a:ea typeface="+mn-lt"/>
                <a:cs typeface="+mn-lt"/>
              </a:rPr>
              <a:t>u.item</a:t>
            </a:r>
            <a:r>
              <a:rPr lang="vi-VN" sz="2100">
                <a:ea typeface="+mn-lt"/>
                <a:cs typeface="+mn-lt"/>
              </a:rPr>
              <a:t>: </a:t>
            </a:r>
            <a:r>
              <a:rPr lang="vi-VN" sz="2100" b="1" err="1">
                <a:ea typeface="+mn-lt"/>
                <a:cs typeface="+mn-lt"/>
              </a:rPr>
              <a:t>Movies</a:t>
            </a:r>
            <a:r>
              <a:rPr lang="vi-VN" sz="2100">
                <a:ea typeface="+mn-lt"/>
                <a:cs typeface="+mn-lt"/>
              </a:rPr>
              <a:t> </a:t>
            </a:r>
            <a:r>
              <a:rPr lang="vi-VN" sz="2100" err="1">
                <a:ea typeface="+mn-lt"/>
                <a:cs typeface="+mn-lt"/>
              </a:rPr>
              <a:t>info</a:t>
            </a:r>
            <a:r>
              <a:rPr lang="vi-VN" sz="2100">
                <a:ea typeface="+mn-lt"/>
                <a:cs typeface="+mn-lt"/>
              </a:rPr>
              <a:t> (</a:t>
            </a:r>
            <a:r>
              <a:rPr lang="vi-VN" sz="2100" err="1">
                <a:ea typeface="+mn-lt"/>
                <a:cs typeface="+mn-lt"/>
              </a:rPr>
              <a:t>title</a:t>
            </a:r>
            <a:r>
              <a:rPr lang="vi-VN" sz="2100">
                <a:ea typeface="+mn-lt"/>
                <a:cs typeface="+mn-lt"/>
              </a:rPr>
              <a:t>, </a:t>
            </a:r>
            <a:r>
              <a:rPr lang="vi-VN" sz="2100" err="1">
                <a:ea typeface="+mn-lt"/>
                <a:cs typeface="+mn-lt"/>
              </a:rPr>
              <a:t>release</a:t>
            </a:r>
            <a:r>
              <a:rPr lang="vi-VN" sz="2100">
                <a:ea typeface="+mn-lt"/>
                <a:cs typeface="+mn-lt"/>
              </a:rPr>
              <a:t> </a:t>
            </a:r>
            <a:r>
              <a:rPr lang="vi-VN" sz="2100" err="1">
                <a:ea typeface="+mn-lt"/>
                <a:cs typeface="+mn-lt"/>
              </a:rPr>
              <a:t>date</a:t>
            </a:r>
            <a:r>
              <a:rPr lang="vi-VN" sz="2100">
                <a:ea typeface="+mn-lt"/>
                <a:cs typeface="+mn-lt"/>
              </a:rPr>
              <a:t>, </a:t>
            </a:r>
            <a:r>
              <a:rPr lang="vi-VN" sz="2100" err="1">
                <a:ea typeface="+mn-lt"/>
                <a:cs typeface="+mn-lt"/>
              </a:rPr>
              <a:t>genres</a:t>
            </a:r>
            <a:r>
              <a:rPr lang="vi-VN" sz="2100">
                <a:ea typeface="+mn-lt"/>
                <a:cs typeface="+mn-lt"/>
              </a:rPr>
              <a:t>).</a:t>
            </a:r>
            <a:endParaRPr lang="vi-VN" sz="2100">
              <a:ea typeface="Lato"/>
              <a:cs typeface="Lato"/>
            </a:endParaRPr>
          </a:p>
          <a:p>
            <a:r>
              <a:rPr lang="vi-VN" sz="2100" err="1">
                <a:ea typeface="+mn-lt"/>
                <a:cs typeface="+mn-lt"/>
              </a:rPr>
              <a:t>u.user</a:t>
            </a:r>
            <a:r>
              <a:rPr lang="vi-VN" sz="2100">
                <a:ea typeface="+mn-lt"/>
                <a:cs typeface="+mn-lt"/>
              </a:rPr>
              <a:t>: </a:t>
            </a:r>
            <a:r>
              <a:rPr lang="vi-VN" sz="2100" b="1" err="1">
                <a:ea typeface="+mn-lt"/>
                <a:cs typeface="+mn-lt"/>
              </a:rPr>
              <a:t>User</a:t>
            </a:r>
            <a:r>
              <a:rPr lang="vi-VN" sz="2100" b="1">
                <a:ea typeface="+mn-lt"/>
                <a:cs typeface="+mn-lt"/>
              </a:rPr>
              <a:t> </a:t>
            </a:r>
            <a:r>
              <a:rPr lang="vi-VN" sz="2100" b="1" err="1">
                <a:ea typeface="+mn-lt"/>
                <a:cs typeface="+mn-lt"/>
              </a:rPr>
              <a:t>demographics</a:t>
            </a:r>
            <a:r>
              <a:rPr lang="vi-VN" sz="2100">
                <a:ea typeface="+mn-lt"/>
                <a:cs typeface="+mn-lt"/>
              </a:rPr>
              <a:t> (</a:t>
            </a:r>
            <a:r>
              <a:rPr lang="vi-VN" sz="2100" err="1">
                <a:ea typeface="+mn-lt"/>
                <a:cs typeface="+mn-lt"/>
              </a:rPr>
              <a:t>age</a:t>
            </a:r>
            <a:r>
              <a:rPr lang="vi-VN" sz="2100">
                <a:ea typeface="+mn-lt"/>
                <a:cs typeface="+mn-lt"/>
              </a:rPr>
              <a:t>, </a:t>
            </a:r>
            <a:r>
              <a:rPr lang="vi-VN" sz="2100" err="1">
                <a:ea typeface="+mn-lt"/>
                <a:cs typeface="+mn-lt"/>
              </a:rPr>
              <a:t>gender</a:t>
            </a:r>
            <a:r>
              <a:rPr lang="vi-VN" sz="2100">
                <a:ea typeface="+mn-lt"/>
                <a:cs typeface="+mn-lt"/>
              </a:rPr>
              <a:t>, </a:t>
            </a:r>
            <a:r>
              <a:rPr lang="vi-VN" sz="2100" err="1">
                <a:ea typeface="+mn-lt"/>
                <a:cs typeface="+mn-lt"/>
              </a:rPr>
              <a:t>occupation</a:t>
            </a:r>
            <a:r>
              <a:rPr lang="vi-VN" sz="2100">
                <a:ea typeface="+mn-lt"/>
                <a:cs typeface="+mn-lt"/>
              </a:rPr>
              <a:t>, zipcode).</a:t>
            </a:r>
            <a:endParaRPr lang="vi-VN" sz="2100">
              <a:ea typeface="Lato"/>
              <a:cs typeface="Lato"/>
            </a:endParaRPr>
          </a:p>
          <a:p>
            <a:endParaRPr lang="vi-VN" sz="2100"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1214715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C5EDDC7-1703-2EA0-35E9-E375EA5B4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>
                <a:ea typeface="Questrial"/>
                <a:cs typeface="Questrial"/>
              </a:rPr>
              <a:t>2. </a:t>
            </a:r>
            <a:r>
              <a:rPr lang="vi-VN" b="1" err="1">
                <a:ea typeface="Questrial"/>
                <a:cs typeface="Questrial"/>
              </a:rPr>
              <a:t>Dataset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0E1005C4-AEB6-839B-BF9D-2123C1A81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vi-VN" sz="2300" b="1" err="1">
                <a:latin typeface="Arial"/>
                <a:ea typeface="+mn-lt"/>
                <a:cs typeface="Arial"/>
              </a:rPr>
              <a:t>User</a:t>
            </a:r>
            <a:r>
              <a:rPr lang="vi-VN" sz="2300" b="1">
                <a:latin typeface="Arial"/>
                <a:ea typeface="+mn-lt"/>
                <a:cs typeface="Arial"/>
              </a:rPr>
              <a:t> </a:t>
            </a:r>
            <a:r>
              <a:rPr lang="vi-VN" sz="2300" b="1" err="1">
                <a:latin typeface="Arial"/>
                <a:ea typeface="+mn-lt"/>
                <a:cs typeface="Arial"/>
              </a:rPr>
              <a:t>Data</a:t>
            </a:r>
            <a:r>
              <a:rPr lang="vi-VN" sz="2300">
                <a:latin typeface="Arial"/>
                <a:ea typeface="+mn-lt"/>
                <a:cs typeface="Arial"/>
              </a:rPr>
              <a:t>:</a:t>
            </a:r>
            <a:endParaRPr lang="vi-VN" sz="2300">
              <a:latin typeface="Arial"/>
              <a:ea typeface="Lato"/>
              <a:cs typeface="Arial"/>
            </a:endParaRPr>
          </a:p>
          <a:p>
            <a:pPr lvl="1" indent="0">
              <a:buNone/>
            </a:pPr>
            <a:r>
              <a:rPr lang="vi-VN" sz="2300" err="1">
                <a:latin typeface="Arial"/>
                <a:ea typeface="+mn-lt"/>
                <a:cs typeface="Arial"/>
              </a:rPr>
              <a:t>user</a:t>
            </a:r>
            <a:r>
              <a:rPr lang="vi-VN" sz="2300">
                <a:latin typeface="Arial"/>
                <a:ea typeface="+mn-lt"/>
                <a:cs typeface="Arial"/>
              </a:rPr>
              <a:t> </a:t>
            </a:r>
            <a:r>
              <a:rPr lang="vi-VN" sz="2300" err="1">
                <a:latin typeface="Arial"/>
                <a:ea typeface="+mn-lt"/>
                <a:cs typeface="Arial"/>
              </a:rPr>
              <a:t>id</a:t>
            </a:r>
            <a:r>
              <a:rPr lang="vi-VN" sz="2300">
                <a:latin typeface="Arial"/>
                <a:ea typeface="+mn-lt"/>
                <a:cs typeface="Arial"/>
              </a:rPr>
              <a:t> | </a:t>
            </a:r>
            <a:r>
              <a:rPr lang="vi-VN" sz="2300" err="1">
                <a:latin typeface="Arial"/>
                <a:ea typeface="+mn-lt"/>
                <a:cs typeface="Arial"/>
              </a:rPr>
              <a:t>age</a:t>
            </a:r>
            <a:r>
              <a:rPr lang="vi-VN" sz="2300">
                <a:latin typeface="Arial"/>
                <a:ea typeface="+mn-lt"/>
                <a:cs typeface="Arial"/>
              </a:rPr>
              <a:t> | </a:t>
            </a:r>
            <a:r>
              <a:rPr lang="vi-VN" sz="2300" err="1">
                <a:latin typeface="Arial"/>
                <a:ea typeface="+mn-lt"/>
                <a:cs typeface="Arial"/>
              </a:rPr>
              <a:t>gender</a:t>
            </a:r>
            <a:r>
              <a:rPr lang="vi-VN" sz="2300">
                <a:latin typeface="Arial"/>
                <a:ea typeface="+mn-lt"/>
                <a:cs typeface="Arial"/>
              </a:rPr>
              <a:t> | </a:t>
            </a:r>
            <a:r>
              <a:rPr lang="vi-VN" sz="2300" err="1">
                <a:latin typeface="Arial"/>
                <a:ea typeface="+mn-lt"/>
                <a:cs typeface="Arial"/>
              </a:rPr>
              <a:t>occupation</a:t>
            </a:r>
            <a:r>
              <a:rPr lang="vi-VN" sz="2300">
                <a:latin typeface="Arial"/>
                <a:ea typeface="+mn-lt"/>
                <a:cs typeface="Arial"/>
              </a:rPr>
              <a:t> | </a:t>
            </a:r>
            <a:r>
              <a:rPr lang="vi-VN" sz="2300" err="1">
                <a:latin typeface="Arial"/>
                <a:ea typeface="+mn-lt"/>
                <a:cs typeface="Arial"/>
              </a:rPr>
              <a:t>zipcode</a:t>
            </a:r>
            <a:endParaRPr lang="vi-VN" sz="2300">
              <a:latin typeface="Arial"/>
              <a:ea typeface="Lato"/>
              <a:cs typeface="Arial"/>
            </a:endParaRPr>
          </a:p>
          <a:p>
            <a:pPr>
              <a:buFont typeface="Arial"/>
              <a:buChar char="•"/>
            </a:pPr>
            <a:r>
              <a:rPr lang="vi-VN" sz="2300" b="1" err="1">
                <a:latin typeface="Arial"/>
                <a:ea typeface="+mn-lt"/>
                <a:cs typeface="Arial"/>
              </a:rPr>
              <a:t>Movie</a:t>
            </a:r>
            <a:r>
              <a:rPr lang="vi-VN" sz="2300" b="1">
                <a:latin typeface="Arial"/>
                <a:ea typeface="+mn-lt"/>
                <a:cs typeface="Arial"/>
              </a:rPr>
              <a:t> </a:t>
            </a:r>
            <a:r>
              <a:rPr lang="vi-VN" sz="2300" b="1" err="1">
                <a:latin typeface="Arial"/>
                <a:ea typeface="+mn-lt"/>
                <a:cs typeface="Arial"/>
              </a:rPr>
              <a:t>Data</a:t>
            </a:r>
            <a:r>
              <a:rPr lang="vi-VN" sz="2300">
                <a:latin typeface="Arial"/>
                <a:ea typeface="+mn-lt"/>
                <a:cs typeface="Arial"/>
              </a:rPr>
              <a:t>:</a:t>
            </a:r>
            <a:endParaRPr lang="vi-VN" sz="2300">
              <a:latin typeface="Arial"/>
              <a:ea typeface="Lato"/>
              <a:cs typeface="Arial"/>
            </a:endParaRPr>
          </a:p>
          <a:p>
            <a:pPr lvl="1" indent="0">
              <a:buNone/>
            </a:pPr>
            <a:r>
              <a:rPr lang="vi-VN" sz="2300" err="1">
                <a:latin typeface="Arial"/>
                <a:ea typeface="+mn-lt"/>
                <a:cs typeface="Arial"/>
              </a:rPr>
              <a:t>movie</a:t>
            </a:r>
            <a:r>
              <a:rPr lang="vi-VN" sz="2300">
                <a:latin typeface="Arial"/>
                <a:ea typeface="+mn-lt"/>
                <a:cs typeface="Arial"/>
              </a:rPr>
              <a:t> </a:t>
            </a:r>
            <a:r>
              <a:rPr lang="vi-VN" sz="2300" err="1">
                <a:latin typeface="Arial"/>
                <a:ea typeface="+mn-lt"/>
                <a:cs typeface="Arial"/>
              </a:rPr>
              <a:t>id</a:t>
            </a:r>
            <a:r>
              <a:rPr lang="vi-VN" sz="2300">
                <a:latin typeface="Arial"/>
                <a:ea typeface="+mn-lt"/>
                <a:cs typeface="Arial"/>
              </a:rPr>
              <a:t> | </a:t>
            </a:r>
            <a:r>
              <a:rPr lang="vi-VN" sz="2300" err="1">
                <a:latin typeface="Arial"/>
                <a:ea typeface="+mn-lt"/>
                <a:cs typeface="Arial"/>
              </a:rPr>
              <a:t>movie</a:t>
            </a:r>
            <a:r>
              <a:rPr lang="vi-VN" sz="2300">
                <a:latin typeface="Arial"/>
                <a:ea typeface="+mn-lt"/>
                <a:cs typeface="Arial"/>
              </a:rPr>
              <a:t> </a:t>
            </a:r>
            <a:r>
              <a:rPr lang="vi-VN" sz="2300" err="1">
                <a:latin typeface="Arial"/>
                <a:ea typeface="+mn-lt"/>
                <a:cs typeface="Arial"/>
              </a:rPr>
              <a:t>title</a:t>
            </a:r>
            <a:r>
              <a:rPr lang="vi-VN" sz="2300">
                <a:latin typeface="Arial"/>
                <a:ea typeface="+mn-lt"/>
                <a:cs typeface="Arial"/>
              </a:rPr>
              <a:t> | </a:t>
            </a:r>
            <a:r>
              <a:rPr lang="vi-VN" sz="2300" err="1">
                <a:latin typeface="Arial"/>
                <a:ea typeface="+mn-lt"/>
                <a:cs typeface="Arial"/>
              </a:rPr>
              <a:t>release</a:t>
            </a:r>
            <a:r>
              <a:rPr lang="vi-VN" sz="2300">
                <a:latin typeface="Arial"/>
                <a:ea typeface="+mn-lt"/>
                <a:cs typeface="Arial"/>
              </a:rPr>
              <a:t> </a:t>
            </a:r>
            <a:r>
              <a:rPr lang="vi-VN" sz="2300" err="1">
                <a:latin typeface="Arial"/>
                <a:ea typeface="+mn-lt"/>
                <a:cs typeface="Arial"/>
              </a:rPr>
              <a:t>date</a:t>
            </a:r>
            <a:r>
              <a:rPr lang="vi-VN" sz="2300">
                <a:latin typeface="Arial"/>
                <a:ea typeface="+mn-lt"/>
                <a:cs typeface="Arial"/>
              </a:rPr>
              <a:t> | </a:t>
            </a:r>
            <a:r>
              <a:rPr lang="vi-VN" sz="2300" err="1">
                <a:latin typeface="Arial"/>
                <a:ea typeface="+mn-lt"/>
                <a:cs typeface="Arial"/>
              </a:rPr>
              <a:t>video</a:t>
            </a:r>
            <a:r>
              <a:rPr lang="vi-VN" sz="2300">
                <a:latin typeface="Arial"/>
                <a:ea typeface="+mn-lt"/>
                <a:cs typeface="Arial"/>
              </a:rPr>
              <a:t> </a:t>
            </a:r>
            <a:r>
              <a:rPr lang="vi-VN" sz="2300" err="1">
                <a:latin typeface="Arial"/>
                <a:ea typeface="+mn-lt"/>
                <a:cs typeface="Arial"/>
              </a:rPr>
              <a:t>release</a:t>
            </a:r>
            <a:r>
              <a:rPr lang="vi-VN" sz="2300">
                <a:latin typeface="Arial"/>
                <a:ea typeface="+mn-lt"/>
                <a:cs typeface="Arial"/>
              </a:rPr>
              <a:t> </a:t>
            </a:r>
            <a:r>
              <a:rPr lang="vi-VN" sz="2300" err="1">
                <a:latin typeface="Arial"/>
                <a:ea typeface="+mn-lt"/>
                <a:cs typeface="Arial"/>
              </a:rPr>
              <a:t>date</a:t>
            </a:r>
            <a:r>
              <a:rPr lang="vi-VN" sz="2300">
                <a:latin typeface="Arial"/>
                <a:ea typeface="+mn-lt"/>
                <a:cs typeface="Arial"/>
              </a:rPr>
              <a:t> | </a:t>
            </a:r>
            <a:r>
              <a:rPr lang="vi-VN" sz="2300" err="1">
                <a:latin typeface="Arial"/>
                <a:ea typeface="+mn-lt"/>
                <a:cs typeface="Arial"/>
              </a:rPr>
              <a:t>IMDb</a:t>
            </a:r>
            <a:r>
              <a:rPr lang="vi-VN" sz="2300">
                <a:latin typeface="Arial"/>
                <a:ea typeface="+mn-lt"/>
                <a:cs typeface="Arial"/>
              </a:rPr>
              <a:t> URL | </a:t>
            </a:r>
            <a:r>
              <a:rPr lang="vi-VN" sz="2300" err="1">
                <a:latin typeface="Arial"/>
                <a:ea typeface="+mn-lt"/>
                <a:cs typeface="Arial"/>
              </a:rPr>
              <a:t>unknown</a:t>
            </a:r>
            <a:r>
              <a:rPr lang="vi-VN" sz="2300">
                <a:latin typeface="Arial"/>
                <a:ea typeface="+mn-lt"/>
                <a:cs typeface="Arial"/>
              </a:rPr>
              <a:t> | </a:t>
            </a:r>
            <a:r>
              <a:rPr lang="vi-VN" sz="2300" err="1">
                <a:latin typeface="Arial"/>
                <a:ea typeface="+mn-lt"/>
                <a:cs typeface="Arial"/>
              </a:rPr>
              <a:t>Action</a:t>
            </a:r>
            <a:r>
              <a:rPr lang="vi-VN" sz="2300">
                <a:latin typeface="Arial"/>
                <a:ea typeface="+mn-lt"/>
                <a:cs typeface="Arial"/>
              </a:rPr>
              <a:t> | </a:t>
            </a:r>
            <a:r>
              <a:rPr lang="vi-VN" sz="2300" err="1">
                <a:latin typeface="Arial"/>
                <a:ea typeface="+mn-lt"/>
                <a:cs typeface="Arial"/>
              </a:rPr>
              <a:t>Adventure</a:t>
            </a:r>
            <a:r>
              <a:rPr lang="vi-VN" sz="2300">
                <a:latin typeface="Arial"/>
                <a:ea typeface="+mn-lt"/>
                <a:cs typeface="Arial"/>
              </a:rPr>
              <a:t> | </a:t>
            </a:r>
            <a:r>
              <a:rPr lang="vi-VN" sz="2300" err="1">
                <a:latin typeface="Arial"/>
                <a:ea typeface="+mn-lt"/>
                <a:cs typeface="Arial"/>
              </a:rPr>
              <a:t>Animation</a:t>
            </a:r>
            <a:r>
              <a:rPr lang="vi-VN" sz="2300">
                <a:latin typeface="Arial"/>
                <a:ea typeface="+mn-lt"/>
                <a:cs typeface="Arial"/>
              </a:rPr>
              <a:t> | </a:t>
            </a:r>
            <a:r>
              <a:rPr lang="vi-VN" sz="2300" err="1">
                <a:latin typeface="Arial"/>
                <a:ea typeface="+mn-lt"/>
                <a:cs typeface="Arial"/>
              </a:rPr>
              <a:t>Children's</a:t>
            </a:r>
            <a:r>
              <a:rPr lang="vi-VN" sz="2300">
                <a:latin typeface="Arial"/>
                <a:ea typeface="+mn-lt"/>
                <a:cs typeface="Arial"/>
              </a:rPr>
              <a:t> | </a:t>
            </a:r>
            <a:r>
              <a:rPr lang="vi-VN" sz="2300" err="1">
                <a:latin typeface="Arial"/>
                <a:ea typeface="+mn-lt"/>
                <a:cs typeface="Arial"/>
              </a:rPr>
              <a:t>Comedy</a:t>
            </a:r>
            <a:r>
              <a:rPr lang="vi-VN" sz="2300">
                <a:latin typeface="Arial"/>
                <a:ea typeface="+mn-lt"/>
                <a:cs typeface="Arial"/>
              </a:rPr>
              <a:t> | </a:t>
            </a:r>
            <a:r>
              <a:rPr lang="vi-VN" sz="2300" err="1">
                <a:latin typeface="Arial"/>
                <a:ea typeface="+mn-lt"/>
                <a:cs typeface="Arial"/>
              </a:rPr>
              <a:t>Crime</a:t>
            </a:r>
            <a:r>
              <a:rPr lang="vi-VN" sz="2300">
                <a:latin typeface="Arial"/>
                <a:ea typeface="+mn-lt"/>
                <a:cs typeface="Arial"/>
              </a:rPr>
              <a:t> | </a:t>
            </a:r>
            <a:r>
              <a:rPr lang="vi-VN" sz="2300" err="1">
                <a:latin typeface="Arial"/>
                <a:ea typeface="+mn-lt"/>
                <a:cs typeface="Arial"/>
              </a:rPr>
              <a:t>Documentary</a:t>
            </a:r>
            <a:r>
              <a:rPr lang="vi-VN" sz="2300">
                <a:latin typeface="Arial"/>
                <a:ea typeface="+mn-lt"/>
                <a:cs typeface="Arial"/>
              </a:rPr>
              <a:t> | </a:t>
            </a:r>
            <a:r>
              <a:rPr lang="vi-VN" sz="2300" err="1">
                <a:latin typeface="Arial"/>
                <a:ea typeface="+mn-lt"/>
                <a:cs typeface="Arial"/>
              </a:rPr>
              <a:t>Drama</a:t>
            </a:r>
            <a:r>
              <a:rPr lang="vi-VN" sz="2300">
                <a:latin typeface="Arial"/>
                <a:ea typeface="+mn-lt"/>
                <a:cs typeface="Arial"/>
              </a:rPr>
              <a:t> | </a:t>
            </a:r>
            <a:r>
              <a:rPr lang="vi-VN" sz="2300" err="1">
                <a:latin typeface="Arial"/>
                <a:ea typeface="+mn-lt"/>
                <a:cs typeface="Arial"/>
              </a:rPr>
              <a:t>Fantasy</a:t>
            </a:r>
            <a:r>
              <a:rPr lang="vi-VN" sz="2300">
                <a:latin typeface="Arial"/>
                <a:ea typeface="+mn-lt"/>
                <a:cs typeface="Arial"/>
              </a:rPr>
              <a:t> | </a:t>
            </a:r>
            <a:r>
              <a:rPr lang="vi-VN" sz="2300" err="1">
                <a:latin typeface="Arial"/>
                <a:ea typeface="+mn-lt"/>
                <a:cs typeface="Arial"/>
              </a:rPr>
              <a:t>Film-Noir</a:t>
            </a:r>
            <a:r>
              <a:rPr lang="vi-VN" sz="2300">
                <a:latin typeface="Arial"/>
                <a:ea typeface="+mn-lt"/>
                <a:cs typeface="Arial"/>
              </a:rPr>
              <a:t> | </a:t>
            </a:r>
            <a:r>
              <a:rPr lang="vi-VN" sz="2300" err="1">
                <a:latin typeface="Arial"/>
                <a:ea typeface="+mn-lt"/>
                <a:cs typeface="Arial"/>
              </a:rPr>
              <a:t>Horror</a:t>
            </a:r>
            <a:r>
              <a:rPr lang="vi-VN" sz="2300">
                <a:latin typeface="Arial"/>
                <a:ea typeface="+mn-lt"/>
                <a:cs typeface="Arial"/>
              </a:rPr>
              <a:t> | </a:t>
            </a:r>
            <a:r>
              <a:rPr lang="vi-VN" sz="2300" err="1">
                <a:latin typeface="Arial"/>
                <a:ea typeface="+mn-lt"/>
                <a:cs typeface="Arial"/>
              </a:rPr>
              <a:t>Musical</a:t>
            </a:r>
            <a:r>
              <a:rPr lang="vi-VN" sz="2300">
                <a:latin typeface="Arial"/>
                <a:ea typeface="+mn-lt"/>
                <a:cs typeface="Arial"/>
              </a:rPr>
              <a:t> | </a:t>
            </a:r>
            <a:r>
              <a:rPr lang="vi-VN" sz="2300" err="1">
                <a:latin typeface="Arial"/>
                <a:ea typeface="+mn-lt"/>
                <a:cs typeface="Arial"/>
              </a:rPr>
              <a:t>Mystery</a:t>
            </a:r>
            <a:r>
              <a:rPr lang="vi-VN" sz="2300">
                <a:latin typeface="Arial"/>
                <a:ea typeface="+mn-lt"/>
                <a:cs typeface="Arial"/>
              </a:rPr>
              <a:t> | </a:t>
            </a:r>
            <a:r>
              <a:rPr lang="vi-VN" sz="2300" err="1">
                <a:latin typeface="Arial"/>
                <a:ea typeface="+mn-lt"/>
                <a:cs typeface="Arial"/>
              </a:rPr>
              <a:t>Romance</a:t>
            </a:r>
            <a:r>
              <a:rPr lang="vi-VN" sz="2300">
                <a:latin typeface="Arial"/>
                <a:ea typeface="+mn-lt"/>
                <a:cs typeface="Arial"/>
              </a:rPr>
              <a:t> | </a:t>
            </a:r>
            <a:r>
              <a:rPr lang="vi-VN" sz="2300" err="1">
                <a:latin typeface="Arial"/>
                <a:ea typeface="+mn-lt"/>
                <a:cs typeface="Arial"/>
              </a:rPr>
              <a:t>Sci-Fi</a:t>
            </a:r>
            <a:r>
              <a:rPr lang="vi-VN" sz="2300">
                <a:latin typeface="Arial"/>
                <a:ea typeface="+mn-lt"/>
                <a:cs typeface="Arial"/>
              </a:rPr>
              <a:t> | </a:t>
            </a:r>
            <a:r>
              <a:rPr lang="vi-VN" sz="2300" err="1">
                <a:latin typeface="Arial"/>
                <a:ea typeface="+mn-lt"/>
                <a:cs typeface="Arial"/>
              </a:rPr>
              <a:t>Thriller</a:t>
            </a:r>
            <a:r>
              <a:rPr lang="vi-VN" sz="2300">
                <a:latin typeface="Arial"/>
                <a:ea typeface="+mn-lt"/>
                <a:cs typeface="Arial"/>
              </a:rPr>
              <a:t> | </a:t>
            </a:r>
            <a:r>
              <a:rPr lang="vi-VN" sz="2300" err="1">
                <a:latin typeface="Arial"/>
                <a:ea typeface="+mn-lt"/>
                <a:cs typeface="Arial"/>
              </a:rPr>
              <a:t>War</a:t>
            </a:r>
            <a:r>
              <a:rPr lang="vi-VN" sz="2300">
                <a:latin typeface="Arial"/>
                <a:ea typeface="+mn-lt"/>
                <a:cs typeface="Arial"/>
              </a:rPr>
              <a:t> | </a:t>
            </a:r>
            <a:r>
              <a:rPr lang="vi-VN" sz="2300" err="1">
                <a:latin typeface="Arial"/>
                <a:ea typeface="+mn-lt"/>
                <a:cs typeface="Arial"/>
              </a:rPr>
              <a:t>Western</a:t>
            </a:r>
            <a:r>
              <a:rPr lang="vi-VN" sz="2300">
                <a:latin typeface="Arial"/>
                <a:ea typeface="+mn-lt"/>
                <a:cs typeface="Arial"/>
              </a:rPr>
              <a:t> |</a:t>
            </a:r>
            <a:endParaRPr lang="vi-VN" sz="2300">
              <a:latin typeface="Arial"/>
              <a:ea typeface="Lato"/>
              <a:cs typeface="Arial"/>
            </a:endParaRPr>
          </a:p>
          <a:p>
            <a:pPr>
              <a:buFont typeface="Arial"/>
            </a:pPr>
            <a:r>
              <a:rPr lang="vi-VN" sz="2300" b="1" err="1">
                <a:latin typeface="Arial"/>
                <a:ea typeface="+mn-lt"/>
                <a:cs typeface="Arial"/>
              </a:rPr>
              <a:t>Interaction</a:t>
            </a:r>
            <a:r>
              <a:rPr lang="vi-VN" sz="2300" b="1">
                <a:latin typeface="Arial"/>
                <a:ea typeface="+mn-lt"/>
                <a:cs typeface="Arial"/>
              </a:rPr>
              <a:t> </a:t>
            </a:r>
            <a:r>
              <a:rPr lang="vi-VN" sz="2300" b="1" err="1">
                <a:latin typeface="Arial"/>
                <a:ea typeface="+mn-lt"/>
                <a:cs typeface="Arial"/>
              </a:rPr>
              <a:t>Data</a:t>
            </a:r>
            <a:r>
              <a:rPr lang="vi-VN" sz="2300">
                <a:latin typeface="Arial"/>
                <a:ea typeface="+mn-lt"/>
                <a:cs typeface="Arial"/>
              </a:rPr>
              <a:t>:</a:t>
            </a:r>
            <a:endParaRPr lang="vi-VN" sz="2300">
              <a:latin typeface="Arial"/>
              <a:ea typeface="Lato"/>
              <a:cs typeface="Arial"/>
            </a:endParaRPr>
          </a:p>
          <a:p>
            <a:pPr lvl="1" indent="0">
              <a:buNone/>
            </a:pPr>
            <a:r>
              <a:rPr lang="vi-VN" sz="2300" err="1">
                <a:latin typeface="Arial"/>
                <a:ea typeface="+mn-lt"/>
                <a:cs typeface="Arial"/>
              </a:rPr>
              <a:t>user</a:t>
            </a:r>
            <a:r>
              <a:rPr lang="vi-VN" sz="2300">
                <a:latin typeface="Arial"/>
                <a:ea typeface="+mn-lt"/>
                <a:cs typeface="Arial"/>
              </a:rPr>
              <a:t> </a:t>
            </a:r>
            <a:r>
              <a:rPr lang="vi-VN" sz="2300" err="1">
                <a:latin typeface="Arial"/>
                <a:ea typeface="+mn-lt"/>
                <a:cs typeface="Arial"/>
              </a:rPr>
              <a:t>id</a:t>
            </a:r>
            <a:r>
              <a:rPr lang="vi-VN" sz="2300">
                <a:latin typeface="Arial"/>
                <a:ea typeface="+mn-lt"/>
                <a:cs typeface="Arial"/>
              </a:rPr>
              <a:t> | </a:t>
            </a:r>
            <a:r>
              <a:rPr lang="vi-VN" sz="2300" err="1">
                <a:latin typeface="Arial"/>
                <a:ea typeface="+mn-lt"/>
                <a:cs typeface="Arial"/>
              </a:rPr>
              <a:t>film</a:t>
            </a:r>
            <a:r>
              <a:rPr lang="vi-VN" sz="2300">
                <a:latin typeface="Arial"/>
                <a:ea typeface="+mn-lt"/>
                <a:cs typeface="Arial"/>
              </a:rPr>
              <a:t> </a:t>
            </a:r>
            <a:r>
              <a:rPr lang="vi-VN" sz="2300" err="1">
                <a:latin typeface="Arial"/>
                <a:ea typeface="+mn-lt"/>
                <a:cs typeface="Arial"/>
              </a:rPr>
              <a:t>id</a:t>
            </a:r>
            <a:r>
              <a:rPr lang="vi-VN" sz="2300">
                <a:latin typeface="Arial"/>
                <a:ea typeface="+mn-lt"/>
                <a:cs typeface="Arial"/>
              </a:rPr>
              <a:t> | </a:t>
            </a:r>
            <a:r>
              <a:rPr lang="vi-VN" sz="2300" err="1">
                <a:latin typeface="Arial"/>
                <a:ea typeface="+mn-lt"/>
                <a:cs typeface="Arial"/>
              </a:rPr>
              <a:t>rating</a:t>
            </a:r>
            <a:r>
              <a:rPr lang="vi-VN" sz="2300">
                <a:latin typeface="Arial"/>
                <a:ea typeface="+mn-lt"/>
                <a:cs typeface="Arial"/>
              </a:rPr>
              <a:t> | </a:t>
            </a:r>
            <a:r>
              <a:rPr lang="vi-VN" sz="2300" err="1">
                <a:latin typeface="Arial"/>
                <a:ea typeface="+mn-lt"/>
                <a:cs typeface="Arial"/>
              </a:rPr>
              <a:t>timestamp</a:t>
            </a:r>
            <a:endParaRPr lang="vi-VN" sz="2300">
              <a:latin typeface="Arial"/>
              <a:ea typeface="Lato"/>
              <a:cs typeface="Arial"/>
            </a:endParaRPr>
          </a:p>
          <a:p>
            <a:pPr marL="0" indent="0">
              <a:buNone/>
            </a:pPr>
            <a:br>
              <a:rPr lang="en-US"/>
            </a:br>
            <a:endParaRPr lang="en-US" sz="2300">
              <a:latin typeface="Arial"/>
              <a:ea typeface="Lato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68258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60CBE58-6D6E-FAA9-769B-E0FC09F13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>
                <a:ea typeface="Questrial"/>
                <a:cs typeface="Questrial"/>
              </a:rPr>
              <a:t>2. </a:t>
            </a:r>
            <a:r>
              <a:rPr lang="vi-VN" b="1" err="1">
                <a:ea typeface="Questrial"/>
                <a:cs typeface="Questrial"/>
              </a:rPr>
              <a:t>Dataset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70D0FB2-61D6-58AE-5DFA-1E9EEF98F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1945"/>
            <a:ext cx="10515600" cy="43919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vi-VN" sz="2500">
                <a:latin typeface="Arial"/>
                <a:ea typeface="Lato"/>
                <a:cs typeface="Lato"/>
              </a:rPr>
              <a:t>The </a:t>
            </a:r>
            <a:r>
              <a:rPr lang="vi-VN" sz="2500" err="1">
                <a:latin typeface="Arial"/>
                <a:ea typeface="Lato"/>
                <a:cs typeface="Lato"/>
              </a:rPr>
              <a:t>models</a:t>
            </a:r>
            <a:r>
              <a:rPr lang="vi-VN" sz="2500">
                <a:latin typeface="Arial"/>
                <a:ea typeface="Lato"/>
                <a:cs typeface="Lato"/>
              </a:rPr>
              <a:t> </a:t>
            </a:r>
            <a:r>
              <a:rPr lang="vi-VN" sz="2500" err="1">
                <a:latin typeface="Arial"/>
                <a:ea typeface="Lato"/>
                <a:cs typeface="Lato"/>
              </a:rPr>
              <a:t>aim</a:t>
            </a:r>
            <a:r>
              <a:rPr lang="vi-VN" sz="2500">
                <a:latin typeface="Arial"/>
                <a:ea typeface="Lato"/>
                <a:cs typeface="Lato"/>
              </a:rPr>
              <a:t> to </a:t>
            </a:r>
            <a:r>
              <a:rPr lang="vi-VN" sz="2500" err="1">
                <a:latin typeface="Arial"/>
                <a:ea typeface="Lato"/>
                <a:cs typeface="Lato"/>
              </a:rPr>
              <a:t>provide</a:t>
            </a:r>
            <a:r>
              <a:rPr lang="vi-VN" sz="2500">
                <a:latin typeface="Arial"/>
                <a:ea typeface="Lato"/>
                <a:cs typeface="Lato"/>
              </a:rPr>
              <a:t> </a:t>
            </a:r>
            <a:r>
              <a:rPr lang="vi-VN" sz="2500" err="1">
                <a:latin typeface="Arial"/>
                <a:ea typeface="Lato"/>
                <a:cs typeface="Lato"/>
              </a:rPr>
              <a:t>user</a:t>
            </a:r>
            <a:r>
              <a:rPr lang="vi-VN" sz="2500">
                <a:latin typeface="Arial"/>
                <a:ea typeface="Lato"/>
                <a:cs typeface="Lato"/>
              </a:rPr>
              <a:t> 2 </a:t>
            </a:r>
            <a:r>
              <a:rPr lang="vi-VN" sz="2500" err="1">
                <a:latin typeface="Arial"/>
                <a:ea typeface="Lato"/>
                <a:cs typeface="Lato"/>
              </a:rPr>
              <a:t>types</a:t>
            </a:r>
            <a:r>
              <a:rPr lang="vi-VN" sz="2500">
                <a:latin typeface="Arial"/>
                <a:ea typeface="Lato"/>
                <a:cs typeface="Lato"/>
              </a:rPr>
              <a:t> </a:t>
            </a:r>
            <a:r>
              <a:rPr lang="vi-VN" sz="2500" err="1">
                <a:latin typeface="Arial"/>
                <a:ea typeface="Lato"/>
                <a:cs typeface="Lato"/>
              </a:rPr>
              <a:t>of</a:t>
            </a:r>
            <a:r>
              <a:rPr lang="vi-VN" sz="2500">
                <a:latin typeface="Arial"/>
                <a:ea typeface="Lato"/>
                <a:cs typeface="Lato"/>
              </a:rPr>
              <a:t> </a:t>
            </a:r>
            <a:r>
              <a:rPr lang="vi-VN" sz="2500" err="1">
                <a:latin typeface="Arial"/>
                <a:ea typeface="Lato"/>
                <a:cs typeface="Lato"/>
              </a:rPr>
              <a:t>output</a:t>
            </a:r>
            <a:endParaRPr lang="vi-VN" sz="2500">
              <a:latin typeface="Arial"/>
              <a:ea typeface="Lato"/>
              <a:cs typeface="Lato"/>
            </a:endParaRPr>
          </a:p>
          <a:p>
            <a:pPr marL="0" indent="0" algn="just">
              <a:buNone/>
            </a:pPr>
            <a:endParaRPr lang="vi-VN" sz="2500">
              <a:latin typeface="Arial"/>
              <a:ea typeface="Lato"/>
              <a:cs typeface="Lato"/>
            </a:endParaRPr>
          </a:p>
          <a:p>
            <a:pPr algn="just">
              <a:buFont typeface="Arial"/>
              <a:buChar char="•"/>
            </a:pPr>
            <a:r>
              <a:rPr lang="vi-VN" sz="2500" b="1" err="1">
                <a:latin typeface="Arial"/>
                <a:ea typeface="Lato"/>
                <a:cs typeface="Arial"/>
              </a:rPr>
              <a:t>Top</a:t>
            </a:r>
            <a:r>
              <a:rPr lang="vi-VN" sz="2500" b="1">
                <a:latin typeface="Arial"/>
                <a:ea typeface="Lato"/>
                <a:cs typeface="Arial"/>
              </a:rPr>
              <a:t>-K </a:t>
            </a:r>
            <a:r>
              <a:rPr lang="vi-VN" sz="2500" b="1" err="1">
                <a:latin typeface="Arial"/>
                <a:ea typeface="Lato"/>
                <a:cs typeface="Arial"/>
              </a:rPr>
              <a:t>Movie</a:t>
            </a:r>
            <a:r>
              <a:rPr lang="vi-VN" sz="2500" b="1">
                <a:latin typeface="Arial"/>
                <a:ea typeface="Lato"/>
                <a:cs typeface="Arial"/>
              </a:rPr>
              <a:t> </a:t>
            </a:r>
            <a:r>
              <a:rPr lang="vi-VN" sz="2500" b="1" err="1">
                <a:latin typeface="Arial"/>
                <a:ea typeface="Lato"/>
                <a:cs typeface="Arial"/>
              </a:rPr>
              <a:t>Recommendations</a:t>
            </a:r>
            <a:r>
              <a:rPr lang="vi-VN" sz="2500">
                <a:latin typeface="Arial"/>
                <a:ea typeface="Lato"/>
                <a:cs typeface="Arial"/>
              </a:rPr>
              <a:t>:</a:t>
            </a:r>
            <a:endParaRPr lang="vi-VN" sz="2500">
              <a:latin typeface="Arial"/>
              <a:ea typeface="Lato"/>
              <a:cs typeface="Lato"/>
            </a:endParaRPr>
          </a:p>
          <a:p>
            <a:pPr marL="971550" lvl="1" indent="-285750" algn="just">
              <a:buFont typeface="Arial"/>
              <a:buChar char="•"/>
            </a:pPr>
            <a:r>
              <a:rPr lang="vi-VN" sz="2500" err="1">
                <a:latin typeface="Arial"/>
                <a:ea typeface="Lato"/>
                <a:cs typeface="Arial"/>
              </a:rPr>
              <a:t>For</a:t>
            </a:r>
            <a:r>
              <a:rPr lang="vi-VN" sz="2500">
                <a:latin typeface="Arial"/>
                <a:ea typeface="Lato"/>
                <a:cs typeface="Arial"/>
              </a:rPr>
              <a:t> </a:t>
            </a:r>
            <a:r>
              <a:rPr lang="vi-VN" sz="2500" err="1">
                <a:latin typeface="Arial"/>
                <a:ea typeface="Lato"/>
                <a:cs typeface="Arial"/>
              </a:rPr>
              <a:t>each</a:t>
            </a:r>
            <a:r>
              <a:rPr lang="vi-VN" sz="2500">
                <a:latin typeface="Arial"/>
                <a:ea typeface="Lato"/>
                <a:cs typeface="Arial"/>
              </a:rPr>
              <a:t> </a:t>
            </a:r>
            <a:r>
              <a:rPr lang="vi-VN" sz="2500" err="1">
                <a:latin typeface="Arial"/>
                <a:ea typeface="Lato"/>
                <a:cs typeface="Arial"/>
              </a:rPr>
              <a:t>user</a:t>
            </a:r>
            <a:r>
              <a:rPr lang="vi-VN" sz="2500">
                <a:latin typeface="Arial"/>
                <a:ea typeface="Lato"/>
                <a:cs typeface="Arial"/>
              </a:rPr>
              <a:t>, a </a:t>
            </a:r>
            <a:r>
              <a:rPr lang="vi-VN" sz="2500" err="1">
                <a:latin typeface="Arial"/>
                <a:ea typeface="Lato"/>
                <a:cs typeface="Arial"/>
              </a:rPr>
              <a:t>ranked</a:t>
            </a:r>
            <a:r>
              <a:rPr lang="vi-VN" sz="2500">
                <a:latin typeface="Arial"/>
                <a:ea typeface="Lato"/>
                <a:cs typeface="Arial"/>
              </a:rPr>
              <a:t> </a:t>
            </a:r>
            <a:r>
              <a:rPr lang="vi-VN" sz="2500" err="1">
                <a:latin typeface="Arial"/>
                <a:ea typeface="Lato"/>
                <a:cs typeface="Arial"/>
              </a:rPr>
              <a:t>list</a:t>
            </a:r>
            <a:r>
              <a:rPr lang="vi-VN" sz="2500">
                <a:latin typeface="Arial"/>
                <a:ea typeface="Lato"/>
                <a:cs typeface="Arial"/>
              </a:rPr>
              <a:t> </a:t>
            </a:r>
            <a:r>
              <a:rPr lang="vi-VN" sz="2500" err="1">
                <a:latin typeface="Arial"/>
                <a:ea typeface="Lato"/>
                <a:cs typeface="Arial"/>
              </a:rPr>
              <a:t>of</a:t>
            </a:r>
            <a:r>
              <a:rPr lang="vi-VN" sz="2500">
                <a:latin typeface="Arial"/>
                <a:ea typeface="Lato"/>
                <a:cs typeface="Arial"/>
              </a:rPr>
              <a:t> K </a:t>
            </a:r>
            <a:r>
              <a:rPr lang="vi-VN" sz="2500" err="1">
                <a:latin typeface="Arial"/>
                <a:ea typeface="Lato"/>
                <a:cs typeface="Arial"/>
              </a:rPr>
              <a:t>movies</a:t>
            </a:r>
            <a:r>
              <a:rPr lang="vi-VN" sz="2500">
                <a:latin typeface="Arial"/>
                <a:ea typeface="Lato"/>
                <a:cs typeface="Arial"/>
              </a:rPr>
              <a:t> </a:t>
            </a:r>
            <a:r>
              <a:rPr lang="vi-VN" sz="2500" err="1">
                <a:latin typeface="Arial"/>
                <a:ea typeface="Lato"/>
                <a:cs typeface="Arial"/>
              </a:rPr>
              <a:t>that</a:t>
            </a:r>
            <a:r>
              <a:rPr lang="vi-VN" sz="2500">
                <a:latin typeface="Arial"/>
                <a:ea typeface="Lato"/>
                <a:cs typeface="Arial"/>
              </a:rPr>
              <a:t> </a:t>
            </a:r>
            <a:r>
              <a:rPr lang="vi-VN" sz="2500" err="1">
                <a:latin typeface="Arial"/>
                <a:ea typeface="Lato"/>
                <a:cs typeface="Arial"/>
              </a:rPr>
              <a:t>they</a:t>
            </a:r>
            <a:r>
              <a:rPr lang="vi-VN" sz="2500">
                <a:latin typeface="Arial"/>
                <a:ea typeface="Lato"/>
                <a:cs typeface="Arial"/>
              </a:rPr>
              <a:t> </a:t>
            </a:r>
            <a:r>
              <a:rPr lang="vi-VN" sz="2500" err="1">
                <a:latin typeface="Arial"/>
                <a:ea typeface="Lato"/>
                <a:cs typeface="Arial"/>
              </a:rPr>
              <a:t>are</a:t>
            </a:r>
            <a:r>
              <a:rPr lang="vi-VN" sz="2500">
                <a:latin typeface="Arial"/>
                <a:ea typeface="Lato"/>
                <a:cs typeface="Arial"/>
              </a:rPr>
              <a:t> </a:t>
            </a:r>
            <a:r>
              <a:rPr lang="vi-VN" sz="2500" err="1">
                <a:latin typeface="Arial"/>
                <a:ea typeface="Lato"/>
                <a:cs typeface="Arial"/>
              </a:rPr>
              <a:t>most</a:t>
            </a:r>
            <a:r>
              <a:rPr lang="vi-VN" sz="2500">
                <a:latin typeface="Arial"/>
                <a:ea typeface="Lato"/>
                <a:cs typeface="Arial"/>
              </a:rPr>
              <a:t> </a:t>
            </a:r>
            <a:r>
              <a:rPr lang="vi-VN" sz="2500" err="1">
                <a:latin typeface="Arial"/>
                <a:ea typeface="Lato"/>
                <a:cs typeface="Arial"/>
              </a:rPr>
              <a:t>likely</a:t>
            </a:r>
            <a:r>
              <a:rPr lang="vi-VN" sz="2500">
                <a:latin typeface="Arial"/>
                <a:ea typeface="Lato"/>
                <a:cs typeface="Arial"/>
              </a:rPr>
              <a:t> to </a:t>
            </a:r>
            <a:r>
              <a:rPr lang="vi-VN" sz="2500" err="1">
                <a:latin typeface="Arial"/>
                <a:ea typeface="Lato"/>
                <a:cs typeface="Arial"/>
              </a:rPr>
              <a:t>watch</a:t>
            </a:r>
            <a:r>
              <a:rPr lang="vi-VN" sz="2500">
                <a:latin typeface="Arial"/>
                <a:ea typeface="Lato"/>
                <a:cs typeface="Arial"/>
              </a:rPr>
              <a:t> </a:t>
            </a:r>
            <a:r>
              <a:rPr lang="vi-VN" sz="2500" err="1">
                <a:latin typeface="Arial"/>
                <a:ea typeface="Lato"/>
                <a:cs typeface="Arial"/>
              </a:rPr>
              <a:t>or</a:t>
            </a:r>
            <a:r>
              <a:rPr lang="vi-VN" sz="2500">
                <a:latin typeface="Arial"/>
                <a:ea typeface="Lato"/>
                <a:cs typeface="Arial"/>
              </a:rPr>
              <a:t> </a:t>
            </a:r>
            <a:r>
              <a:rPr lang="vi-VN" sz="2500" err="1">
                <a:latin typeface="Arial"/>
                <a:ea typeface="Lato"/>
                <a:cs typeface="Arial"/>
              </a:rPr>
              <a:t>rate</a:t>
            </a:r>
            <a:r>
              <a:rPr lang="vi-VN" sz="2500">
                <a:latin typeface="Arial"/>
                <a:ea typeface="Lato"/>
                <a:cs typeface="Arial"/>
              </a:rPr>
              <a:t> </a:t>
            </a:r>
            <a:r>
              <a:rPr lang="vi-VN" sz="2500" err="1">
                <a:latin typeface="Arial"/>
                <a:ea typeface="Lato"/>
                <a:cs typeface="Arial"/>
              </a:rPr>
              <a:t>highly</a:t>
            </a:r>
            <a:r>
              <a:rPr lang="vi-VN" sz="2500">
                <a:latin typeface="Arial"/>
                <a:ea typeface="Lato"/>
                <a:cs typeface="Arial"/>
              </a:rPr>
              <a:t>, </a:t>
            </a:r>
            <a:r>
              <a:rPr lang="vi-VN" sz="2500" err="1">
                <a:latin typeface="Arial"/>
                <a:ea typeface="Lato"/>
                <a:cs typeface="Arial"/>
              </a:rPr>
              <a:t>sorted</a:t>
            </a:r>
            <a:r>
              <a:rPr lang="vi-VN" sz="2500">
                <a:latin typeface="Arial"/>
                <a:ea typeface="Lato"/>
                <a:cs typeface="Arial"/>
              </a:rPr>
              <a:t> </a:t>
            </a:r>
            <a:r>
              <a:rPr lang="vi-VN" sz="2500" err="1">
                <a:latin typeface="Arial"/>
                <a:ea typeface="Lato"/>
                <a:cs typeface="Arial"/>
              </a:rPr>
              <a:t>by</a:t>
            </a:r>
            <a:r>
              <a:rPr lang="vi-VN" sz="2500">
                <a:latin typeface="Arial"/>
                <a:ea typeface="Lato"/>
                <a:cs typeface="Arial"/>
              </a:rPr>
              <a:t> </a:t>
            </a:r>
            <a:r>
              <a:rPr lang="vi-VN" sz="2500" err="1">
                <a:latin typeface="Arial"/>
                <a:ea typeface="Lato"/>
                <a:cs typeface="Arial"/>
              </a:rPr>
              <a:t>predicted</a:t>
            </a:r>
            <a:r>
              <a:rPr lang="vi-VN" sz="2500">
                <a:latin typeface="Arial"/>
                <a:ea typeface="Lato"/>
                <a:cs typeface="Arial"/>
              </a:rPr>
              <a:t> </a:t>
            </a:r>
            <a:r>
              <a:rPr lang="vi-VN" sz="2500" err="1">
                <a:latin typeface="Arial"/>
                <a:ea typeface="Lato"/>
                <a:cs typeface="Arial"/>
              </a:rPr>
              <a:t>relevance</a:t>
            </a:r>
            <a:r>
              <a:rPr lang="vi-VN" sz="2500">
                <a:latin typeface="Arial"/>
                <a:ea typeface="Lato"/>
                <a:cs typeface="Arial"/>
              </a:rPr>
              <a:t>.</a:t>
            </a:r>
            <a:endParaRPr lang="vi-VN" sz="2500">
              <a:latin typeface="Arial"/>
              <a:ea typeface="Lato"/>
              <a:cs typeface="Lato"/>
            </a:endParaRPr>
          </a:p>
          <a:p>
            <a:pPr marL="971550" lvl="1" indent="-285750" algn="just">
              <a:buFont typeface="Arial"/>
              <a:buChar char="•"/>
            </a:pPr>
            <a:r>
              <a:rPr lang="vi-VN" sz="2500" err="1">
                <a:latin typeface="Arial"/>
                <a:ea typeface="Lato"/>
                <a:cs typeface="Arial"/>
              </a:rPr>
              <a:t>Example</a:t>
            </a:r>
            <a:r>
              <a:rPr lang="vi-VN" sz="2500">
                <a:latin typeface="Arial"/>
                <a:ea typeface="Lato"/>
                <a:cs typeface="Arial"/>
              </a:rPr>
              <a:t>: </a:t>
            </a:r>
            <a:r>
              <a:rPr lang="vi-VN" sz="2500" err="1">
                <a:latin typeface="Arial"/>
                <a:ea typeface="Lato"/>
                <a:cs typeface="Arial"/>
              </a:rPr>
              <a:t>User</a:t>
            </a:r>
            <a:r>
              <a:rPr lang="vi-VN" sz="2500">
                <a:latin typeface="Arial"/>
                <a:ea typeface="Lato"/>
                <a:cs typeface="Arial"/>
              </a:rPr>
              <a:t> 1 -&gt; [</a:t>
            </a:r>
            <a:r>
              <a:rPr lang="vi-VN" sz="2500" err="1">
                <a:latin typeface="Arial"/>
                <a:ea typeface="Lato"/>
                <a:cs typeface="Arial"/>
              </a:rPr>
              <a:t>Movie</a:t>
            </a:r>
            <a:r>
              <a:rPr lang="vi-VN" sz="2500">
                <a:latin typeface="Arial"/>
                <a:ea typeface="Lato"/>
                <a:cs typeface="Arial"/>
              </a:rPr>
              <a:t> A, </a:t>
            </a:r>
            <a:r>
              <a:rPr lang="vi-VN" sz="2500" err="1">
                <a:latin typeface="Arial"/>
                <a:ea typeface="Lato"/>
                <a:cs typeface="Arial"/>
              </a:rPr>
              <a:t>Movie</a:t>
            </a:r>
            <a:r>
              <a:rPr lang="vi-VN" sz="2500">
                <a:latin typeface="Arial"/>
                <a:ea typeface="Lato"/>
                <a:cs typeface="Arial"/>
              </a:rPr>
              <a:t> B, </a:t>
            </a:r>
            <a:r>
              <a:rPr lang="vi-VN" sz="2500" err="1">
                <a:latin typeface="Arial"/>
                <a:ea typeface="Lato"/>
                <a:cs typeface="Arial"/>
              </a:rPr>
              <a:t>Movie</a:t>
            </a:r>
            <a:r>
              <a:rPr lang="vi-VN" sz="2500">
                <a:latin typeface="Arial"/>
                <a:ea typeface="Lato"/>
                <a:cs typeface="Arial"/>
              </a:rPr>
              <a:t> C].</a:t>
            </a:r>
            <a:endParaRPr lang="vi-VN" sz="2500">
              <a:latin typeface="Arial"/>
              <a:ea typeface="Lato"/>
              <a:cs typeface="Lato"/>
            </a:endParaRPr>
          </a:p>
          <a:p>
            <a:pPr algn="just">
              <a:buFont typeface="Arial"/>
              <a:buChar char="•"/>
            </a:pPr>
            <a:r>
              <a:rPr lang="vi-VN" sz="2500" b="1" err="1">
                <a:latin typeface="Arial"/>
                <a:ea typeface="Lato"/>
                <a:cs typeface="Arial"/>
              </a:rPr>
              <a:t>Predicted</a:t>
            </a:r>
            <a:r>
              <a:rPr lang="vi-VN" sz="2500" b="1">
                <a:latin typeface="Arial"/>
                <a:ea typeface="Lato"/>
                <a:cs typeface="Arial"/>
              </a:rPr>
              <a:t> </a:t>
            </a:r>
            <a:r>
              <a:rPr lang="vi-VN" sz="2500" b="1" err="1">
                <a:latin typeface="Arial"/>
                <a:ea typeface="Lato"/>
                <a:cs typeface="Arial"/>
              </a:rPr>
              <a:t>Ratings</a:t>
            </a:r>
            <a:r>
              <a:rPr lang="vi-VN" sz="2500">
                <a:latin typeface="Arial"/>
                <a:ea typeface="Lato"/>
                <a:cs typeface="Arial"/>
              </a:rPr>
              <a:t>:</a:t>
            </a:r>
            <a:endParaRPr lang="vi-VN" sz="2500">
              <a:latin typeface="Arial"/>
              <a:ea typeface="Lato"/>
              <a:cs typeface="Lato"/>
            </a:endParaRPr>
          </a:p>
          <a:p>
            <a:pPr marL="971550" lvl="1" indent="-285750" algn="just">
              <a:buFont typeface="Arial"/>
              <a:buChar char="•"/>
            </a:pPr>
            <a:r>
              <a:rPr lang="vi-VN" sz="2500" err="1">
                <a:latin typeface="Arial"/>
                <a:ea typeface="Lato"/>
                <a:cs typeface="Arial"/>
              </a:rPr>
              <a:t>For</a:t>
            </a:r>
            <a:r>
              <a:rPr lang="vi-VN" sz="2500">
                <a:latin typeface="Arial"/>
                <a:ea typeface="Lato"/>
                <a:cs typeface="Arial"/>
              </a:rPr>
              <a:t> </a:t>
            </a:r>
            <a:r>
              <a:rPr lang="vi-VN" sz="2500" err="1">
                <a:latin typeface="Arial"/>
                <a:ea typeface="Lato"/>
                <a:cs typeface="Arial"/>
              </a:rPr>
              <a:t>all</a:t>
            </a:r>
            <a:r>
              <a:rPr lang="vi-VN" sz="2500">
                <a:latin typeface="Arial"/>
                <a:ea typeface="Lato"/>
                <a:cs typeface="Arial"/>
              </a:rPr>
              <a:t> </a:t>
            </a:r>
            <a:r>
              <a:rPr lang="vi-VN" sz="2500" err="1">
                <a:latin typeface="Arial"/>
                <a:ea typeface="Lato"/>
                <a:cs typeface="Arial"/>
              </a:rPr>
              <a:t>unseen</a:t>
            </a:r>
            <a:r>
              <a:rPr lang="vi-VN" sz="2500">
                <a:latin typeface="Arial"/>
                <a:ea typeface="Lato"/>
                <a:cs typeface="Arial"/>
              </a:rPr>
              <a:t> </a:t>
            </a:r>
            <a:r>
              <a:rPr lang="vi-VN" sz="2500" err="1">
                <a:latin typeface="Arial"/>
                <a:ea typeface="Lato"/>
                <a:cs typeface="Arial"/>
              </a:rPr>
              <a:t>user-movie</a:t>
            </a:r>
            <a:r>
              <a:rPr lang="vi-VN" sz="2500">
                <a:latin typeface="Arial"/>
                <a:ea typeface="Lato"/>
                <a:cs typeface="Arial"/>
              </a:rPr>
              <a:t> </a:t>
            </a:r>
            <a:r>
              <a:rPr lang="vi-VN" sz="2500" err="1">
                <a:latin typeface="Arial"/>
                <a:ea typeface="Lato"/>
                <a:cs typeface="Arial"/>
              </a:rPr>
              <a:t>pairs</a:t>
            </a:r>
            <a:r>
              <a:rPr lang="vi-VN" sz="2500">
                <a:latin typeface="Arial"/>
                <a:ea typeface="Lato"/>
                <a:cs typeface="Arial"/>
              </a:rPr>
              <a:t>, a </a:t>
            </a:r>
            <a:r>
              <a:rPr lang="vi-VN" sz="2500" err="1">
                <a:latin typeface="Arial"/>
                <a:ea typeface="Lato"/>
                <a:cs typeface="Arial"/>
              </a:rPr>
              <a:t>predicted</a:t>
            </a:r>
            <a:r>
              <a:rPr lang="vi-VN" sz="2500">
                <a:latin typeface="Arial"/>
                <a:ea typeface="Lato"/>
                <a:cs typeface="Arial"/>
              </a:rPr>
              <a:t> </a:t>
            </a:r>
            <a:r>
              <a:rPr lang="vi-VN" sz="2500" err="1">
                <a:latin typeface="Arial"/>
                <a:ea typeface="Lato"/>
                <a:cs typeface="Arial"/>
              </a:rPr>
              <a:t>rating</a:t>
            </a:r>
            <a:r>
              <a:rPr lang="vi-VN" sz="2500">
                <a:latin typeface="Arial"/>
                <a:ea typeface="Lato"/>
                <a:cs typeface="Arial"/>
              </a:rPr>
              <a:t> </a:t>
            </a:r>
            <a:r>
              <a:rPr lang="vi-VN" sz="2500" err="1">
                <a:latin typeface="Arial"/>
                <a:ea typeface="Lato"/>
                <a:cs typeface="Arial"/>
              </a:rPr>
              <a:t>indicating</a:t>
            </a:r>
            <a:r>
              <a:rPr lang="vi-VN" sz="2500">
                <a:latin typeface="Arial"/>
                <a:ea typeface="Lato"/>
                <a:cs typeface="Arial"/>
              </a:rPr>
              <a:t> </a:t>
            </a:r>
            <a:r>
              <a:rPr lang="vi-VN" sz="2500" err="1">
                <a:latin typeface="Arial"/>
                <a:ea typeface="Lato"/>
                <a:cs typeface="Arial"/>
              </a:rPr>
              <a:t>how</a:t>
            </a:r>
            <a:r>
              <a:rPr lang="vi-VN" sz="2500">
                <a:latin typeface="Arial"/>
                <a:ea typeface="Lato"/>
                <a:cs typeface="Arial"/>
              </a:rPr>
              <a:t> </a:t>
            </a:r>
            <a:r>
              <a:rPr lang="vi-VN" sz="2500" err="1">
                <a:latin typeface="Arial"/>
                <a:ea typeface="Lato"/>
                <a:cs typeface="Arial"/>
              </a:rPr>
              <a:t>much</a:t>
            </a:r>
            <a:r>
              <a:rPr lang="vi-VN" sz="2500">
                <a:latin typeface="Arial"/>
                <a:ea typeface="Lato"/>
                <a:cs typeface="Arial"/>
              </a:rPr>
              <a:t> a </a:t>
            </a:r>
            <a:r>
              <a:rPr lang="vi-VN" sz="2500" err="1">
                <a:latin typeface="Arial"/>
                <a:ea typeface="Lato"/>
                <a:cs typeface="Arial"/>
              </a:rPr>
              <a:t>user</a:t>
            </a:r>
            <a:r>
              <a:rPr lang="vi-VN" sz="2500">
                <a:latin typeface="Arial"/>
                <a:ea typeface="Lato"/>
                <a:cs typeface="Arial"/>
              </a:rPr>
              <a:t> </a:t>
            </a:r>
            <a:r>
              <a:rPr lang="vi-VN" sz="2500" err="1">
                <a:latin typeface="Arial"/>
                <a:ea typeface="Lato"/>
                <a:cs typeface="Arial"/>
              </a:rPr>
              <a:t>might</a:t>
            </a:r>
            <a:r>
              <a:rPr lang="vi-VN" sz="2500">
                <a:latin typeface="Arial"/>
                <a:ea typeface="Lato"/>
                <a:cs typeface="Arial"/>
              </a:rPr>
              <a:t> </a:t>
            </a:r>
            <a:r>
              <a:rPr lang="vi-VN" sz="2500" err="1">
                <a:latin typeface="Arial"/>
                <a:ea typeface="Lato"/>
                <a:cs typeface="Arial"/>
              </a:rPr>
              <a:t>like</a:t>
            </a:r>
            <a:r>
              <a:rPr lang="vi-VN" sz="2500">
                <a:latin typeface="Arial"/>
                <a:ea typeface="Lato"/>
                <a:cs typeface="Arial"/>
              </a:rPr>
              <a:t> a </a:t>
            </a:r>
            <a:r>
              <a:rPr lang="vi-VN" sz="2500" err="1">
                <a:latin typeface="Arial"/>
                <a:ea typeface="Lato"/>
                <a:cs typeface="Arial"/>
              </a:rPr>
              <a:t>movie</a:t>
            </a:r>
            <a:r>
              <a:rPr lang="vi-VN" sz="2500">
                <a:latin typeface="Arial"/>
                <a:ea typeface="Lato"/>
                <a:cs typeface="Arial"/>
              </a:rPr>
              <a:t>.</a:t>
            </a:r>
            <a:endParaRPr lang="vi-VN" sz="2500">
              <a:latin typeface="Arial"/>
              <a:ea typeface="Lato"/>
              <a:cs typeface="Lato"/>
            </a:endParaRPr>
          </a:p>
          <a:p>
            <a:pPr marL="971550" lvl="1" indent="-285750" algn="just">
              <a:buFont typeface="Arial"/>
              <a:buChar char="•"/>
            </a:pPr>
            <a:r>
              <a:rPr lang="vi-VN" sz="2500" err="1">
                <a:latin typeface="Arial"/>
                <a:ea typeface="Lato"/>
                <a:cs typeface="Arial"/>
              </a:rPr>
              <a:t>Example</a:t>
            </a:r>
            <a:r>
              <a:rPr lang="vi-VN" sz="2500">
                <a:latin typeface="Arial"/>
                <a:ea typeface="Lato"/>
                <a:cs typeface="Arial"/>
              </a:rPr>
              <a:t>: </a:t>
            </a:r>
            <a:r>
              <a:rPr lang="vi-VN" sz="2500" err="1">
                <a:latin typeface="Arial"/>
                <a:ea typeface="Lato"/>
                <a:cs typeface="Arial"/>
              </a:rPr>
              <a:t>User</a:t>
            </a:r>
            <a:r>
              <a:rPr lang="vi-VN" sz="2500">
                <a:latin typeface="Arial"/>
                <a:ea typeface="Lato"/>
                <a:cs typeface="Arial"/>
              </a:rPr>
              <a:t> 1 -&gt; </a:t>
            </a:r>
            <a:r>
              <a:rPr lang="vi-VN" sz="2500" err="1">
                <a:latin typeface="Arial"/>
                <a:ea typeface="Lato"/>
                <a:cs typeface="Arial"/>
              </a:rPr>
              <a:t>Movie</a:t>
            </a:r>
            <a:r>
              <a:rPr lang="vi-VN" sz="2500">
                <a:latin typeface="Arial"/>
                <a:ea typeface="Lato"/>
                <a:cs typeface="Arial"/>
              </a:rPr>
              <a:t> A: 4.5.</a:t>
            </a:r>
            <a:endParaRPr lang="vi-VN" sz="2500">
              <a:latin typeface="Arial"/>
              <a:ea typeface="Lato"/>
              <a:cs typeface="Lato"/>
            </a:endParaRPr>
          </a:p>
          <a:p>
            <a:pPr marL="0" indent="0" algn="just">
              <a:buNone/>
            </a:pPr>
            <a:endParaRPr lang="vi-VN">
              <a:ea typeface="Lato"/>
              <a:cs typeface="Lato"/>
            </a:endParaRPr>
          </a:p>
          <a:p>
            <a:pPr marL="0" indent="0" algn="just">
              <a:buNone/>
            </a:pPr>
            <a:endParaRPr lang="vi-VN">
              <a:ea typeface="Lato"/>
              <a:cs typeface="Lato"/>
            </a:endParaRPr>
          </a:p>
          <a:p>
            <a:pPr marL="0" indent="0" algn="just">
              <a:buNone/>
            </a:pPr>
            <a:endParaRPr lang="vi-VN" b="1"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8962303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60CBE58-6D6E-FAA9-769B-E0FC09F13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>
                <a:ea typeface="Questrial"/>
                <a:cs typeface="Questrial"/>
              </a:rPr>
              <a:t>2. </a:t>
            </a:r>
            <a:r>
              <a:rPr lang="vi-VN" b="1" err="1">
                <a:ea typeface="Questrial"/>
                <a:cs typeface="Questrial"/>
              </a:rPr>
              <a:t>Dataset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70D0FB2-61D6-58AE-5DFA-1E9EEF98F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1945"/>
            <a:ext cx="10515600" cy="43919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vi-VN" sz="2500" err="1">
                <a:latin typeface="Arial"/>
                <a:ea typeface="Lato"/>
                <a:cs typeface="Lato"/>
              </a:rPr>
              <a:t>For</a:t>
            </a:r>
            <a:r>
              <a:rPr lang="vi-VN" sz="2500">
                <a:latin typeface="Arial"/>
                <a:ea typeface="Lato"/>
                <a:cs typeface="Lato"/>
              </a:rPr>
              <a:t> </a:t>
            </a:r>
            <a:r>
              <a:rPr lang="vi-VN" sz="2500" err="1">
                <a:latin typeface="Arial"/>
                <a:ea typeface="Lato"/>
                <a:cs typeface="Lato"/>
              </a:rPr>
              <a:t>each</a:t>
            </a:r>
            <a:r>
              <a:rPr lang="vi-VN" sz="2500">
                <a:latin typeface="Arial"/>
                <a:ea typeface="Lato"/>
                <a:cs typeface="Lato"/>
              </a:rPr>
              <a:t> </a:t>
            </a:r>
            <a:r>
              <a:rPr lang="vi-VN" sz="2500" err="1">
                <a:latin typeface="Arial"/>
                <a:ea typeface="Lato"/>
                <a:cs typeface="Lato"/>
              </a:rPr>
              <a:t>user</a:t>
            </a:r>
            <a:r>
              <a:rPr lang="vi-VN" sz="2500">
                <a:latin typeface="Arial"/>
                <a:ea typeface="Lato"/>
                <a:cs typeface="Lato"/>
              </a:rPr>
              <a:t>, </a:t>
            </a:r>
            <a:r>
              <a:rPr lang="vi-VN" sz="2500" err="1">
                <a:latin typeface="Arial"/>
                <a:ea typeface="Lato"/>
                <a:cs typeface="Lato"/>
              </a:rPr>
              <a:t>algorithm</a:t>
            </a:r>
            <a:r>
              <a:rPr lang="vi-VN" sz="2500">
                <a:latin typeface="Arial"/>
                <a:ea typeface="Lato"/>
                <a:cs typeface="Lato"/>
              </a:rPr>
              <a:t> </a:t>
            </a:r>
            <a:r>
              <a:rPr lang="vi-VN" sz="2500" err="1">
                <a:latin typeface="Arial"/>
                <a:ea typeface="Lato"/>
                <a:cs typeface="Lato"/>
              </a:rPr>
              <a:t>reccomend</a:t>
            </a:r>
            <a:r>
              <a:rPr lang="vi-VN" sz="2500">
                <a:latin typeface="Arial"/>
                <a:ea typeface="Lato"/>
                <a:cs typeface="Lato"/>
              </a:rPr>
              <a:t> </a:t>
            </a:r>
            <a:r>
              <a:rPr lang="vi-VN" sz="2500" err="1">
                <a:latin typeface="Arial"/>
                <a:ea typeface="Lato"/>
                <a:cs typeface="Lato"/>
              </a:rPr>
              <a:t>top</a:t>
            </a:r>
            <a:r>
              <a:rPr lang="vi-VN" sz="2500">
                <a:latin typeface="Arial"/>
                <a:ea typeface="Lato"/>
                <a:cs typeface="Lato"/>
              </a:rPr>
              <a:t>-K </a:t>
            </a:r>
            <a:r>
              <a:rPr lang="vi-VN" sz="2500" err="1">
                <a:latin typeface="Arial"/>
                <a:ea typeface="Lato"/>
                <a:cs typeface="Lato"/>
              </a:rPr>
              <a:t>most</a:t>
            </a:r>
            <a:r>
              <a:rPr lang="vi-VN" sz="2500">
                <a:latin typeface="Arial"/>
                <a:ea typeface="Lato"/>
                <a:cs typeface="Lato"/>
              </a:rPr>
              <a:t> </a:t>
            </a:r>
            <a:r>
              <a:rPr lang="vi-VN" sz="2500" err="1">
                <a:latin typeface="Arial"/>
                <a:ea typeface="Lato"/>
                <a:cs typeface="Lato"/>
              </a:rPr>
              <a:t>relevant</a:t>
            </a:r>
            <a:r>
              <a:rPr lang="vi-VN" sz="2500">
                <a:latin typeface="Arial"/>
                <a:ea typeface="Lato"/>
                <a:cs typeface="Lato"/>
              </a:rPr>
              <a:t>, </a:t>
            </a:r>
            <a:r>
              <a:rPr lang="vi-VN" sz="2500" err="1">
                <a:latin typeface="Arial"/>
                <a:ea typeface="Lato"/>
                <a:cs typeface="Lato"/>
              </a:rPr>
              <a:t>and</a:t>
            </a:r>
            <a:r>
              <a:rPr lang="vi-VN" sz="2500">
                <a:latin typeface="Arial"/>
                <a:ea typeface="Lato"/>
                <a:cs typeface="Lato"/>
              </a:rPr>
              <a:t> </a:t>
            </a:r>
            <a:r>
              <a:rPr lang="vi-VN" sz="2500" err="1">
                <a:latin typeface="Arial"/>
                <a:ea typeface="Lato"/>
                <a:cs typeface="Lato"/>
              </a:rPr>
              <a:t>result</a:t>
            </a:r>
            <a:r>
              <a:rPr lang="vi-VN" sz="2500">
                <a:latin typeface="Arial"/>
                <a:ea typeface="Lato"/>
                <a:cs typeface="Lato"/>
              </a:rPr>
              <a:t> </a:t>
            </a:r>
            <a:r>
              <a:rPr lang="vi-VN" sz="2500" err="1">
                <a:latin typeface="Arial"/>
                <a:ea typeface="Lato"/>
                <a:cs typeface="Lato"/>
              </a:rPr>
              <a:t>will</a:t>
            </a:r>
            <a:r>
              <a:rPr lang="vi-VN" sz="2500">
                <a:latin typeface="Arial"/>
                <a:ea typeface="Lato"/>
                <a:cs typeface="Lato"/>
              </a:rPr>
              <a:t> be </a:t>
            </a:r>
            <a:r>
              <a:rPr lang="vi-VN" sz="2500" err="1">
                <a:latin typeface="Arial"/>
                <a:ea typeface="Lato"/>
                <a:cs typeface="Lato"/>
              </a:rPr>
              <a:t>calculated</a:t>
            </a:r>
            <a:r>
              <a:rPr lang="vi-VN" sz="2500">
                <a:latin typeface="Arial"/>
                <a:ea typeface="Lato"/>
                <a:cs typeface="Lato"/>
              </a:rPr>
              <a:t> </a:t>
            </a:r>
            <a:r>
              <a:rPr lang="vi-VN" sz="2500" err="1">
                <a:latin typeface="Arial"/>
                <a:ea typeface="Lato"/>
                <a:cs typeface="Lato"/>
              </a:rPr>
              <a:t>as</a:t>
            </a:r>
            <a:r>
              <a:rPr lang="vi-VN" sz="2500">
                <a:latin typeface="Arial"/>
                <a:ea typeface="Lato"/>
                <a:cs typeface="Lato"/>
              </a:rPr>
              <a:t>:</a:t>
            </a:r>
          </a:p>
          <a:p>
            <a:pPr algn="just"/>
            <a:r>
              <a:rPr lang="vi-VN" b="1" err="1">
                <a:ea typeface="Lato"/>
                <a:cs typeface="Lato"/>
              </a:rPr>
              <a:t>Precision@K</a:t>
            </a:r>
            <a:r>
              <a:rPr lang="vi-VN" b="1">
                <a:ea typeface="Lato"/>
                <a:cs typeface="Lato"/>
              </a:rPr>
              <a:t>:</a:t>
            </a:r>
          </a:p>
          <a:p>
            <a:pPr marL="0" indent="0" algn="just">
              <a:buNone/>
            </a:pPr>
            <a:endParaRPr lang="vi-VN">
              <a:ea typeface="Lato"/>
              <a:cs typeface="Lato"/>
            </a:endParaRPr>
          </a:p>
          <a:p>
            <a:pPr marL="0" indent="0" algn="just">
              <a:buNone/>
            </a:pPr>
            <a:endParaRPr lang="vi-VN">
              <a:ea typeface="Lato"/>
              <a:cs typeface="Lato"/>
            </a:endParaRPr>
          </a:p>
          <a:p>
            <a:pPr algn="just"/>
            <a:r>
              <a:rPr lang="vi-VN" b="1" err="1">
                <a:ea typeface="Lato"/>
                <a:cs typeface="Lato"/>
              </a:rPr>
              <a:t>Recall@K</a:t>
            </a:r>
            <a:r>
              <a:rPr lang="vi-VN" b="1">
                <a:ea typeface="Lato"/>
                <a:cs typeface="Lato"/>
              </a:rPr>
              <a:t>:</a:t>
            </a:r>
          </a:p>
          <a:p>
            <a:pPr marL="0" indent="0" algn="just">
              <a:buNone/>
            </a:pPr>
            <a:endParaRPr lang="vi-VN" b="1">
              <a:ea typeface="Lato"/>
              <a:cs typeface="Lato"/>
            </a:endParaRPr>
          </a:p>
        </p:txBody>
      </p:sp>
      <p:pic>
        <p:nvPicPr>
          <p:cNvPr id="5" name="Hình ảnh 4" descr="Ảnh có chứa văn bản, Phông chữ, màu trắng, hàng&#10;&#10;Mô tả được tự động tạo">
            <a:extLst>
              <a:ext uri="{FF2B5EF4-FFF2-40B4-BE49-F238E27FC236}">
                <a16:creationId xmlns:a16="http://schemas.microsoft.com/office/drawing/2014/main" id="{9F2FCF30-AF31-4908-52D3-9E5D3B25A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300" y="2937510"/>
            <a:ext cx="5857240" cy="982980"/>
          </a:xfrm>
          <a:prstGeom prst="rect">
            <a:avLst/>
          </a:prstGeom>
        </p:spPr>
      </p:pic>
      <p:pic>
        <p:nvPicPr>
          <p:cNvPr id="7" name="Hình ảnh 6" descr="Ảnh có chứa văn bản, Phông chữ, màu trắng, hàng&#10;&#10;Mô tả được tự động tạo">
            <a:extLst>
              <a:ext uri="{FF2B5EF4-FFF2-40B4-BE49-F238E27FC236}">
                <a16:creationId xmlns:a16="http://schemas.microsoft.com/office/drawing/2014/main" id="{E8B4E4D2-5892-51E4-CB43-3AE661132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5205" y="4518660"/>
            <a:ext cx="510159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8720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60CBE58-6D6E-FAA9-769B-E0FC09F13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>
                <a:ea typeface="Questrial"/>
                <a:cs typeface="Questrial"/>
              </a:rPr>
              <a:t>2. </a:t>
            </a:r>
            <a:r>
              <a:rPr lang="vi-VN" b="1" err="1">
                <a:ea typeface="Questrial"/>
                <a:cs typeface="Questrial"/>
              </a:rPr>
              <a:t>Dataset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770D0FB2-61D6-58AE-5DFA-1E9EEF98F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1945"/>
            <a:ext cx="10515600" cy="43919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vi-VN" b="1">
                <a:ea typeface="Lato"/>
                <a:cs typeface="Lato"/>
              </a:rPr>
              <a:t>- RMSE:</a:t>
            </a:r>
            <a:endParaRPr lang="vi-VN" sz="2500">
              <a:latin typeface="Arial"/>
              <a:ea typeface="Lato"/>
              <a:cs typeface="Lato"/>
            </a:endParaRPr>
          </a:p>
          <a:p>
            <a:pPr marL="0" indent="0" algn="just">
              <a:buNone/>
            </a:pPr>
            <a:endParaRPr lang="vi-VN">
              <a:ea typeface="Lato"/>
              <a:cs typeface="Lato"/>
            </a:endParaRPr>
          </a:p>
          <a:p>
            <a:pPr marL="0" indent="0" algn="just">
              <a:buNone/>
            </a:pPr>
            <a:r>
              <a:rPr lang="vi-VN">
                <a:ea typeface="Lato"/>
                <a:cs typeface="Lato"/>
              </a:rPr>
              <a:t> </a:t>
            </a:r>
          </a:p>
          <a:p>
            <a:pPr marL="0" indent="0" algn="just">
              <a:buNone/>
            </a:pPr>
            <a:endParaRPr lang="vi-VN">
              <a:ea typeface="Lato"/>
              <a:cs typeface="Lato"/>
            </a:endParaRPr>
          </a:p>
          <a:p>
            <a:pPr marL="0" indent="0" algn="just">
              <a:buNone/>
            </a:pPr>
            <a:endParaRPr lang="vi-VN" b="1">
              <a:ea typeface="Lato"/>
              <a:cs typeface="Lato"/>
            </a:endParaRPr>
          </a:p>
        </p:txBody>
      </p:sp>
      <p:pic>
        <p:nvPicPr>
          <p:cNvPr id="4" name="Picture 3" descr="A mathematical equation with numbers and symbols&#10;&#10;Description automatically generated">
            <a:extLst>
              <a:ext uri="{FF2B5EF4-FFF2-40B4-BE49-F238E27FC236}">
                <a16:creationId xmlns:a16="http://schemas.microsoft.com/office/drawing/2014/main" id="{87EE4AB0-31EA-83CF-FC88-5D82AC6DE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8140" y="1590254"/>
            <a:ext cx="5274129" cy="1956513"/>
          </a:xfrm>
          <a:prstGeom prst="rect">
            <a:avLst/>
          </a:prstGeom>
        </p:spPr>
      </p:pic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781EA03C-0906-796D-2D02-65AA31682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0163" y="2084388"/>
            <a:ext cx="4168775" cy="146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1684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CA3995E-0FF1-C271-99CA-8FFE011BB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>
                <a:ea typeface="Questrial"/>
                <a:cs typeface="Questrial"/>
              </a:rPr>
              <a:t>3. </a:t>
            </a:r>
            <a:r>
              <a:rPr lang="vi-VN" b="1" err="1">
                <a:ea typeface="Questrial"/>
                <a:cs typeface="Questrial"/>
              </a:rPr>
              <a:t>Methods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1BFD410A-73B2-F80D-1C60-2D63DED41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3385"/>
            <a:ext cx="55880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buNone/>
            </a:pPr>
            <a:r>
              <a:rPr lang="vi-VN" sz="2100">
                <a:latin typeface="Arial"/>
                <a:ea typeface="+mn-lt"/>
                <a:cs typeface="+mn-lt"/>
              </a:rPr>
              <a:t>BPR </a:t>
            </a:r>
            <a:r>
              <a:rPr lang="vi-VN" sz="2100" err="1">
                <a:latin typeface="Arial"/>
                <a:ea typeface="+mn-lt"/>
                <a:cs typeface="+mn-lt"/>
              </a:rPr>
              <a:t>is</a:t>
            </a:r>
            <a:r>
              <a:rPr lang="vi-VN" sz="2100">
                <a:latin typeface="Arial"/>
                <a:ea typeface="+mn-lt"/>
                <a:cs typeface="+mn-lt"/>
              </a:rPr>
              <a:t> </a:t>
            </a:r>
            <a:r>
              <a:rPr lang="vi-VN" sz="2100" err="1">
                <a:latin typeface="Arial"/>
                <a:ea typeface="+mn-lt"/>
                <a:cs typeface="+mn-lt"/>
              </a:rPr>
              <a:t>designed</a:t>
            </a:r>
            <a:r>
              <a:rPr lang="vi-VN" sz="2100">
                <a:latin typeface="Arial"/>
                <a:ea typeface="+mn-lt"/>
                <a:cs typeface="+mn-lt"/>
              </a:rPr>
              <a:t> </a:t>
            </a:r>
            <a:r>
              <a:rPr lang="vi-VN" sz="2100" err="1">
                <a:latin typeface="Arial"/>
                <a:ea typeface="+mn-lt"/>
                <a:cs typeface="+mn-lt"/>
              </a:rPr>
              <a:t>for</a:t>
            </a:r>
            <a:r>
              <a:rPr lang="vi-VN" sz="2100">
                <a:latin typeface="Arial"/>
                <a:ea typeface="+mn-lt"/>
                <a:cs typeface="+mn-lt"/>
              </a:rPr>
              <a:t> </a:t>
            </a:r>
            <a:r>
              <a:rPr lang="vi-VN" sz="2100" err="1">
                <a:latin typeface="Arial"/>
                <a:ea typeface="+mn-lt"/>
                <a:cs typeface="+mn-lt"/>
              </a:rPr>
              <a:t>personalized</a:t>
            </a:r>
            <a:r>
              <a:rPr lang="vi-VN" sz="2100">
                <a:latin typeface="Arial"/>
                <a:ea typeface="+mn-lt"/>
                <a:cs typeface="+mn-lt"/>
              </a:rPr>
              <a:t> </a:t>
            </a:r>
            <a:r>
              <a:rPr lang="vi-VN" sz="2100" err="1">
                <a:latin typeface="Arial"/>
                <a:ea typeface="+mn-lt"/>
                <a:cs typeface="+mn-lt"/>
              </a:rPr>
              <a:t>ranking</a:t>
            </a:r>
            <a:r>
              <a:rPr lang="vi-VN" sz="2100">
                <a:latin typeface="Arial"/>
                <a:ea typeface="+mn-lt"/>
                <a:cs typeface="+mn-lt"/>
              </a:rPr>
              <a:t> </a:t>
            </a:r>
            <a:r>
              <a:rPr lang="vi-VN" sz="2100" err="1">
                <a:latin typeface="Arial"/>
                <a:ea typeface="+mn-lt"/>
                <a:cs typeface="+mn-lt"/>
              </a:rPr>
              <a:t>preferred</a:t>
            </a:r>
            <a:r>
              <a:rPr lang="vi-VN" sz="2100">
                <a:latin typeface="Arial"/>
                <a:ea typeface="+mn-lt"/>
                <a:cs typeface="+mn-lt"/>
              </a:rPr>
              <a:t> </a:t>
            </a:r>
            <a:r>
              <a:rPr lang="vi-VN" sz="2100" err="1">
                <a:latin typeface="Arial"/>
                <a:ea typeface="+mn-lt"/>
                <a:cs typeface="+mn-lt"/>
              </a:rPr>
              <a:t>items</a:t>
            </a:r>
            <a:r>
              <a:rPr lang="vi-VN" sz="2100">
                <a:latin typeface="Arial"/>
                <a:ea typeface="+mn-lt"/>
                <a:cs typeface="+mn-lt"/>
              </a:rPr>
              <a:t> </a:t>
            </a:r>
            <a:r>
              <a:rPr lang="vi-VN" sz="2100" err="1">
                <a:latin typeface="Arial"/>
                <a:ea typeface="+mn-lt"/>
                <a:cs typeface="+mn-lt"/>
              </a:rPr>
              <a:t>higher</a:t>
            </a:r>
            <a:r>
              <a:rPr lang="vi-VN" sz="2100">
                <a:latin typeface="Arial"/>
                <a:ea typeface="+mn-lt"/>
                <a:cs typeface="+mn-lt"/>
              </a:rPr>
              <a:t> than non-</a:t>
            </a:r>
            <a:r>
              <a:rPr lang="vi-VN" sz="2100" err="1">
                <a:latin typeface="Arial"/>
                <a:ea typeface="+mn-lt"/>
                <a:cs typeface="+mn-lt"/>
              </a:rPr>
              <a:t>preferred</a:t>
            </a:r>
            <a:r>
              <a:rPr lang="vi-VN" sz="2100">
                <a:latin typeface="Arial"/>
                <a:ea typeface="+mn-lt"/>
                <a:cs typeface="+mn-lt"/>
              </a:rPr>
              <a:t> </a:t>
            </a:r>
            <a:r>
              <a:rPr lang="vi-VN" sz="2100" err="1">
                <a:latin typeface="Arial"/>
                <a:ea typeface="+mn-lt"/>
                <a:cs typeface="+mn-lt"/>
              </a:rPr>
              <a:t>ones</a:t>
            </a:r>
            <a:r>
              <a:rPr lang="vi-VN" sz="2100">
                <a:latin typeface="Arial"/>
                <a:ea typeface="+mn-lt"/>
                <a:cs typeface="+mn-lt"/>
              </a:rPr>
              <a:t> </a:t>
            </a:r>
            <a:r>
              <a:rPr lang="vi-VN" sz="2100" err="1">
                <a:latin typeface="Arial"/>
                <a:ea typeface="+mn-lt"/>
                <a:cs typeface="+mn-lt"/>
              </a:rPr>
              <a:t>for</a:t>
            </a:r>
            <a:r>
              <a:rPr lang="vi-VN" sz="2100">
                <a:latin typeface="Arial"/>
                <a:ea typeface="+mn-lt"/>
                <a:cs typeface="+mn-lt"/>
              </a:rPr>
              <a:t> a </a:t>
            </a:r>
            <a:r>
              <a:rPr lang="vi-VN" sz="2100" err="1">
                <a:latin typeface="Arial"/>
                <a:ea typeface="+mn-lt"/>
                <a:cs typeface="+mn-lt"/>
              </a:rPr>
              <a:t>given</a:t>
            </a:r>
            <a:r>
              <a:rPr lang="vi-VN" sz="2100">
                <a:latin typeface="Arial"/>
                <a:ea typeface="+mn-lt"/>
                <a:cs typeface="+mn-lt"/>
              </a:rPr>
              <a:t> </a:t>
            </a:r>
            <a:r>
              <a:rPr lang="vi-VN" sz="2100" err="1">
                <a:latin typeface="Arial"/>
                <a:ea typeface="+mn-lt"/>
                <a:cs typeface="+mn-lt"/>
              </a:rPr>
              <a:t>user</a:t>
            </a:r>
            <a:r>
              <a:rPr lang="vi-VN" sz="2100">
                <a:latin typeface="Arial"/>
                <a:ea typeface="+mn-lt"/>
                <a:cs typeface="+mn-lt"/>
              </a:rPr>
              <a:t>.</a:t>
            </a:r>
            <a:endParaRPr lang="vi-VN" sz="2100">
              <a:latin typeface="Arial"/>
              <a:ea typeface="Lato"/>
              <a:cs typeface="Lato"/>
            </a:endParaRPr>
          </a:p>
          <a:p>
            <a:pPr algn="just">
              <a:buNone/>
            </a:pPr>
            <a:r>
              <a:rPr lang="vi-VN" sz="2100" b="1" err="1">
                <a:latin typeface="Arial"/>
                <a:ea typeface="+mn-lt"/>
                <a:cs typeface="+mn-lt"/>
              </a:rPr>
              <a:t>Key</a:t>
            </a:r>
            <a:r>
              <a:rPr lang="vi-VN" sz="2100" b="1">
                <a:latin typeface="Arial"/>
                <a:ea typeface="+mn-lt"/>
                <a:cs typeface="+mn-lt"/>
              </a:rPr>
              <a:t> </a:t>
            </a:r>
            <a:r>
              <a:rPr lang="vi-VN" sz="2100" b="1" err="1">
                <a:latin typeface="Arial"/>
                <a:ea typeface="+mn-lt"/>
                <a:cs typeface="+mn-lt"/>
              </a:rPr>
              <a:t>Concepts</a:t>
            </a:r>
            <a:r>
              <a:rPr lang="vi-VN" sz="2100">
                <a:latin typeface="Arial"/>
                <a:ea typeface="+mn-lt"/>
                <a:cs typeface="+mn-lt"/>
              </a:rPr>
              <a:t>:</a:t>
            </a:r>
            <a:endParaRPr lang="vi-VN" sz="2100">
              <a:latin typeface="Arial"/>
              <a:ea typeface="Lato"/>
              <a:cs typeface="Lato"/>
            </a:endParaRPr>
          </a:p>
          <a:p>
            <a:pPr algn="just">
              <a:buNone/>
            </a:pPr>
            <a:r>
              <a:rPr lang="vi-VN" sz="2100">
                <a:latin typeface="Arial"/>
                <a:ea typeface="Lato"/>
                <a:cs typeface="Times New Roman"/>
              </a:rPr>
              <a:t>1. </a:t>
            </a:r>
            <a:r>
              <a:rPr lang="vi-VN" sz="2100" b="1" err="1">
                <a:latin typeface="Arial"/>
                <a:ea typeface="+mn-lt"/>
                <a:cs typeface="+mn-lt"/>
              </a:rPr>
              <a:t>Implicit</a:t>
            </a:r>
            <a:r>
              <a:rPr lang="vi-VN" sz="2100" b="1">
                <a:latin typeface="Arial"/>
                <a:ea typeface="+mn-lt"/>
                <a:cs typeface="+mn-lt"/>
              </a:rPr>
              <a:t> </a:t>
            </a:r>
            <a:r>
              <a:rPr lang="vi-VN" sz="2100" b="1" err="1">
                <a:latin typeface="Arial"/>
                <a:ea typeface="+mn-lt"/>
                <a:cs typeface="+mn-lt"/>
              </a:rPr>
              <a:t>Feedback</a:t>
            </a:r>
            <a:r>
              <a:rPr lang="vi-VN" sz="2100">
                <a:latin typeface="Arial"/>
                <a:ea typeface="+mn-lt"/>
                <a:cs typeface="+mn-lt"/>
              </a:rPr>
              <a:t>:</a:t>
            </a:r>
          </a:p>
          <a:p>
            <a:pPr algn="just">
              <a:buNone/>
            </a:pPr>
            <a:r>
              <a:rPr lang="vi-VN" sz="2100">
                <a:latin typeface="Arial"/>
                <a:ea typeface="+mn-lt"/>
                <a:cs typeface="+mn-lt"/>
              </a:rPr>
              <a:t>• </a:t>
            </a:r>
            <a:r>
              <a:rPr lang="vi-VN" sz="2100" err="1">
                <a:latin typeface="Arial"/>
                <a:ea typeface="+mn-lt"/>
                <a:cs typeface="+mn-lt"/>
              </a:rPr>
              <a:t>Observed</a:t>
            </a:r>
            <a:r>
              <a:rPr lang="vi-VN" sz="2100">
                <a:latin typeface="Arial"/>
                <a:ea typeface="+mn-lt"/>
                <a:cs typeface="+mn-lt"/>
              </a:rPr>
              <a:t> </a:t>
            </a:r>
            <a:r>
              <a:rPr lang="vi-VN" sz="2100" err="1">
                <a:latin typeface="Arial"/>
                <a:ea typeface="+mn-lt"/>
                <a:cs typeface="+mn-lt"/>
              </a:rPr>
              <a:t>data</a:t>
            </a:r>
            <a:r>
              <a:rPr lang="vi-VN" sz="2100">
                <a:latin typeface="Arial"/>
                <a:ea typeface="+mn-lt"/>
                <a:cs typeface="+mn-lt"/>
              </a:rPr>
              <a:t> (</a:t>
            </a:r>
            <a:r>
              <a:rPr lang="vi-VN" sz="2100" err="1">
                <a:latin typeface="Arial"/>
                <a:ea typeface="+mn-lt"/>
                <a:cs typeface="+mn-lt"/>
              </a:rPr>
              <a:t>positive</a:t>
            </a:r>
            <a:r>
              <a:rPr lang="vi-VN" sz="2100">
                <a:latin typeface="Arial"/>
                <a:ea typeface="+mn-lt"/>
                <a:cs typeface="+mn-lt"/>
              </a:rPr>
              <a:t> </a:t>
            </a:r>
            <a:r>
              <a:rPr lang="vi-VN" sz="2100" err="1">
                <a:latin typeface="Arial"/>
                <a:ea typeface="+mn-lt"/>
                <a:cs typeface="+mn-lt"/>
              </a:rPr>
              <a:t>interactions</a:t>
            </a:r>
            <a:r>
              <a:rPr lang="vi-VN" sz="2100">
                <a:latin typeface="Arial"/>
                <a:ea typeface="+mn-lt"/>
                <a:cs typeface="+mn-lt"/>
              </a:rPr>
              <a:t>, </a:t>
            </a:r>
            <a:r>
              <a:rPr lang="vi-VN" sz="2100" err="1">
                <a:latin typeface="Arial"/>
                <a:ea typeface="+mn-lt"/>
                <a:cs typeface="+mn-lt"/>
              </a:rPr>
              <a:t>e.g</a:t>
            </a:r>
            <a:r>
              <a:rPr lang="vi-VN" sz="2100">
                <a:latin typeface="Arial"/>
                <a:ea typeface="+mn-lt"/>
                <a:cs typeface="+mn-lt"/>
              </a:rPr>
              <a:t>., </a:t>
            </a:r>
            <a:r>
              <a:rPr lang="vi-VN" sz="2100" err="1">
                <a:latin typeface="Arial"/>
                <a:ea typeface="+mn-lt"/>
                <a:cs typeface="+mn-lt"/>
              </a:rPr>
              <a:t>purchases</a:t>
            </a:r>
            <a:r>
              <a:rPr lang="vi-VN" sz="2100">
                <a:latin typeface="Arial"/>
                <a:ea typeface="+mn-lt"/>
                <a:cs typeface="+mn-lt"/>
              </a:rPr>
              <a:t>, </a:t>
            </a:r>
            <a:r>
              <a:rPr lang="vi-VN" sz="2100" err="1">
                <a:latin typeface="Arial"/>
                <a:ea typeface="+mn-lt"/>
                <a:cs typeface="+mn-lt"/>
              </a:rPr>
              <a:t>clicks</a:t>
            </a:r>
            <a:r>
              <a:rPr lang="vi-VN" sz="2100">
                <a:latin typeface="Arial"/>
                <a:ea typeface="+mn-lt"/>
                <a:cs typeface="+mn-lt"/>
              </a:rPr>
              <a:t>) </a:t>
            </a:r>
            <a:r>
              <a:rPr lang="vi-VN" sz="2100" err="1">
                <a:latin typeface="Arial"/>
                <a:ea typeface="+mn-lt"/>
                <a:cs typeface="+mn-lt"/>
              </a:rPr>
              <a:t>vs</a:t>
            </a:r>
            <a:r>
              <a:rPr lang="vi-VN" sz="2100">
                <a:latin typeface="Arial"/>
                <a:ea typeface="+mn-lt"/>
                <a:cs typeface="+mn-lt"/>
              </a:rPr>
              <a:t>. </a:t>
            </a:r>
            <a:r>
              <a:rPr lang="vi-VN" sz="2100" err="1">
                <a:latin typeface="Arial"/>
                <a:ea typeface="+mn-lt"/>
                <a:cs typeface="+mn-lt"/>
              </a:rPr>
              <a:t>unobserved</a:t>
            </a:r>
            <a:r>
              <a:rPr lang="vi-VN" sz="2100">
                <a:latin typeface="Arial"/>
                <a:ea typeface="+mn-lt"/>
                <a:cs typeface="+mn-lt"/>
              </a:rPr>
              <a:t> </a:t>
            </a:r>
            <a:r>
              <a:rPr lang="vi-VN" sz="2100" err="1">
                <a:latin typeface="Arial"/>
                <a:ea typeface="+mn-lt"/>
                <a:cs typeface="+mn-lt"/>
              </a:rPr>
              <a:t>data</a:t>
            </a:r>
            <a:r>
              <a:rPr lang="vi-VN" sz="2100">
                <a:latin typeface="Arial"/>
                <a:ea typeface="+mn-lt"/>
                <a:cs typeface="+mn-lt"/>
              </a:rPr>
              <a:t> (a </a:t>
            </a:r>
            <a:r>
              <a:rPr lang="vi-VN" sz="2100" err="1">
                <a:latin typeface="Arial"/>
                <a:ea typeface="+mn-lt"/>
                <a:cs typeface="+mn-lt"/>
              </a:rPr>
              <a:t>mix</a:t>
            </a:r>
            <a:r>
              <a:rPr lang="vi-VN" sz="2100">
                <a:latin typeface="Arial"/>
                <a:ea typeface="+mn-lt"/>
                <a:cs typeface="+mn-lt"/>
              </a:rPr>
              <a:t> </a:t>
            </a:r>
            <a:r>
              <a:rPr lang="vi-VN" sz="2100" err="1">
                <a:latin typeface="Arial"/>
                <a:ea typeface="+mn-lt"/>
                <a:cs typeface="+mn-lt"/>
              </a:rPr>
              <a:t>of</a:t>
            </a:r>
            <a:r>
              <a:rPr lang="vi-VN" sz="2100">
                <a:latin typeface="Arial"/>
                <a:ea typeface="+mn-lt"/>
                <a:cs typeface="+mn-lt"/>
              </a:rPr>
              <a:t> </a:t>
            </a:r>
            <a:r>
              <a:rPr lang="vi-VN" sz="2100" err="1">
                <a:latin typeface="Arial"/>
                <a:ea typeface="+mn-lt"/>
                <a:cs typeface="+mn-lt"/>
              </a:rPr>
              <a:t>true</a:t>
            </a:r>
            <a:r>
              <a:rPr lang="vi-VN" sz="2100">
                <a:latin typeface="Arial"/>
                <a:ea typeface="+mn-lt"/>
                <a:cs typeface="+mn-lt"/>
              </a:rPr>
              <a:t> </a:t>
            </a:r>
            <a:r>
              <a:rPr lang="vi-VN" sz="2100" err="1">
                <a:latin typeface="Arial"/>
                <a:ea typeface="+mn-lt"/>
                <a:cs typeface="+mn-lt"/>
              </a:rPr>
              <a:t>negatives</a:t>
            </a:r>
            <a:r>
              <a:rPr lang="vi-VN" sz="2100">
                <a:latin typeface="Arial"/>
                <a:ea typeface="+mn-lt"/>
                <a:cs typeface="+mn-lt"/>
              </a:rPr>
              <a:t> </a:t>
            </a:r>
            <a:r>
              <a:rPr lang="vi-VN" sz="2100" err="1">
                <a:latin typeface="Arial"/>
                <a:ea typeface="+mn-lt"/>
                <a:cs typeface="+mn-lt"/>
              </a:rPr>
              <a:t>and</a:t>
            </a:r>
            <a:r>
              <a:rPr lang="vi-VN" sz="2100">
                <a:latin typeface="Arial"/>
                <a:ea typeface="+mn-lt"/>
                <a:cs typeface="+mn-lt"/>
              </a:rPr>
              <a:t> </a:t>
            </a:r>
            <a:r>
              <a:rPr lang="vi-VN" sz="2100" err="1">
                <a:latin typeface="Arial"/>
                <a:ea typeface="+mn-lt"/>
                <a:cs typeface="+mn-lt"/>
              </a:rPr>
              <a:t>unknowns</a:t>
            </a:r>
            <a:r>
              <a:rPr lang="vi-VN" sz="2100">
                <a:latin typeface="Arial"/>
                <a:ea typeface="+mn-lt"/>
                <a:cs typeface="+mn-lt"/>
              </a:rPr>
              <a:t>).</a:t>
            </a:r>
            <a:endParaRPr lang="vi-VN" sz="2100">
              <a:latin typeface="Arial"/>
              <a:ea typeface="Lato"/>
              <a:cs typeface="Lato"/>
            </a:endParaRPr>
          </a:p>
          <a:p>
            <a:pPr algn="just">
              <a:buNone/>
            </a:pPr>
            <a:r>
              <a:rPr lang="vi-VN" sz="2100">
                <a:latin typeface="Arial"/>
                <a:ea typeface="+mn-lt"/>
                <a:cs typeface="Times New Roman"/>
              </a:rPr>
              <a:t>2. </a:t>
            </a:r>
            <a:r>
              <a:rPr lang="vi-VN" sz="2100" b="1" err="1">
                <a:latin typeface="Arial"/>
                <a:ea typeface="+mn-lt"/>
                <a:cs typeface="+mn-lt"/>
              </a:rPr>
              <a:t>Pairwise</a:t>
            </a:r>
            <a:r>
              <a:rPr lang="vi-VN" sz="2100" b="1">
                <a:latin typeface="Arial"/>
                <a:ea typeface="+mn-lt"/>
                <a:cs typeface="+mn-lt"/>
              </a:rPr>
              <a:t> </a:t>
            </a:r>
            <a:r>
              <a:rPr lang="vi-VN" sz="2100" b="1" err="1">
                <a:latin typeface="Arial"/>
                <a:ea typeface="+mn-lt"/>
                <a:cs typeface="+mn-lt"/>
              </a:rPr>
              <a:t>Ranking</a:t>
            </a:r>
            <a:r>
              <a:rPr lang="vi-VN" sz="2100">
                <a:latin typeface="Arial"/>
                <a:ea typeface="+mn-lt"/>
                <a:cs typeface="+mn-lt"/>
              </a:rPr>
              <a:t>:</a:t>
            </a:r>
          </a:p>
          <a:p>
            <a:pPr algn="just">
              <a:buNone/>
            </a:pPr>
            <a:r>
              <a:rPr lang="vi-VN" sz="2100">
                <a:latin typeface="Arial"/>
                <a:ea typeface="+mn-lt"/>
                <a:cs typeface="+mn-lt"/>
              </a:rPr>
              <a:t>• </a:t>
            </a:r>
            <a:r>
              <a:rPr lang="vi-VN" sz="2100" err="1">
                <a:latin typeface="Arial"/>
                <a:ea typeface="+mn-lt"/>
                <a:cs typeface="+mn-lt"/>
              </a:rPr>
              <a:t>Replaces</a:t>
            </a:r>
            <a:r>
              <a:rPr lang="vi-VN" sz="2100">
                <a:latin typeface="Arial"/>
                <a:ea typeface="+mn-lt"/>
                <a:cs typeface="+mn-lt"/>
              </a:rPr>
              <a:t> </a:t>
            </a:r>
            <a:r>
              <a:rPr lang="vi-VN" sz="2100" err="1">
                <a:latin typeface="Arial"/>
                <a:ea typeface="+mn-lt"/>
                <a:cs typeface="+mn-lt"/>
              </a:rPr>
              <a:t>pointwise</a:t>
            </a:r>
            <a:r>
              <a:rPr lang="vi-VN" sz="2100">
                <a:latin typeface="Arial"/>
                <a:ea typeface="+mn-lt"/>
                <a:cs typeface="+mn-lt"/>
              </a:rPr>
              <a:t> </a:t>
            </a:r>
            <a:r>
              <a:rPr lang="vi-VN" sz="2100" err="1">
                <a:latin typeface="Arial"/>
                <a:ea typeface="+mn-lt"/>
                <a:cs typeface="+mn-lt"/>
              </a:rPr>
              <a:t>loss</a:t>
            </a:r>
            <a:r>
              <a:rPr lang="vi-VN" sz="2100">
                <a:latin typeface="Arial"/>
                <a:ea typeface="+mn-lt"/>
                <a:cs typeface="+mn-lt"/>
              </a:rPr>
              <a:t> </a:t>
            </a:r>
            <a:r>
              <a:rPr lang="vi-VN" sz="2100" err="1">
                <a:latin typeface="Arial"/>
                <a:ea typeface="+mn-lt"/>
                <a:cs typeface="+mn-lt"/>
              </a:rPr>
              <a:t>with</a:t>
            </a:r>
            <a:r>
              <a:rPr lang="vi-VN" sz="2100">
                <a:latin typeface="Arial"/>
                <a:ea typeface="+mn-lt"/>
                <a:cs typeface="+mn-lt"/>
              </a:rPr>
              <a:t> </a:t>
            </a:r>
            <a:r>
              <a:rPr lang="vi-VN" sz="2100" err="1">
                <a:latin typeface="Arial"/>
                <a:ea typeface="+mn-lt"/>
                <a:cs typeface="+mn-lt"/>
              </a:rPr>
              <a:t>pairwise</a:t>
            </a:r>
            <a:r>
              <a:rPr lang="vi-VN" sz="2100">
                <a:latin typeface="Arial"/>
                <a:ea typeface="+mn-lt"/>
                <a:cs typeface="+mn-lt"/>
              </a:rPr>
              <a:t> </a:t>
            </a:r>
            <a:r>
              <a:rPr lang="vi-VN" sz="2100" err="1">
                <a:latin typeface="Arial"/>
                <a:ea typeface="+mn-lt"/>
                <a:cs typeface="+mn-lt"/>
              </a:rPr>
              <a:t>loss</a:t>
            </a:r>
            <a:r>
              <a:rPr lang="vi-VN" sz="2100">
                <a:latin typeface="Arial"/>
                <a:ea typeface="+mn-lt"/>
                <a:cs typeface="+mn-lt"/>
              </a:rPr>
              <a:t>.</a:t>
            </a:r>
            <a:endParaRPr lang="vi-VN" sz="2100">
              <a:latin typeface="Arial"/>
              <a:ea typeface="Lato"/>
              <a:cs typeface="Lato"/>
            </a:endParaRPr>
          </a:p>
          <a:p>
            <a:pPr algn="just">
              <a:buNone/>
            </a:pPr>
            <a:r>
              <a:rPr lang="vi-VN" sz="2100">
                <a:latin typeface="Arial"/>
                <a:ea typeface="+mn-lt"/>
                <a:cs typeface="+mn-lt"/>
              </a:rPr>
              <a:t>• </a:t>
            </a:r>
            <a:r>
              <a:rPr lang="vi-VN" sz="2100" err="1">
                <a:latin typeface="Arial"/>
                <a:ea typeface="+mn-lt"/>
                <a:cs typeface="+mn-lt"/>
              </a:rPr>
              <a:t>Optimizes</a:t>
            </a:r>
            <a:r>
              <a:rPr lang="vi-VN" sz="2100">
                <a:latin typeface="Arial"/>
                <a:ea typeface="+mn-lt"/>
                <a:cs typeface="+mn-lt"/>
              </a:rPr>
              <a:t> </a:t>
            </a:r>
            <a:r>
              <a:rPr lang="vi-VN" sz="2100" err="1">
                <a:latin typeface="Arial"/>
                <a:ea typeface="+mn-lt"/>
                <a:cs typeface="+mn-lt"/>
              </a:rPr>
              <a:t>ranking</a:t>
            </a:r>
            <a:r>
              <a:rPr lang="vi-VN" sz="2100">
                <a:latin typeface="Arial"/>
                <a:ea typeface="+mn-lt"/>
                <a:cs typeface="+mn-lt"/>
              </a:rPr>
              <a:t> </a:t>
            </a:r>
            <a:r>
              <a:rPr lang="vi-VN" sz="2100" err="1">
                <a:latin typeface="Arial"/>
                <a:ea typeface="+mn-lt"/>
                <a:cs typeface="+mn-lt"/>
              </a:rPr>
              <a:t>by</a:t>
            </a:r>
            <a:r>
              <a:rPr lang="vi-VN" sz="2100">
                <a:latin typeface="Arial"/>
                <a:ea typeface="+mn-lt"/>
                <a:cs typeface="+mn-lt"/>
              </a:rPr>
              <a:t> </a:t>
            </a:r>
            <a:r>
              <a:rPr lang="vi-VN" sz="2100" err="1">
                <a:latin typeface="Arial"/>
                <a:ea typeface="+mn-lt"/>
                <a:cs typeface="+mn-lt"/>
              </a:rPr>
              <a:t>maximizing</a:t>
            </a:r>
            <a:r>
              <a:rPr lang="vi-VN" sz="2100">
                <a:latin typeface="Arial"/>
                <a:ea typeface="+mn-lt"/>
                <a:cs typeface="+mn-lt"/>
              </a:rPr>
              <a:t> the </a:t>
            </a:r>
            <a:r>
              <a:rPr lang="vi-VN" sz="2100" err="1">
                <a:latin typeface="Arial"/>
                <a:ea typeface="+mn-lt"/>
                <a:cs typeface="+mn-lt"/>
              </a:rPr>
              <a:t>margin</a:t>
            </a:r>
            <a:r>
              <a:rPr lang="vi-VN" sz="2100">
                <a:latin typeface="Arial"/>
                <a:ea typeface="+mn-lt"/>
                <a:cs typeface="+mn-lt"/>
              </a:rPr>
              <a:t> </a:t>
            </a:r>
            <a:r>
              <a:rPr lang="vi-VN" sz="2100" err="1">
                <a:latin typeface="Arial"/>
                <a:ea typeface="+mn-lt"/>
                <a:cs typeface="+mn-lt"/>
              </a:rPr>
              <a:t>between</a:t>
            </a:r>
            <a:r>
              <a:rPr lang="vi-VN" sz="2100">
                <a:latin typeface="Arial"/>
                <a:ea typeface="+mn-lt"/>
                <a:cs typeface="+mn-lt"/>
              </a:rPr>
              <a:t> </a:t>
            </a:r>
            <a:r>
              <a:rPr lang="vi-VN" sz="2100" err="1">
                <a:latin typeface="Arial"/>
                <a:ea typeface="+mn-lt"/>
                <a:cs typeface="+mn-lt"/>
              </a:rPr>
              <a:t>preferred</a:t>
            </a:r>
            <a:r>
              <a:rPr lang="vi-VN" sz="2100">
                <a:latin typeface="Arial"/>
                <a:ea typeface="+mn-lt"/>
                <a:cs typeface="+mn-lt"/>
              </a:rPr>
              <a:t> i </a:t>
            </a:r>
            <a:r>
              <a:rPr lang="vi-VN" sz="2100" err="1">
                <a:latin typeface="Arial"/>
                <a:ea typeface="+mn-lt"/>
                <a:cs typeface="+mn-lt"/>
              </a:rPr>
              <a:t>and</a:t>
            </a:r>
            <a:r>
              <a:rPr lang="vi-VN" sz="2100">
                <a:latin typeface="Arial"/>
                <a:ea typeface="+mn-lt"/>
                <a:cs typeface="+mn-lt"/>
              </a:rPr>
              <a:t> non-</a:t>
            </a:r>
            <a:r>
              <a:rPr lang="vi-VN" sz="2100" err="1">
                <a:latin typeface="Arial"/>
                <a:ea typeface="+mn-lt"/>
                <a:cs typeface="+mn-lt"/>
              </a:rPr>
              <a:t>preferred</a:t>
            </a:r>
            <a:r>
              <a:rPr lang="vi-VN" sz="2100">
                <a:latin typeface="Arial"/>
                <a:ea typeface="+mn-lt"/>
                <a:cs typeface="+mn-lt"/>
              </a:rPr>
              <a:t> </a:t>
            </a:r>
            <a:r>
              <a:rPr lang="vi-VN" sz="2100" err="1">
                <a:latin typeface="Arial"/>
                <a:ea typeface="+mn-lt"/>
                <a:cs typeface="+mn-lt"/>
              </a:rPr>
              <a:t>items</a:t>
            </a:r>
            <a:r>
              <a:rPr lang="vi-VN" sz="2100">
                <a:latin typeface="Arial"/>
                <a:ea typeface="+mn-lt"/>
                <a:cs typeface="+mn-lt"/>
              </a:rPr>
              <a:t> j.</a:t>
            </a:r>
            <a:endParaRPr lang="vi-VN" sz="2100">
              <a:latin typeface="Arial"/>
              <a:ea typeface="Lato"/>
              <a:cs typeface="Lato"/>
            </a:endParaRPr>
          </a:p>
          <a:p>
            <a:pPr algn="just">
              <a:buNone/>
            </a:pPr>
            <a:endParaRPr lang="vi-VN" sz="2100">
              <a:latin typeface="Arial"/>
              <a:ea typeface="Lato"/>
              <a:cs typeface="Lato"/>
            </a:endParaRPr>
          </a:p>
          <a:p>
            <a:pPr algn="just">
              <a:buNone/>
            </a:pPr>
            <a:endParaRPr lang="vi-VN" sz="2100">
              <a:latin typeface="Arial"/>
              <a:ea typeface="Lato"/>
              <a:cs typeface="Lato"/>
            </a:endParaRPr>
          </a:p>
          <a:p>
            <a:pPr marL="0" indent="0" algn="just">
              <a:buNone/>
            </a:pPr>
            <a:endParaRPr lang="vi-VN" sz="2100">
              <a:latin typeface="Arial"/>
              <a:ea typeface="Lato"/>
              <a:cs typeface="Lato"/>
            </a:endParaRPr>
          </a:p>
        </p:txBody>
      </p:sp>
      <p:pic>
        <p:nvPicPr>
          <p:cNvPr id="6" name="Hình ảnh 5" descr="Bayesian personalized ranking based on multiple-layer neighborhoods -  ScienceDirect">
            <a:extLst>
              <a:ext uri="{FF2B5EF4-FFF2-40B4-BE49-F238E27FC236}">
                <a16:creationId xmlns:a16="http://schemas.microsoft.com/office/drawing/2014/main" id="{EE987C43-2C8A-3DC8-0B33-2908F71409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279" r="-633" b="107"/>
          <a:stretch/>
        </p:blipFill>
        <p:spPr>
          <a:xfrm>
            <a:off x="6650967" y="2285519"/>
            <a:ext cx="5277217" cy="3149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4984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CA3995E-0FF1-C271-99CA-8FFE011BB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>
                <a:ea typeface="Questrial"/>
                <a:cs typeface="Questrial"/>
              </a:rPr>
              <a:t>3. </a:t>
            </a:r>
            <a:r>
              <a:rPr lang="vi-VN" b="1" err="1">
                <a:ea typeface="Questrial"/>
                <a:cs typeface="Questrial"/>
              </a:rPr>
              <a:t>Methods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1BFD410A-73B2-F80D-1C60-2D63DED41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3385"/>
            <a:ext cx="55880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vi-VN" sz="2500" b="1" err="1">
                <a:latin typeface="Arial"/>
                <a:ea typeface="Lato"/>
                <a:cs typeface="Lato"/>
              </a:rPr>
              <a:t>LightGCN</a:t>
            </a:r>
            <a:r>
              <a:rPr lang="vi-VN" sz="1600">
                <a:latin typeface="Arial"/>
                <a:ea typeface="Lato"/>
                <a:cs typeface="Lato"/>
              </a:rPr>
              <a:t>[1]</a:t>
            </a:r>
            <a:r>
              <a:rPr lang="vi-VN" sz="2500" b="1">
                <a:latin typeface="Arial"/>
                <a:ea typeface="Lato"/>
                <a:cs typeface="Lato"/>
              </a:rPr>
              <a:t> </a:t>
            </a:r>
            <a:r>
              <a:rPr lang="vi-VN" sz="2500" err="1">
                <a:latin typeface="Arial"/>
                <a:ea typeface="Lato"/>
                <a:cs typeface="Lato"/>
              </a:rPr>
              <a:t>consists</a:t>
            </a:r>
            <a:r>
              <a:rPr lang="vi-VN" sz="2500">
                <a:latin typeface="Arial"/>
                <a:ea typeface="+mn-lt"/>
                <a:cs typeface="+mn-lt"/>
              </a:rPr>
              <a:t> </a:t>
            </a:r>
            <a:r>
              <a:rPr lang="vi-VN" sz="2500" err="1">
                <a:latin typeface="Arial"/>
                <a:ea typeface="+mn-lt"/>
                <a:cs typeface="+mn-lt"/>
              </a:rPr>
              <a:t>of</a:t>
            </a:r>
            <a:r>
              <a:rPr lang="vi-VN" sz="2500">
                <a:latin typeface="Arial"/>
                <a:ea typeface="+mn-lt"/>
                <a:cs typeface="+mn-lt"/>
              </a:rPr>
              <a:t> </a:t>
            </a:r>
            <a:r>
              <a:rPr lang="vi-VN" sz="2500" err="1">
                <a:latin typeface="Arial"/>
                <a:ea typeface="+mn-lt"/>
                <a:cs typeface="+mn-lt"/>
              </a:rPr>
              <a:t>two</a:t>
            </a:r>
            <a:r>
              <a:rPr lang="vi-VN" sz="2500">
                <a:latin typeface="Arial"/>
                <a:ea typeface="+mn-lt"/>
                <a:cs typeface="+mn-lt"/>
              </a:rPr>
              <a:t> </a:t>
            </a:r>
            <a:r>
              <a:rPr lang="vi-VN" sz="2500" err="1">
                <a:latin typeface="Arial"/>
                <a:ea typeface="+mn-lt"/>
                <a:cs typeface="+mn-lt"/>
              </a:rPr>
              <a:t>main</a:t>
            </a:r>
            <a:r>
              <a:rPr lang="vi-VN" sz="2500">
                <a:latin typeface="Arial"/>
                <a:ea typeface="+mn-lt"/>
                <a:cs typeface="+mn-lt"/>
              </a:rPr>
              <a:t> </a:t>
            </a:r>
            <a:r>
              <a:rPr lang="vi-VN" sz="2500" err="1">
                <a:latin typeface="Arial"/>
                <a:ea typeface="+mn-lt"/>
                <a:cs typeface="+mn-lt"/>
              </a:rPr>
              <a:t>components</a:t>
            </a:r>
            <a:r>
              <a:rPr lang="vi-VN" sz="2500">
                <a:latin typeface="Arial"/>
                <a:ea typeface="+mn-lt"/>
                <a:cs typeface="+mn-lt"/>
              </a:rPr>
              <a:t>:</a:t>
            </a:r>
            <a:endParaRPr lang="vi-VN" sz="2500">
              <a:latin typeface="Arial"/>
              <a:cs typeface="Arial"/>
            </a:endParaRPr>
          </a:p>
          <a:p>
            <a:pPr algn="just"/>
            <a:r>
              <a:rPr lang="vi-VN" sz="2500" b="1" err="1">
                <a:latin typeface="Arial"/>
                <a:ea typeface="+mn-lt"/>
                <a:cs typeface="+mn-lt"/>
              </a:rPr>
              <a:t>Simple</a:t>
            </a:r>
            <a:r>
              <a:rPr lang="vi-VN" sz="2500" b="1">
                <a:latin typeface="Arial"/>
                <a:ea typeface="+mn-lt"/>
                <a:cs typeface="+mn-lt"/>
              </a:rPr>
              <a:t> </a:t>
            </a:r>
            <a:r>
              <a:rPr lang="vi-VN" sz="2500" b="1" err="1">
                <a:latin typeface="Arial"/>
                <a:ea typeface="+mn-lt"/>
                <a:cs typeface="+mn-lt"/>
              </a:rPr>
              <a:t>Graph</a:t>
            </a:r>
            <a:r>
              <a:rPr lang="vi-VN" sz="2500" b="1">
                <a:latin typeface="Arial"/>
                <a:ea typeface="+mn-lt"/>
                <a:cs typeface="+mn-lt"/>
              </a:rPr>
              <a:t> </a:t>
            </a:r>
            <a:r>
              <a:rPr lang="vi-VN" sz="2500" b="1" err="1">
                <a:latin typeface="Arial"/>
                <a:ea typeface="+mn-lt"/>
                <a:cs typeface="+mn-lt"/>
              </a:rPr>
              <a:t>Convolution</a:t>
            </a:r>
            <a:r>
              <a:rPr lang="vi-VN" sz="2500" b="1">
                <a:latin typeface="Arial"/>
                <a:ea typeface="+mn-lt"/>
                <a:cs typeface="+mn-lt"/>
              </a:rPr>
              <a:t> (LGC):</a:t>
            </a:r>
            <a:r>
              <a:rPr lang="vi-VN" sz="2500">
                <a:latin typeface="Arial"/>
                <a:ea typeface="+mn-lt"/>
                <a:cs typeface="+mn-lt"/>
              </a:rPr>
              <a:t> </a:t>
            </a:r>
            <a:r>
              <a:rPr lang="vi-VN" sz="2500" err="1">
                <a:latin typeface="Arial"/>
                <a:ea typeface="+mn-lt"/>
                <a:cs typeface="+mn-lt"/>
              </a:rPr>
              <a:t>Aggregates</a:t>
            </a:r>
            <a:r>
              <a:rPr lang="vi-VN" sz="2500">
                <a:latin typeface="Arial"/>
                <a:ea typeface="+mn-lt"/>
                <a:cs typeface="+mn-lt"/>
              </a:rPr>
              <a:t> </a:t>
            </a:r>
            <a:r>
              <a:rPr lang="vi-VN" sz="2500" err="1">
                <a:latin typeface="Arial"/>
                <a:ea typeface="+mn-lt"/>
                <a:cs typeface="+mn-lt"/>
              </a:rPr>
              <a:t>neighbor</a:t>
            </a:r>
            <a:r>
              <a:rPr lang="vi-VN" sz="2500">
                <a:latin typeface="Arial"/>
                <a:ea typeface="+mn-lt"/>
                <a:cs typeface="+mn-lt"/>
              </a:rPr>
              <a:t> </a:t>
            </a:r>
            <a:r>
              <a:rPr lang="vi-VN" sz="2500" err="1">
                <a:latin typeface="Arial"/>
                <a:ea typeface="+mn-lt"/>
                <a:cs typeface="+mn-lt"/>
              </a:rPr>
              <a:t>embeddings</a:t>
            </a:r>
            <a:r>
              <a:rPr lang="vi-VN" sz="2500">
                <a:latin typeface="Arial"/>
                <a:ea typeface="+mn-lt"/>
                <a:cs typeface="+mn-lt"/>
              </a:rPr>
              <a:t> </a:t>
            </a:r>
            <a:r>
              <a:rPr lang="vi-VN" sz="2500" err="1">
                <a:latin typeface="Arial"/>
                <a:ea typeface="+mn-lt"/>
                <a:cs typeface="+mn-lt"/>
              </a:rPr>
              <a:t>without</a:t>
            </a:r>
            <a:r>
              <a:rPr lang="vi-VN" sz="2500">
                <a:latin typeface="Arial"/>
                <a:ea typeface="+mn-lt"/>
                <a:cs typeface="+mn-lt"/>
              </a:rPr>
              <a:t> </a:t>
            </a:r>
            <a:r>
              <a:rPr lang="vi-VN" sz="2500" err="1">
                <a:latin typeface="Arial"/>
                <a:ea typeface="+mn-lt"/>
                <a:cs typeface="+mn-lt"/>
              </a:rPr>
              <a:t>self-connections</a:t>
            </a:r>
            <a:r>
              <a:rPr lang="vi-VN" sz="2500">
                <a:latin typeface="Arial"/>
                <a:ea typeface="+mn-lt"/>
                <a:cs typeface="+mn-lt"/>
              </a:rPr>
              <a:t>, </a:t>
            </a:r>
            <a:r>
              <a:rPr lang="vi-VN" sz="2500" err="1">
                <a:latin typeface="Arial"/>
                <a:ea typeface="+mn-lt"/>
                <a:cs typeface="+mn-lt"/>
              </a:rPr>
              <a:t>feature</a:t>
            </a:r>
            <a:r>
              <a:rPr lang="vi-VN" sz="2500">
                <a:latin typeface="Arial"/>
                <a:ea typeface="+mn-lt"/>
                <a:cs typeface="+mn-lt"/>
              </a:rPr>
              <a:t> </a:t>
            </a:r>
            <a:r>
              <a:rPr lang="vi-VN" sz="2500" err="1">
                <a:latin typeface="Arial"/>
                <a:ea typeface="+mn-lt"/>
                <a:cs typeface="+mn-lt"/>
              </a:rPr>
              <a:t>transformations</a:t>
            </a:r>
            <a:r>
              <a:rPr lang="vi-VN" sz="2500">
                <a:latin typeface="Arial"/>
                <a:ea typeface="+mn-lt"/>
                <a:cs typeface="+mn-lt"/>
              </a:rPr>
              <a:t>, </a:t>
            </a:r>
            <a:r>
              <a:rPr lang="vi-VN" sz="2500" err="1">
                <a:latin typeface="Arial"/>
                <a:ea typeface="+mn-lt"/>
                <a:cs typeface="+mn-lt"/>
              </a:rPr>
              <a:t>or</a:t>
            </a:r>
            <a:r>
              <a:rPr lang="vi-VN" sz="2500">
                <a:latin typeface="Arial"/>
                <a:ea typeface="+mn-lt"/>
                <a:cs typeface="+mn-lt"/>
              </a:rPr>
              <a:t> non-</a:t>
            </a:r>
            <a:r>
              <a:rPr lang="vi-VN" sz="2500" err="1">
                <a:latin typeface="Arial"/>
                <a:ea typeface="+mn-lt"/>
                <a:cs typeface="+mn-lt"/>
              </a:rPr>
              <a:t>linear</a:t>
            </a:r>
            <a:r>
              <a:rPr lang="vi-VN" sz="2500">
                <a:latin typeface="Arial"/>
                <a:ea typeface="+mn-lt"/>
                <a:cs typeface="+mn-lt"/>
              </a:rPr>
              <a:t> </a:t>
            </a:r>
            <a:r>
              <a:rPr lang="vi-VN" sz="2500" err="1">
                <a:latin typeface="Arial"/>
                <a:ea typeface="+mn-lt"/>
                <a:cs typeface="+mn-lt"/>
              </a:rPr>
              <a:t>activations</a:t>
            </a:r>
            <a:r>
              <a:rPr lang="vi-VN" sz="2500">
                <a:latin typeface="Arial"/>
                <a:ea typeface="+mn-lt"/>
                <a:cs typeface="+mn-lt"/>
              </a:rPr>
              <a:t> </a:t>
            </a:r>
            <a:r>
              <a:rPr lang="vi-VN" sz="2500" err="1">
                <a:latin typeface="Arial"/>
                <a:ea typeface="+mn-lt"/>
                <a:cs typeface="+mn-lt"/>
              </a:rPr>
              <a:t>for</a:t>
            </a:r>
            <a:r>
              <a:rPr lang="vi-VN" sz="2500">
                <a:latin typeface="Arial"/>
                <a:ea typeface="+mn-lt"/>
                <a:cs typeface="+mn-lt"/>
              </a:rPr>
              <a:t> </a:t>
            </a:r>
            <a:r>
              <a:rPr lang="vi-VN" sz="2500" err="1">
                <a:latin typeface="Arial"/>
                <a:ea typeface="+mn-lt"/>
                <a:cs typeface="+mn-lt"/>
              </a:rPr>
              <a:t>efficiency</a:t>
            </a:r>
            <a:r>
              <a:rPr lang="vi-VN" sz="2500">
                <a:latin typeface="Arial"/>
                <a:ea typeface="+mn-lt"/>
                <a:cs typeface="+mn-lt"/>
              </a:rPr>
              <a:t>.</a:t>
            </a:r>
            <a:endParaRPr lang="vi-VN" sz="2500">
              <a:latin typeface="Arial"/>
              <a:ea typeface="Lato"/>
              <a:cs typeface="Lato"/>
            </a:endParaRPr>
          </a:p>
          <a:p>
            <a:pPr algn="just"/>
            <a:r>
              <a:rPr lang="vi-VN" sz="2500" b="1" err="1">
                <a:latin typeface="Arial"/>
                <a:ea typeface="+mn-lt"/>
                <a:cs typeface="+mn-lt"/>
              </a:rPr>
              <a:t>Layer</a:t>
            </a:r>
            <a:r>
              <a:rPr lang="vi-VN" sz="2500" b="1">
                <a:latin typeface="Arial"/>
                <a:ea typeface="+mn-lt"/>
                <a:cs typeface="+mn-lt"/>
              </a:rPr>
              <a:t> </a:t>
            </a:r>
            <a:r>
              <a:rPr lang="vi-VN" sz="2500" b="1" err="1">
                <a:latin typeface="Arial"/>
                <a:ea typeface="+mn-lt"/>
                <a:cs typeface="+mn-lt"/>
              </a:rPr>
              <a:t>Combination</a:t>
            </a:r>
            <a:r>
              <a:rPr lang="vi-VN" sz="2500" b="1">
                <a:latin typeface="Arial"/>
                <a:ea typeface="+mn-lt"/>
                <a:cs typeface="+mn-lt"/>
              </a:rPr>
              <a:t>:</a:t>
            </a:r>
            <a:r>
              <a:rPr lang="vi-VN" sz="2500">
                <a:latin typeface="Arial"/>
                <a:ea typeface="+mn-lt"/>
                <a:cs typeface="+mn-lt"/>
              </a:rPr>
              <a:t> </a:t>
            </a:r>
            <a:r>
              <a:rPr lang="vi-VN" sz="2500" err="1">
                <a:latin typeface="Arial"/>
                <a:ea typeface="+mn-lt"/>
                <a:cs typeface="+mn-lt"/>
              </a:rPr>
              <a:t>Combines</a:t>
            </a:r>
            <a:r>
              <a:rPr lang="vi-VN" sz="2500">
                <a:latin typeface="Arial"/>
                <a:ea typeface="+mn-lt"/>
                <a:cs typeface="+mn-lt"/>
              </a:rPr>
              <a:t> </a:t>
            </a:r>
            <a:r>
              <a:rPr lang="vi-VN" sz="2500" err="1">
                <a:latin typeface="Arial"/>
                <a:ea typeface="+mn-lt"/>
                <a:cs typeface="+mn-lt"/>
              </a:rPr>
              <a:t>embeddings</a:t>
            </a:r>
            <a:r>
              <a:rPr lang="vi-VN" sz="2500">
                <a:latin typeface="Arial"/>
                <a:ea typeface="+mn-lt"/>
                <a:cs typeface="+mn-lt"/>
              </a:rPr>
              <a:t> </a:t>
            </a:r>
            <a:r>
              <a:rPr lang="vi-VN" sz="2500" err="1">
                <a:latin typeface="Arial"/>
                <a:ea typeface="+mn-lt"/>
                <a:cs typeface="+mn-lt"/>
              </a:rPr>
              <a:t>from</a:t>
            </a:r>
            <a:r>
              <a:rPr lang="vi-VN" sz="2500">
                <a:latin typeface="Arial"/>
                <a:ea typeface="+mn-lt"/>
                <a:cs typeface="+mn-lt"/>
              </a:rPr>
              <a:t> </a:t>
            </a:r>
            <a:r>
              <a:rPr lang="vi-VN" sz="2500" err="1">
                <a:latin typeface="Arial"/>
                <a:ea typeface="+mn-lt"/>
                <a:cs typeface="+mn-lt"/>
              </a:rPr>
              <a:t>all</a:t>
            </a:r>
            <a:r>
              <a:rPr lang="vi-VN" sz="2500">
                <a:latin typeface="Arial"/>
                <a:ea typeface="+mn-lt"/>
                <a:cs typeface="+mn-lt"/>
              </a:rPr>
              <a:t> </a:t>
            </a:r>
            <a:r>
              <a:rPr lang="vi-VN" sz="2500" err="1">
                <a:latin typeface="Arial"/>
                <a:ea typeface="+mn-lt"/>
                <a:cs typeface="+mn-lt"/>
              </a:rPr>
              <a:t>layers</a:t>
            </a:r>
            <a:r>
              <a:rPr lang="vi-VN" sz="2500">
                <a:latin typeface="Arial"/>
                <a:ea typeface="+mn-lt"/>
                <a:cs typeface="+mn-lt"/>
              </a:rPr>
              <a:t> to </a:t>
            </a:r>
            <a:r>
              <a:rPr lang="vi-VN" sz="2500" err="1">
                <a:latin typeface="Arial"/>
                <a:ea typeface="+mn-lt"/>
                <a:cs typeface="+mn-lt"/>
              </a:rPr>
              <a:t>form</a:t>
            </a:r>
            <a:r>
              <a:rPr lang="vi-VN" sz="2500">
                <a:latin typeface="Arial"/>
                <a:ea typeface="+mn-lt"/>
                <a:cs typeface="+mn-lt"/>
              </a:rPr>
              <a:t> </a:t>
            </a:r>
            <a:r>
              <a:rPr lang="vi-VN" sz="2500" err="1">
                <a:latin typeface="Arial"/>
                <a:ea typeface="+mn-lt"/>
                <a:cs typeface="+mn-lt"/>
              </a:rPr>
              <a:t>final</a:t>
            </a:r>
            <a:r>
              <a:rPr lang="vi-VN" sz="2500">
                <a:latin typeface="Arial"/>
                <a:ea typeface="+mn-lt"/>
                <a:cs typeface="+mn-lt"/>
              </a:rPr>
              <a:t> </a:t>
            </a:r>
            <a:r>
              <a:rPr lang="vi-VN" sz="2500" err="1">
                <a:latin typeface="Arial"/>
                <a:ea typeface="+mn-lt"/>
                <a:cs typeface="+mn-lt"/>
              </a:rPr>
              <a:t>user</a:t>
            </a:r>
            <a:r>
              <a:rPr lang="vi-VN" sz="2500">
                <a:latin typeface="Arial"/>
                <a:ea typeface="+mn-lt"/>
                <a:cs typeface="+mn-lt"/>
              </a:rPr>
              <a:t> </a:t>
            </a:r>
            <a:r>
              <a:rPr lang="vi-VN" sz="2500" err="1">
                <a:latin typeface="Arial"/>
                <a:ea typeface="+mn-lt"/>
                <a:cs typeface="+mn-lt"/>
              </a:rPr>
              <a:t>and</a:t>
            </a:r>
            <a:r>
              <a:rPr lang="vi-VN" sz="2500">
                <a:latin typeface="Arial"/>
                <a:ea typeface="+mn-lt"/>
                <a:cs typeface="+mn-lt"/>
              </a:rPr>
              <a:t> </a:t>
            </a:r>
            <a:r>
              <a:rPr lang="vi-VN" sz="2500" err="1">
                <a:latin typeface="Arial"/>
                <a:ea typeface="+mn-lt"/>
                <a:cs typeface="+mn-lt"/>
              </a:rPr>
              <a:t>item</a:t>
            </a:r>
            <a:r>
              <a:rPr lang="vi-VN" sz="2500">
                <a:latin typeface="Arial"/>
                <a:ea typeface="+mn-lt"/>
                <a:cs typeface="+mn-lt"/>
              </a:rPr>
              <a:t> </a:t>
            </a:r>
            <a:r>
              <a:rPr lang="vi-VN" sz="2500" err="1">
                <a:latin typeface="Arial"/>
                <a:ea typeface="+mn-lt"/>
                <a:cs typeface="+mn-lt"/>
              </a:rPr>
              <a:t>representations</a:t>
            </a:r>
            <a:r>
              <a:rPr lang="vi-VN" sz="2500">
                <a:latin typeface="Arial"/>
                <a:ea typeface="+mn-lt"/>
                <a:cs typeface="+mn-lt"/>
              </a:rPr>
              <a:t>, </a:t>
            </a:r>
            <a:r>
              <a:rPr lang="vi-VN" sz="2500" err="1">
                <a:latin typeface="Arial"/>
                <a:ea typeface="+mn-lt"/>
                <a:cs typeface="+mn-lt"/>
              </a:rPr>
              <a:t>addressing</a:t>
            </a:r>
            <a:r>
              <a:rPr lang="vi-VN" sz="2500">
                <a:latin typeface="Arial"/>
                <a:ea typeface="+mn-lt"/>
                <a:cs typeface="+mn-lt"/>
              </a:rPr>
              <a:t> </a:t>
            </a:r>
            <a:r>
              <a:rPr lang="vi-VN" sz="2500" err="1">
                <a:latin typeface="Arial"/>
                <a:ea typeface="+mn-lt"/>
                <a:cs typeface="+mn-lt"/>
              </a:rPr>
              <a:t>over-smoothing</a:t>
            </a:r>
            <a:r>
              <a:rPr lang="vi-VN" sz="2500">
                <a:latin typeface="Arial"/>
                <a:ea typeface="+mn-lt"/>
                <a:cs typeface="+mn-lt"/>
              </a:rPr>
              <a:t>.</a:t>
            </a:r>
            <a:endParaRPr lang="vi-VN" sz="2500">
              <a:latin typeface="Arial"/>
              <a:ea typeface="Lato"/>
              <a:cs typeface="Lato"/>
            </a:endParaRPr>
          </a:p>
          <a:p>
            <a:pPr marL="0" indent="0" algn="just">
              <a:buNone/>
            </a:pPr>
            <a:endParaRPr lang="vi-VN" sz="2500">
              <a:latin typeface="Arial"/>
              <a:ea typeface="Lato"/>
              <a:cs typeface="Lato"/>
            </a:endParaRPr>
          </a:p>
        </p:txBody>
      </p:sp>
      <p:pic>
        <p:nvPicPr>
          <p:cNvPr id="5" name="Hình ảnh 4" descr="Ảnh có chứa văn bản, biểu đồ, Kế hoạch, Bản vẽ kỹ thuật&#10;&#10;Mô tả được tự động tạo">
            <a:extLst>
              <a:ext uri="{FF2B5EF4-FFF2-40B4-BE49-F238E27FC236}">
                <a16:creationId xmlns:a16="http://schemas.microsoft.com/office/drawing/2014/main" id="{65A23AA1-BD45-94AA-9B88-E8EEACCCA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403" y="1965008"/>
            <a:ext cx="5212715" cy="3781425"/>
          </a:xfrm>
          <a:prstGeom prst="rect">
            <a:avLst/>
          </a:prstGeom>
        </p:spPr>
      </p:pic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43C474B2-F826-6989-34F9-40911C6E2216}"/>
              </a:ext>
            </a:extLst>
          </p:cNvPr>
          <p:cNvSpPr txBox="1"/>
          <p:nvPr/>
        </p:nvSpPr>
        <p:spPr>
          <a:xfrm>
            <a:off x="297180" y="6309360"/>
            <a:ext cx="1028446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1600">
                <a:ea typeface="Lato"/>
                <a:cs typeface="Lato"/>
              </a:rPr>
              <a:t>[1] He </a:t>
            </a:r>
            <a:r>
              <a:rPr lang="vi-VN" sz="1600" err="1">
                <a:ea typeface="Lato"/>
                <a:cs typeface="Lato"/>
              </a:rPr>
              <a:t>et</a:t>
            </a:r>
            <a:r>
              <a:rPr lang="vi-VN" sz="1600">
                <a:ea typeface="Lato"/>
                <a:cs typeface="Lato"/>
              </a:rPr>
              <a:t> </a:t>
            </a:r>
            <a:r>
              <a:rPr lang="vi-VN" sz="1600" err="1">
                <a:ea typeface="Lato"/>
                <a:cs typeface="Lato"/>
              </a:rPr>
              <a:t>al</a:t>
            </a:r>
            <a:r>
              <a:rPr lang="vi-VN" sz="1600">
                <a:ea typeface="Lato"/>
                <a:cs typeface="Lato"/>
              </a:rPr>
              <a:t>.  </a:t>
            </a:r>
            <a:r>
              <a:rPr lang="vi-VN" sz="1600" err="1">
                <a:ea typeface="+mn-lt"/>
                <a:cs typeface="+mn-lt"/>
              </a:rPr>
              <a:t>LightGCN</a:t>
            </a:r>
            <a:r>
              <a:rPr lang="vi-VN" sz="1600">
                <a:ea typeface="+mn-lt"/>
                <a:cs typeface="+mn-lt"/>
              </a:rPr>
              <a:t>: </a:t>
            </a:r>
            <a:r>
              <a:rPr lang="vi-VN" sz="1600" err="1">
                <a:ea typeface="+mn-lt"/>
                <a:cs typeface="+mn-lt"/>
              </a:rPr>
              <a:t>Simplifying</a:t>
            </a:r>
            <a:r>
              <a:rPr lang="vi-VN" sz="1600">
                <a:ea typeface="+mn-lt"/>
                <a:cs typeface="+mn-lt"/>
              </a:rPr>
              <a:t> </a:t>
            </a:r>
            <a:r>
              <a:rPr lang="vi-VN" sz="1600" err="1">
                <a:ea typeface="+mn-lt"/>
                <a:cs typeface="+mn-lt"/>
              </a:rPr>
              <a:t>and</a:t>
            </a:r>
            <a:r>
              <a:rPr lang="vi-VN" sz="1600">
                <a:ea typeface="+mn-lt"/>
                <a:cs typeface="+mn-lt"/>
              </a:rPr>
              <a:t> </a:t>
            </a:r>
            <a:r>
              <a:rPr lang="vi-VN" sz="1600" err="1">
                <a:ea typeface="+mn-lt"/>
                <a:cs typeface="+mn-lt"/>
              </a:rPr>
              <a:t>Powering</a:t>
            </a:r>
            <a:r>
              <a:rPr lang="vi-VN" sz="1600">
                <a:ea typeface="+mn-lt"/>
                <a:cs typeface="+mn-lt"/>
              </a:rPr>
              <a:t> </a:t>
            </a:r>
            <a:r>
              <a:rPr lang="vi-VN" sz="1600" err="1">
                <a:ea typeface="+mn-lt"/>
                <a:cs typeface="+mn-lt"/>
              </a:rPr>
              <a:t>Graph</a:t>
            </a:r>
            <a:r>
              <a:rPr lang="vi-VN" sz="1600">
                <a:ea typeface="+mn-lt"/>
                <a:cs typeface="+mn-lt"/>
              </a:rPr>
              <a:t> </a:t>
            </a:r>
            <a:r>
              <a:rPr lang="vi-VN" sz="1600" err="1">
                <a:ea typeface="+mn-lt"/>
                <a:cs typeface="+mn-lt"/>
              </a:rPr>
              <a:t>Convolution</a:t>
            </a:r>
            <a:r>
              <a:rPr lang="vi-VN" sz="1600">
                <a:ea typeface="+mn-lt"/>
                <a:cs typeface="+mn-lt"/>
              </a:rPr>
              <a:t> </a:t>
            </a:r>
            <a:r>
              <a:rPr lang="vi-VN" sz="1600" err="1">
                <a:ea typeface="+mn-lt"/>
                <a:cs typeface="+mn-lt"/>
              </a:rPr>
              <a:t>Network</a:t>
            </a:r>
            <a:r>
              <a:rPr lang="vi-VN" sz="1600">
                <a:ea typeface="+mn-lt"/>
                <a:cs typeface="+mn-lt"/>
              </a:rPr>
              <a:t> </a:t>
            </a:r>
            <a:r>
              <a:rPr lang="vi-VN" sz="1600" err="1">
                <a:ea typeface="+mn-lt"/>
                <a:cs typeface="+mn-lt"/>
              </a:rPr>
              <a:t>for</a:t>
            </a:r>
            <a:r>
              <a:rPr lang="vi-VN" sz="1600">
                <a:ea typeface="+mn-lt"/>
                <a:cs typeface="+mn-lt"/>
              </a:rPr>
              <a:t> </a:t>
            </a:r>
            <a:r>
              <a:rPr lang="vi-VN" sz="1600" err="1">
                <a:ea typeface="+mn-lt"/>
                <a:cs typeface="+mn-lt"/>
              </a:rPr>
              <a:t>Recommendation</a:t>
            </a:r>
            <a:r>
              <a:rPr lang="vi-VN" sz="1600">
                <a:ea typeface="+mn-lt"/>
                <a:cs typeface="+mn-lt"/>
              </a:rPr>
              <a:t> (SIGIR 2020)</a:t>
            </a:r>
            <a:endParaRPr lang="vi-VN" sz="1600"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7265156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CA3995E-0FF1-C271-99CA-8FFE011BB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>
                <a:ea typeface="Questrial"/>
                <a:cs typeface="Questrial"/>
              </a:rPr>
              <a:t>3. </a:t>
            </a:r>
            <a:r>
              <a:rPr lang="vi-VN" b="1" err="1">
                <a:ea typeface="Questrial"/>
                <a:cs typeface="Questrial"/>
              </a:rPr>
              <a:t>Methods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1BFD410A-73B2-F80D-1C60-2D63DED41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880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vi-VN" sz="2100" b="1">
                <a:latin typeface="Arial"/>
                <a:ea typeface="Lato"/>
                <a:cs typeface="Lato"/>
              </a:rPr>
              <a:t>NCF </a:t>
            </a:r>
            <a:r>
              <a:rPr lang="vi-VN" sz="2100" err="1">
                <a:latin typeface="Arial"/>
                <a:ea typeface="Lato"/>
                <a:cs typeface="Lato"/>
              </a:rPr>
              <a:t>is</a:t>
            </a:r>
            <a:r>
              <a:rPr lang="vi-VN" sz="2100">
                <a:latin typeface="Arial"/>
                <a:ea typeface="Lato"/>
                <a:cs typeface="Lato"/>
              </a:rPr>
              <a:t> a </a:t>
            </a:r>
            <a:r>
              <a:rPr lang="vi-VN" sz="2100" err="1">
                <a:latin typeface="Arial"/>
                <a:ea typeface="Lato"/>
                <a:cs typeface="Lato"/>
              </a:rPr>
              <a:t>neural</a:t>
            </a:r>
            <a:r>
              <a:rPr lang="vi-VN" sz="2100">
                <a:latin typeface="Arial"/>
                <a:ea typeface="Lato"/>
                <a:cs typeface="Lato"/>
              </a:rPr>
              <a:t> </a:t>
            </a:r>
            <a:r>
              <a:rPr lang="vi-VN" sz="2100" err="1">
                <a:latin typeface="Arial"/>
                <a:ea typeface="Lato"/>
                <a:cs typeface="Lato"/>
              </a:rPr>
              <a:t>matrix</a:t>
            </a:r>
            <a:r>
              <a:rPr lang="vi-VN" sz="2100">
                <a:latin typeface="Arial"/>
                <a:ea typeface="Lato"/>
                <a:cs typeface="Lato"/>
              </a:rPr>
              <a:t> </a:t>
            </a:r>
            <a:r>
              <a:rPr lang="vi-VN" sz="2100" err="1">
                <a:latin typeface="Arial"/>
                <a:ea typeface="Lato"/>
                <a:cs typeface="Lato"/>
              </a:rPr>
              <a:t>factorization</a:t>
            </a:r>
            <a:r>
              <a:rPr lang="vi-VN" sz="2100">
                <a:latin typeface="Arial"/>
                <a:ea typeface="Lato"/>
                <a:cs typeface="Lato"/>
              </a:rPr>
              <a:t> </a:t>
            </a:r>
            <a:r>
              <a:rPr lang="vi-VN" sz="2100" err="1">
                <a:latin typeface="Arial"/>
                <a:ea typeface="Lato"/>
                <a:cs typeface="Lato"/>
              </a:rPr>
              <a:t>model</a:t>
            </a:r>
            <a:r>
              <a:rPr lang="vi-VN" sz="2100">
                <a:latin typeface="Arial"/>
                <a:ea typeface="Lato"/>
                <a:cs typeface="Lato"/>
              </a:rPr>
              <a:t> </a:t>
            </a:r>
            <a:r>
              <a:rPr lang="vi-VN" sz="2100" err="1">
                <a:latin typeface="Arial"/>
                <a:ea typeface="Lato"/>
                <a:cs typeface="Lato"/>
              </a:rPr>
              <a:t>ensembles</a:t>
            </a:r>
            <a:r>
              <a:rPr lang="vi-VN" sz="2100">
                <a:latin typeface="Arial"/>
                <a:ea typeface="+mn-lt"/>
                <a:cs typeface="+mn-lt"/>
              </a:rPr>
              <a:t> </a:t>
            </a:r>
            <a:r>
              <a:rPr lang="vi-VN" sz="2100" err="1">
                <a:latin typeface="Arial"/>
                <a:ea typeface="+mn-lt"/>
                <a:cs typeface="+mn-lt"/>
              </a:rPr>
              <a:t>two</a:t>
            </a:r>
            <a:r>
              <a:rPr lang="vi-VN" sz="2100">
                <a:latin typeface="Arial"/>
                <a:ea typeface="+mn-lt"/>
                <a:cs typeface="+mn-lt"/>
              </a:rPr>
              <a:t> </a:t>
            </a:r>
            <a:r>
              <a:rPr lang="vi-VN" sz="2100" err="1">
                <a:latin typeface="Arial"/>
                <a:ea typeface="+mn-lt"/>
                <a:cs typeface="+mn-lt"/>
              </a:rPr>
              <a:t>components</a:t>
            </a:r>
            <a:r>
              <a:rPr lang="vi-VN" sz="2100">
                <a:latin typeface="Arial"/>
                <a:ea typeface="+mn-lt"/>
                <a:cs typeface="+mn-lt"/>
              </a:rPr>
              <a:t>:</a:t>
            </a:r>
            <a:endParaRPr lang="vi-VN" sz="2100">
              <a:latin typeface="Arial"/>
              <a:cs typeface="Arial"/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vi-VN" sz="2100" b="1" err="1">
                <a:latin typeface="Arial"/>
                <a:ea typeface="+mn-lt"/>
                <a:cs typeface="+mn-lt"/>
              </a:rPr>
              <a:t>Generalized</a:t>
            </a:r>
            <a:r>
              <a:rPr lang="vi-VN" sz="2100" b="1">
                <a:latin typeface="Arial"/>
                <a:ea typeface="+mn-lt"/>
                <a:cs typeface="+mn-lt"/>
              </a:rPr>
              <a:t> </a:t>
            </a:r>
            <a:r>
              <a:rPr lang="vi-VN" sz="2100" b="1" err="1">
                <a:latin typeface="Arial"/>
                <a:ea typeface="+mn-lt"/>
                <a:cs typeface="+mn-lt"/>
              </a:rPr>
              <a:t>Matrix</a:t>
            </a:r>
            <a:r>
              <a:rPr lang="vi-VN" sz="2100" b="1">
                <a:latin typeface="Arial"/>
                <a:ea typeface="+mn-lt"/>
                <a:cs typeface="+mn-lt"/>
              </a:rPr>
              <a:t> </a:t>
            </a:r>
            <a:r>
              <a:rPr lang="vi-VN" sz="2100" b="1" err="1">
                <a:latin typeface="Arial"/>
                <a:ea typeface="+mn-lt"/>
                <a:cs typeface="+mn-lt"/>
              </a:rPr>
              <a:t>Factorization</a:t>
            </a:r>
            <a:r>
              <a:rPr lang="vi-VN" sz="2100" b="1">
                <a:latin typeface="Arial"/>
                <a:ea typeface="+mn-lt"/>
                <a:cs typeface="+mn-lt"/>
              </a:rPr>
              <a:t>(GMF):</a:t>
            </a:r>
            <a:r>
              <a:rPr lang="vi-VN" sz="2100">
                <a:latin typeface="Arial"/>
                <a:ea typeface="+mn-lt"/>
                <a:cs typeface="+mn-lt"/>
              </a:rPr>
              <a:t> MF can be </a:t>
            </a:r>
            <a:r>
              <a:rPr lang="vi-VN" sz="2100" err="1">
                <a:latin typeface="Arial"/>
                <a:ea typeface="+mn-lt"/>
                <a:cs typeface="+mn-lt"/>
              </a:rPr>
              <a:t>easily</a:t>
            </a:r>
            <a:r>
              <a:rPr lang="vi-VN" sz="2100">
                <a:latin typeface="Arial"/>
                <a:ea typeface="+mn-lt"/>
                <a:cs typeface="+mn-lt"/>
              </a:rPr>
              <a:t> </a:t>
            </a:r>
            <a:r>
              <a:rPr lang="vi-VN" sz="2100" err="1">
                <a:latin typeface="Arial"/>
                <a:ea typeface="+mn-lt"/>
                <a:cs typeface="+mn-lt"/>
              </a:rPr>
              <a:t>generalized</a:t>
            </a:r>
            <a:r>
              <a:rPr lang="vi-VN" sz="2100">
                <a:latin typeface="Arial"/>
                <a:ea typeface="+mn-lt"/>
                <a:cs typeface="+mn-lt"/>
              </a:rPr>
              <a:t> </a:t>
            </a:r>
            <a:r>
              <a:rPr lang="vi-VN" sz="2100" err="1">
                <a:latin typeface="Arial"/>
                <a:ea typeface="+mn-lt"/>
                <a:cs typeface="+mn-lt"/>
              </a:rPr>
              <a:t>and</a:t>
            </a:r>
            <a:r>
              <a:rPr lang="vi-VN" sz="2100">
                <a:latin typeface="Arial"/>
                <a:ea typeface="+mn-lt"/>
                <a:cs typeface="+mn-lt"/>
              </a:rPr>
              <a:t> </a:t>
            </a:r>
            <a:r>
              <a:rPr lang="vi-VN" sz="2100" err="1">
                <a:latin typeface="Arial"/>
                <a:ea typeface="+mn-lt"/>
                <a:cs typeface="+mn-lt"/>
              </a:rPr>
              <a:t>extended</a:t>
            </a:r>
            <a:r>
              <a:rPr lang="vi-VN" sz="2100">
                <a:latin typeface="Arial"/>
                <a:ea typeface="+mn-lt"/>
                <a:cs typeface="+mn-lt"/>
              </a:rPr>
              <a:t> </a:t>
            </a:r>
            <a:r>
              <a:rPr lang="vi-VN" sz="2100" err="1">
                <a:latin typeface="Arial"/>
                <a:ea typeface="+mn-lt"/>
                <a:cs typeface="+mn-lt"/>
              </a:rPr>
              <a:t>as</a:t>
            </a:r>
            <a:r>
              <a:rPr lang="vi-VN" sz="2100">
                <a:latin typeface="Arial"/>
                <a:ea typeface="+mn-lt"/>
                <a:cs typeface="+mn-lt"/>
              </a:rPr>
              <a:t> GMF </a:t>
            </a:r>
            <a:r>
              <a:rPr lang="vi-VN" sz="2100" err="1">
                <a:latin typeface="Arial"/>
                <a:ea typeface="+mn-lt"/>
                <a:cs typeface="+mn-lt"/>
              </a:rPr>
              <a:t>introduces</a:t>
            </a:r>
            <a:r>
              <a:rPr lang="vi-VN" sz="2100">
                <a:latin typeface="Arial"/>
                <a:ea typeface="+mn-lt"/>
                <a:cs typeface="+mn-lt"/>
              </a:rPr>
              <a:t> a </a:t>
            </a:r>
            <a:r>
              <a:rPr lang="vi-VN" sz="2100" err="1">
                <a:latin typeface="Arial"/>
                <a:ea typeface="+mn-lt"/>
                <a:cs typeface="+mn-lt"/>
              </a:rPr>
              <a:t>neural</a:t>
            </a:r>
            <a:r>
              <a:rPr lang="vi-VN" sz="2100">
                <a:latin typeface="Arial"/>
                <a:ea typeface="+mn-lt"/>
                <a:cs typeface="+mn-lt"/>
              </a:rPr>
              <a:t> </a:t>
            </a:r>
            <a:r>
              <a:rPr lang="vi-VN" sz="2100" err="1">
                <a:latin typeface="Arial"/>
                <a:ea typeface="+mn-lt"/>
                <a:cs typeface="+mn-lt"/>
              </a:rPr>
              <a:t>Collaborative</a:t>
            </a:r>
            <a:r>
              <a:rPr lang="vi-VN" sz="2100">
                <a:latin typeface="Arial"/>
                <a:ea typeface="+mn-lt"/>
                <a:cs typeface="+mn-lt"/>
              </a:rPr>
              <a:t> </a:t>
            </a:r>
            <a:r>
              <a:rPr lang="vi-VN" sz="2100" err="1">
                <a:latin typeface="Arial"/>
                <a:ea typeface="+mn-lt"/>
                <a:cs typeface="+mn-lt"/>
              </a:rPr>
              <a:t>Filtering</a:t>
            </a:r>
            <a:r>
              <a:rPr lang="vi-VN" sz="2100">
                <a:latin typeface="Arial"/>
                <a:ea typeface="+mn-lt"/>
                <a:cs typeface="+mn-lt"/>
              </a:rPr>
              <a:t> </a:t>
            </a:r>
            <a:r>
              <a:rPr lang="vi-VN" sz="2100" err="1">
                <a:latin typeface="Arial"/>
                <a:ea typeface="+mn-lt"/>
                <a:cs typeface="+mn-lt"/>
              </a:rPr>
              <a:t>layer</a:t>
            </a:r>
            <a:r>
              <a:rPr lang="vi-VN" sz="2100">
                <a:latin typeface="Arial"/>
                <a:ea typeface="+mn-lt"/>
                <a:cs typeface="+mn-lt"/>
              </a:rPr>
              <a:t> </a:t>
            </a:r>
            <a:r>
              <a:rPr lang="vi-VN" sz="2100" err="1">
                <a:latin typeface="Arial"/>
                <a:ea typeface="+mn-lt"/>
                <a:cs typeface="+mn-lt"/>
              </a:rPr>
              <a:t>as</a:t>
            </a:r>
            <a:r>
              <a:rPr lang="vi-VN" sz="2100">
                <a:latin typeface="Arial"/>
                <a:ea typeface="+mn-lt"/>
                <a:cs typeface="+mn-lt"/>
              </a:rPr>
              <a:t> the </a:t>
            </a:r>
            <a:r>
              <a:rPr lang="vi-VN" sz="2100" err="1">
                <a:latin typeface="Arial"/>
                <a:ea typeface="+mn-lt"/>
                <a:cs typeface="+mn-lt"/>
              </a:rPr>
              <a:t>output</a:t>
            </a:r>
            <a:r>
              <a:rPr lang="vi-VN" sz="2100">
                <a:latin typeface="Arial"/>
                <a:ea typeface="+mn-lt"/>
                <a:cs typeface="+mn-lt"/>
              </a:rPr>
              <a:t> </a:t>
            </a:r>
            <a:r>
              <a:rPr lang="vi-VN" sz="2100" err="1">
                <a:latin typeface="Arial"/>
                <a:ea typeface="+mn-lt"/>
                <a:cs typeface="+mn-lt"/>
              </a:rPr>
              <a:t>layer</a:t>
            </a:r>
            <a:r>
              <a:rPr lang="vi-VN" sz="2100">
                <a:latin typeface="Arial"/>
                <a:ea typeface="+mn-lt"/>
                <a:cs typeface="+mn-lt"/>
              </a:rPr>
              <a:t> </a:t>
            </a:r>
            <a:r>
              <a:rPr lang="vi-VN" sz="2100" err="1">
                <a:latin typeface="Arial"/>
                <a:ea typeface="+mn-lt"/>
                <a:cs typeface="+mn-lt"/>
              </a:rPr>
              <a:t>of</a:t>
            </a:r>
            <a:r>
              <a:rPr lang="vi-VN" sz="2100">
                <a:latin typeface="Arial"/>
                <a:ea typeface="+mn-lt"/>
                <a:cs typeface="+mn-lt"/>
              </a:rPr>
              <a:t> </a:t>
            </a:r>
            <a:r>
              <a:rPr lang="vi-VN" sz="2100" err="1">
                <a:latin typeface="Arial"/>
                <a:ea typeface="+mn-lt"/>
                <a:cs typeface="+mn-lt"/>
              </a:rPr>
              <a:t>standard</a:t>
            </a:r>
            <a:r>
              <a:rPr lang="vi-VN" sz="2100">
                <a:latin typeface="Arial"/>
                <a:ea typeface="+mn-lt"/>
                <a:cs typeface="+mn-lt"/>
              </a:rPr>
              <a:t> MF.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vi-VN" sz="2100" b="1" err="1">
                <a:latin typeface="Arial"/>
                <a:ea typeface="Lato"/>
                <a:cs typeface="Arial"/>
              </a:rPr>
              <a:t>Multi-Layer</a:t>
            </a:r>
            <a:r>
              <a:rPr lang="vi-VN" sz="2100" b="1">
                <a:latin typeface="Arial"/>
                <a:ea typeface="Lato"/>
                <a:cs typeface="Arial"/>
              </a:rPr>
              <a:t> </a:t>
            </a:r>
            <a:r>
              <a:rPr lang="vi-VN" sz="2100" b="1" err="1">
                <a:latin typeface="Arial"/>
                <a:ea typeface="Lato"/>
                <a:cs typeface="Arial"/>
              </a:rPr>
              <a:t>Perceptron</a:t>
            </a:r>
            <a:r>
              <a:rPr lang="vi-VN" sz="2100" b="1">
                <a:latin typeface="Arial"/>
                <a:ea typeface="Lato"/>
                <a:cs typeface="Arial"/>
              </a:rPr>
              <a:t>(MLP):              </a:t>
            </a:r>
            <a:r>
              <a:rPr lang="vi-VN" sz="2100">
                <a:latin typeface="Arial"/>
                <a:ea typeface="Lato"/>
                <a:cs typeface="Arial"/>
              </a:rPr>
              <a:t> </a:t>
            </a:r>
            <a:r>
              <a:rPr lang="vi-VN" sz="2100" err="1">
                <a:latin typeface="Arial"/>
                <a:ea typeface="Lato"/>
                <a:cs typeface="Arial"/>
              </a:rPr>
              <a:t>Learning</a:t>
            </a:r>
            <a:r>
              <a:rPr lang="vi-VN" sz="2100">
                <a:latin typeface="Arial"/>
                <a:ea typeface="Lato"/>
                <a:cs typeface="Arial"/>
              </a:rPr>
              <a:t> </a:t>
            </a:r>
            <a:r>
              <a:rPr lang="vi-VN" sz="2100" err="1">
                <a:latin typeface="Arial"/>
                <a:ea typeface="Lato"/>
                <a:cs typeface="Arial"/>
              </a:rPr>
              <a:t>interactions</a:t>
            </a:r>
            <a:r>
              <a:rPr lang="vi-VN" sz="2100">
                <a:latin typeface="Arial"/>
                <a:ea typeface="Lato"/>
                <a:cs typeface="Arial"/>
              </a:rPr>
              <a:t> </a:t>
            </a:r>
            <a:r>
              <a:rPr lang="vi-VN" sz="2100" err="1">
                <a:latin typeface="Arial"/>
                <a:ea typeface="Lato"/>
                <a:cs typeface="Arial"/>
              </a:rPr>
              <a:t>after</a:t>
            </a:r>
            <a:r>
              <a:rPr lang="vi-VN" sz="2100">
                <a:latin typeface="Arial"/>
                <a:ea typeface="Lato"/>
                <a:cs typeface="Arial"/>
              </a:rPr>
              <a:t> </a:t>
            </a:r>
            <a:r>
              <a:rPr lang="vi-VN" sz="2100" err="1">
                <a:latin typeface="Arial"/>
                <a:ea typeface="Lato"/>
                <a:cs typeface="Arial"/>
              </a:rPr>
              <a:t>concatenating</a:t>
            </a:r>
            <a:r>
              <a:rPr lang="vi-VN" sz="2100">
                <a:latin typeface="Arial"/>
                <a:ea typeface="Lato"/>
                <a:cs typeface="Arial"/>
              </a:rPr>
              <a:t> </a:t>
            </a:r>
            <a:r>
              <a:rPr lang="vi-VN" sz="2100" err="1">
                <a:latin typeface="Arial"/>
                <a:ea typeface="Lato"/>
                <a:cs typeface="Arial"/>
              </a:rPr>
              <a:t>of</a:t>
            </a:r>
            <a:r>
              <a:rPr lang="vi-VN" sz="2100">
                <a:latin typeface="Arial"/>
                <a:ea typeface="Lato"/>
                <a:cs typeface="Arial"/>
              </a:rPr>
              <a:t> </a:t>
            </a:r>
            <a:r>
              <a:rPr lang="vi-VN" sz="2100" err="1">
                <a:latin typeface="Arial"/>
                <a:ea typeface="Lato"/>
                <a:cs typeface="Arial"/>
              </a:rPr>
              <a:t>users</a:t>
            </a:r>
            <a:r>
              <a:rPr lang="vi-VN" sz="2100">
                <a:latin typeface="Arial"/>
                <a:ea typeface="Lato"/>
                <a:cs typeface="Arial"/>
              </a:rPr>
              <a:t> </a:t>
            </a:r>
            <a:r>
              <a:rPr lang="vi-VN" sz="2100" err="1">
                <a:latin typeface="Arial"/>
                <a:ea typeface="Lato"/>
                <a:cs typeface="Arial"/>
              </a:rPr>
              <a:t>and</a:t>
            </a:r>
            <a:r>
              <a:rPr lang="vi-VN" sz="2100">
                <a:latin typeface="Arial"/>
                <a:ea typeface="Lato"/>
                <a:cs typeface="Arial"/>
              </a:rPr>
              <a:t> </a:t>
            </a:r>
            <a:r>
              <a:rPr lang="vi-VN" sz="2100" err="1">
                <a:latin typeface="Arial"/>
                <a:ea typeface="Lato"/>
                <a:cs typeface="Arial"/>
              </a:rPr>
              <a:t>items</a:t>
            </a:r>
            <a:r>
              <a:rPr lang="vi-VN" sz="2100">
                <a:latin typeface="Arial"/>
                <a:ea typeface="Lato"/>
                <a:cs typeface="Arial"/>
              </a:rPr>
              <a:t> </a:t>
            </a:r>
            <a:r>
              <a:rPr lang="vi-VN" sz="2100" err="1">
                <a:latin typeface="Arial"/>
                <a:ea typeface="Lato"/>
                <a:cs typeface="Arial"/>
              </a:rPr>
              <a:t>latent</a:t>
            </a:r>
            <a:r>
              <a:rPr lang="vi-VN" sz="2100">
                <a:latin typeface="Arial"/>
                <a:ea typeface="Lato"/>
                <a:cs typeface="Arial"/>
              </a:rPr>
              <a:t> </a:t>
            </a:r>
            <a:r>
              <a:rPr lang="vi-VN" sz="2100" err="1">
                <a:latin typeface="Arial"/>
                <a:ea typeface="Lato"/>
                <a:cs typeface="Arial"/>
              </a:rPr>
              <a:t>features</a:t>
            </a:r>
          </a:p>
          <a:p>
            <a:pPr marL="0" indent="0">
              <a:buNone/>
            </a:pPr>
            <a:endParaRPr lang="vi-VN" sz="2100">
              <a:latin typeface="Arial"/>
              <a:ea typeface="Lato"/>
              <a:cs typeface="Arial"/>
            </a:endParaRPr>
          </a:p>
          <a:p>
            <a:pPr marL="0" indent="0">
              <a:buNone/>
            </a:pPr>
            <a:endParaRPr lang="vi-VN" sz="2100">
              <a:latin typeface="Arial"/>
              <a:ea typeface="Lato"/>
              <a:cs typeface="Arial"/>
            </a:endParaRPr>
          </a:p>
          <a:p>
            <a:pPr marL="0" indent="0">
              <a:buNone/>
            </a:pPr>
            <a:r>
              <a:rPr lang="vi-VN" sz="2100">
                <a:latin typeface="Arial"/>
                <a:ea typeface="+mn-lt"/>
                <a:cs typeface="+mn-lt"/>
              </a:rPr>
              <a:t> </a:t>
            </a:r>
            <a:endParaRPr lang="vi-VN" sz="2100">
              <a:latin typeface="Arial"/>
              <a:ea typeface="Lato"/>
              <a:cs typeface="Lato"/>
            </a:endParaRPr>
          </a:p>
          <a:p>
            <a:pPr marL="0" indent="0">
              <a:buNone/>
            </a:pPr>
            <a:endParaRPr lang="vi-VN" sz="2100">
              <a:latin typeface="Arial"/>
              <a:ea typeface="Lato"/>
              <a:cs typeface="Lato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91394BD-1814-65BC-E877-C741C34C8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48101" y="1808195"/>
            <a:ext cx="5743899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0368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75DE5-E84C-8DC2-5851-6C6C7F352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Questrial"/>
                <a:cs typeface="Questrial"/>
              </a:rPr>
              <a:t>Experimental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0D918-4D20-E570-A834-3467E0031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29454" cy="41936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buNone/>
            </a:pPr>
            <a:r>
              <a:rPr lang="en-US" sz="2500" b="1">
                <a:highlight>
                  <a:srgbClr val="FFFFFF"/>
                </a:highlight>
                <a:ea typeface="Lato"/>
                <a:cs typeface="Lato"/>
              </a:rPr>
              <a:t>Experimentation:</a:t>
            </a:r>
          </a:p>
          <a:p>
            <a:pPr algn="just">
              <a:buFont typeface="Calibri" panose="020B0604020202020204" pitchFamily="34" charset="0"/>
              <a:buChar char="-"/>
            </a:pPr>
            <a:endParaRPr lang="en-US" sz="2500" b="1">
              <a:highlight>
                <a:srgbClr val="FFFFFF"/>
              </a:highlight>
              <a:ea typeface="Lato"/>
              <a:cs typeface="Lato"/>
            </a:endParaRPr>
          </a:p>
          <a:p>
            <a:pPr algn="just">
              <a:buNone/>
            </a:pPr>
            <a:endParaRPr lang="en-US" sz="2500" b="1">
              <a:highlight>
                <a:srgbClr val="FFFFFF"/>
              </a:highlight>
              <a:ea typeface="Lato"/>
              <a:cs typeface="Lato"/>
            </a:endParaRPr>
          </a:p>
        </p:txBody>
      </p:sp>
      <p:graphicFrame>
        <p:nvGraphicFramePr>
          <p:cNvPr id="5" name="Bảng 4">
            <a:extLst>
              <a:ext uri="{FF2B5EF4-FFF2-40B4-BE49-F238E27FC236}">
                <a16:creationId xmlns:a16="http://schemas.microsoft.com/office/drawing/2014/main" id="{0A74C885-F72D-4C66-E2FF-8275D2EEF3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384454"/>
              </p:ext>
            </p:extLst>
          </p:nvPr>
        </p:nvGraphicFramePr>
        <p:xfrm>
          <a:off x="2842953" y="2543596"/>
          <a:ext cx="6520902" cy="24511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33005">
                  <a:extLst>
                    <a:ext uri="{9D8B030D-6E8A-4147-A177-3AD203B41FA5}">
                      <a16:colId xmlns:a16="http://schemas.microsoft.com/office/drawing/2014/main" val="1717528492"/>
                    </a:ext>
                  </a:extLst>
                </a:gridCol>
                <a:gridCol w="1282700">
                  <a:extLst>
                    <a:ext uri="{9D8B030D-6E8A-4147-A177-3AD203B41FA5}">
                      <a16:colId xmlns:a16="http://schemas.microsoft.com/office/drawing/2014/main" val="1935020187"/>
                    </a:ext>
                  </a:extLst>
                </a:gridCol>
                <a:gridCol w="1892299">
                  <a:extLst>
                    <a:ext uri="{9D8B030D-6E8A-4147-A177-3AD203B41FA5}">
                      <a16:colId xmlns:a16="http://schemas.microsoft.com/office/drawing/2014/main" val="1467951042"/>
                    </a:ext>
                  </a:extLst>
                </a:gridCol>
                <a:gridCol w="1612898">
                  <a:extLst>
                    <a:ext uri="{9D8B030D-6E8A-4147-A177-3AD203B41FA5}">
                      <a16:colId xmlns:a16="http://schemas.microsoft.com/office/drawing/2014/main" val="1355936409"/>
                    </a:ext>
                  </a:extLst>
                </a:gridCol>
              </a:tblGrid>
              <a:tr h="282914">
                <a:tc>
                  <a:txBody>
                    <a:bodyPr/>
                    <a:lstStyle/>
                    <a:p>
                      <a:pPr rtl="0" fontAlgn="t"/>
                      <a:r>
                        <a:rPr lang="vi-VN" sz="1800" b="1" err="1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Model</a:t>
                      </a:r>
                      <a:endParaRPr lang="vi-VN" sz="1800" b="1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vi-VN" sz="1800" b="1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RMSE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vi-VN" sz="1800" b="1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Precision@10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vi-VN" sz="1800" b="1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Recall@10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216535"/>
                  </a:ext>
                </a:extLst>
              </a:tr>
              <a:tr h="282914">
                <a:tc>
                  <a:txBody>
                    <a:bodyPr/>
                    <a:lstStyle/>
                    <a:p>
                      <a:pPr rtl="0" fontAlgn="t"/>
                      <a:r>
                        <a:rPr lang="vi-VN" sz="1800" b="1" err="1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LightGCN</a:t>
                      </a:r>
                      <a:endParaRPr lang="vi-VN" sz="1800" b="1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vi-VN" sz="1800" b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N/A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vi-VN" sz="1800" b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0.3514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vi-VN" sz="1800" b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0.2330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255756"/>
                  </a:ext>
                </a:extLst>
              </a:tr>
              <a:tr h="444580">
                <a:tc>
                  <a:txBody>
                    <a:bodyPr/>
                    <a:lstStyle/>
                    <a:p>
                      <a:pPr rtl="0" fontAlgn="t"/>
                      <a:r>
                        <a:rPr lang="vi-VN" sz="1800" b="1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BPR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vi-VN" sz="1800" b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N/A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vi-VN" sz="1800" b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0.3550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vi-VN" sz="1800" b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0.1802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698037"/>
                  </a:ext>
                </a:extLst>
              </a:tr>
              <a:tr h="296386">
                <a:tc>
                  <a:txBody>
                    <a:bodyPr/>
                    <a:lstStyle/>
                    <a:p>
                      <a:pPr rtl="0" fontAlgn="t"/>
                      <a:r>
                        <a:rPr lang="vi-VN" sz="1800" b="1" err="1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BiVAE</a:t>
                      </a:r>
                      <a:endParaRPr lang="vi-VN" sz="1800" b="1">
                        <a:solidFill>
                          <a:schemeClr val="tx1"/>
                        </a:solidFill>
                        <a:effectLst/>
                        <a:latin typeface="Arial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vi-VN" sz="1800" b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N/A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vi-VN" sz="1800" b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0.3484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vi-VN" sz="1800" b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0.1914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4880673"/>
                  </a:ext>
                </a:extLst>
              </a:tr>
              <a:tr h="282914">
                <a:tc>
                  <a:txBody>
                    <a:bodyPr/>
                    <a:lstStyle/>
                    <a:p>
                      <a:pPr rtl="0" fontAlgn="t"/>
                      <a:r>
                        <a:rPr lang="vi-VN" sz="1800" b="1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NCF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vi-VN" sz="1800" b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N/A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vi-VN" sz="1800" b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0.1830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vi-VN" sz="1800" b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0.1027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449621"/>
                  </a:ext>
                </a:extLst>
              </a:tr>
              <a:tr h="282914">
                <a:tc>
                  <a:txBody>
                    <a:bodyPr/>
                    <a:lstStyle/>
                    <a:p>
                      <a:pPr rtl="0" fontAlgn="t"/>
                      <a:r>
                        <a:rPr lang="vi-VN" sz="1800" b="1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MF(</a:t>
                      </a:r>
                      <a:r>
                        <a:rPr lang="vi-VN" sz="1800" b="1" err="1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baseline</a:t>
                      </a:r>
                      <a:r>
                        <a:rPr lang="vi-VN" sz="1800" b="1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)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vi-VN" sz="1800" b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0.9488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vi-VN" sz="1800" b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0.1004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/>
                      <a:r>
                        <a:rPr lang="vi-VN" sz="1800" b="0">
                          <a:solidFill>
                            <a:schemeClr val="tx1"/>
                          </a:solidFill>
                          <a:effectLst/>
                          <a:latin typeface="Arial"/>
                        </a:rPr>
                        <a:t>0.0353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730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42066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699873E-4225-C922-B4A6-CDC05A38D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>
                <a:ea typeface="Questrial"/>
                <a:cs typeface="Questrial"/>
              </a:rPr>
              <a:t>4. </a:t>
            </a:r>
            <a:r>
              <a:rPr lang="vi-VN" b="1" err="1">
                <a:ea typeface="Questrial"/>
                <a:cs typeface="Questrial"/>
              </a:rPr>
              <a:t>Cold</a:t>
            </a:r>
            <a:r>
              <a:rPr lang="vi-VN" b="1">
                <a:ea typeface="Questrial"/>
                <a:cs typeface="Questrial"/>
              </a:rPr>
              <a:t> </a:t>
            </a:r>
            <a:r>
              <a:rPr lang="vi-VN" b="1" err="1">
                <a:ea typeface="Questrial"/>
                <a:cs typeface="Questrial"/>
              </a:rPr>
              <a:t>Start</a:t>
            </a:r>
            <a:r>
              <a:rPr lang="vi-VN" b="1">
                <a:ea typeface="Questrial"/>
                <a:cs typeface="Questrial"/>
              </a:rPr>
              <a:t> </a:t>
            </a:r>
            <a:r>
              <a:rPr lang="vi-VN" b="1" err="1">
                <a:ea typeface="Questrial"/>
                <a:cs typeface="Questrial"/>
              </a:rPr>
              <a:t>Problem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3CFF8B27-0A0B-46E3-47FD-942A2F4FD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8125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buNone/>
            </a:pPr>
            <a:r>
              <a:rPr lang="vi-VN" sz="2500">
                <a:ea typeface="+mn-lt"/>
                <a:cs typeface="+mn-lt"/>
              </a:rPr>
              <a:t>In </a:t>
            </a:r>
            <a:r>
              <a:rPr lang="vi-VN" sz="2500" err="1">
                <a:ea typeface="+mn-lt"/>
                <a:cs typeface="+mn-lt"/>
              </a:rPr>
              <a:t>typical</a:t>
            </a:r>
            <a:r>
              <a:rPr lang="vi-VN" sz="2500">
                <a:ea typeface="+mn-lt"/>
                <a:cs typeface="+mn-lt"/>
              </a:rPr>
              <a:t>, </a:t>
            </a:r>
            <a:r>
              <a:rPr lang="vi-VN" sz="2500" err="1">
                <a:ea typeface="+mn-lt"/>
                <a:cs typeface="+mn-lt"/>
              </a:rPr>
              <a:t>predictions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 err="1">
                <a:ea typeface="+mn-lt"/>
                <a:cs typeface="+mn-lt"/>
              </a:rPr>
              <a:t>are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 err="1">
                <a:ea typeface="+mn-lt"/>
                <a:cs typeface="+mn-lt"/>
              </a:rPr>
              <a:t>based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 err="1">
                <a:ea typeface="+mn-lt"/>
                <a:cs typeface="+mn-lt"/>
              </a:rPr>
              <a:t>on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 err="1">
                <a:ea typeface="+mn-lt"/>
                <a:cs typeface="+mn-lt"/>
              </a:rPr>
              <a:t>user-item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 err="1">
                <a:ea typeface="+mn-lt"/>
                <a:cs typeface="+mn-lt"/>
              </a:rPr>
              <a:t>interaction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 err="1">
                <a:ea typeface="+mn-lt"/>
                <a:cs typeface="+mn-lt"/>
              </a:rPr>
              <a:t>history</a:t>
            </a:r>
            <a:r>
              <a:rPr lang="vi-VN" sz="2500">
                <a:ea typeface="+mn-lt"/>
                <a:cs typeface="+mn-lt"/>
              </a:rPr>
              <a:t>. A </a:t>
            </a:r>
            <a:r>
              <a:rPr lang="vi-VN" sz="2500" err="1">
                <a:ea typeface="+mn-lt"/>
                <a:cs typeface="+mn-lt"/>
              </a:rPr>
              <a:t>warm-start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 err="1">
                <a:ea typeface="+mn-lt"/>
                <a:cs typeface="+mn-lt"/>
              </a:rPr>
              <a:t>scenario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 err="1">
                <a:ea typeface="+mn-lt"/>
                <a:cs typeface="+mn-lt"/>
              </a:rPr>
              <a:t>assumes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 err="1">
                <a:ea typeface="+mn-lt"/>
                <a:cs typeface="+mn-lt"/>
              </a:rPr>
              <a:t>sufficient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 err="1">
                <a:ea typeface="+mn-lt"/>
                <a:cs typeface="+mn-lt"/>
              </a:rPr>
              <a:t>data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 err="1">
                <a:ea typeface="+mn-lt"/>
                <a:cs typeface="+mn-lt"/>
              </a:rPr>
              <a:t>is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 err="1">
                <a:ea typeface="+mn-lt"/>
                <a:cs typeface="+mn-lt"/>
              </a:rPr>
              <a:t>available</a:t>
            </a:r>
            <a:r>
              <a:rPr lang="vi-VN" sz="2500">
                <a:ea typeface="+mn-lt"/>
                <a:cs typeface="+mn-lt"/>
              </a:rPr>
              <a:t> to </a:t>
            </a:r>
            <a:r>
              <a:rPr lang="vi-VN" sz="2500" err="1">
                <a:ea typeface="+mn-lt"/>
                <a:cs typeface="+mn-lt"/>
              </a:rPr>
              <a:t>learn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 err="1">
                <a:ea typeface="+mn-lt"/>
                <a:cs typeface="+mn-lt"/>
              </a:rPr>
              <a:t>user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 err="1">
                <a:ea typeface="+mn-lt"/>
                <a:cs typeface="+mn-lt"/>
              </a:rPr>
              <a:t>preferences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 err="1">
                <a:ea typeface="+mn-lt"/>
                <a:cs typeface="+mn-lt"/>
              </a:rPr>
              <a:t>and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 err="1">
                <a:ea typeface="+mn-lt"/>
                <a:cs typeface="+mn-lt"/>
              </a:rPr>
              <a:t>item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 err="1">
                <a:ea typeface="+mn-lt"/>
                <a:cs typeface="+mn-lt"/>
              </a:rPr>
              <a:t>popularity</a:t>
            </a:r>
            <a:r>
              <a:rPr lang="vi-VN" sz="2500">
                <a:ea typeface="+mn-lt"/>
                <a:cs typeface="+mn-lt"/>
              </a:rPr>
              <a:t>, </a:t>
            </a:r>
            <a:r>
              <a:rPr lang="vi-VN" sz="2500" err="1">
                <a:ea typeface="+mn-lt"/>
                <a:cs typeface="+mn-lt"/>
              </a:rPr>
              <a:t>allowing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 err="1">
                <a:ea typeface="+mn-lt"/>
                <a:cs typeface="+mn-lt"/>
              </a:rPr>
              <a:t>algorithms</a:t>
            </a:r>
            <a:r>
              <a:rPr lang="vi-VN" sz="2500">
                <a:ea typeface="+mn-lt"/>
                <a:cs typeface="+mn-lt"/>
              </a:rPr>
              <a:t> to </a:t>
            </a:r>
            <a:r>
              <a:rPr lang="vi-VN" sz="2500" err="1">
                <a:ea typeface="+mn-lt"/>
                <a:cs typeface="+mn-lt"/>
              </a:rPr>
              <a:t>effectively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 err="1">
                <a:ea typeface="+mn-lt"/>
                <a:cs typeface="+mn-lt"/>
              </a:rPr>
              <a:t>suggest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 err="1">
                <a:ea typeface="+mn-lt"/>
                <a:cs typeface="+mn-lt"/>
              </a:rPr>
              <a:t>relevant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 err="1">
                <a:ea typeface="+mn-lt"/>
                <a:cs typeface="+mn-lt"/>
              </a:rPr>
              <a:t>content</a:t>
            </a:r>
            <a:r>
              <a:rPr lang="vi-VN" sz="2500">
                <a:ea typeface="+mn-lt"/>
                <a:cs typeface="+mn-lt"/>
              </a:rPr>
              <a:t>.</a:t>
            </a:r>
            <a:endParaRPr lang="vi-VN" sz="2500">
              <a:ea typeface="Lato"/>
              <a:cs typeface="Lato"/>
            </a:endParaRPr>
          </a:p>
          <a:p>
            <a:pPr algn="just">
              <a:buNone/>
            </a:pPr>
            <a:r>
              <a:rPr lang="vi-VN" sz="2500">
                <a:ea typeface="+mn-lt"/>
                <a:cs typeface="+mn-lt"/>
              </a:rPr>
              <a:t> In </a:t>
            </a:r>
            <a:r>
              <a:rPr lang="vi-VN" sz="2500" b="1" err="1">
                <a:ea typeface="+mn-lt"/>
                <a:cs typeface="+mn-lt"/>
              </a:rPr>
              <a:t>cold-start</a:t>
            </a:r>
            <a:r>
              <a:rPr lang="vi-VN" sz="2500" b="1">
                <a:ea typeface="+mn-lt"/>
                <a:cs typeface="+mn-lt"/>
              </a:rPr>
              <a:t> </a:t>
            </a:r>
            <a:r>
              <a:rPr lang="vi-VN" sz="2500" b="1" err="1">
                <a:ea typeface="+mn-lt"/>
                <a:cs typeface="+mn-lt"/>
              </a:rPr>
              <a:t>scenarios</a:t>
            </a:r>
            <a:r>
              <a:rPr lang="vi-VN" sz="2500">
                <a:ea typeface="+mn-lt"/>
                <a:cs typeface="+mn-lt"/>
              </a:rPr>
              <a:t>, </a:t>
            </a:r>
            <a:r>
              <a:rPr lang="vi-VN" sz="2500" err="1">
                <a:ea typeface="+mn-lt"/>
                <a:cs typeface="+mn-lt"/>
              </a:rPr>
              <a:t>new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 err="1">
                <a:ea typeface="+mn-lt"/>
                <a:cs typeface="+mn-lt"/>
              </a:rPr>
              <a:t>users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 err="1">
                <a:ea typeface="+mn-lt"/>
                <a:cs typeface="+mn-lt"/>
              </a:rPr>
              <a:t>or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 err="1">
                <a:ea typeface="+mn-lt"/>
                <a:cs typeface="+mn-lt"/>
              </a:rPr>
              <a:t>items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 err="1">
                <a:ea typeface="+mn-lt"/>
                <a:cs typeface="+mn-lt"/>
              </a:rPr>
              <a:t>lack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 err="1">
                <a:ea typeface="+mn-lt"/>
                <a:cs typeface="+mn-lt"/>
              </a:rPr>
              <a:t>interaction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 err="1">
                <a:ea typeface="+mn-lt"/>
                <a:cs typeface="+mn-lt"/>
              </a:rPr>
              <a:t>history</a:t>
            </a:r>
            <a:r>
              <a:rPr lang="vi-VN" sz="2500">
                <a:ea typeface="+mn-lt"/>
                <a:cs typeface="+mn-lt"/>
              </a:rPr>
              <a:t>.</a:t>
            </a:r>
          </a:p>
          <a:p>
            <a:pPr algn="just">
              <a:buNone/>
            </a:pPr>
            <a:r>
              <a:rPr lang="vi-VN" sz="2500">
                <a:ea typeface="+mn-lt"/>
                <a:cs typeface="+mn-lt"/>
              </a:rPr>
              <a:t> - </a:t>
            </a:r>
            <a:r>
              <a:rPr lang="vi-VN" sz="2500" err="1">
                <a:ea typeface="+mn-lt"/>
                <a:cs typeface="+mn-lt"/>
              </a:rPr>
              <a:t>This</a:t>
            </a:r>
            <a:r>
              <a:rPr lang="vi-VN" sz="2500">
                <a:ea typeface="+mn-lt"/>
                <a:cs typeface="+mn-lt"/>
              </a:rPr>
              <a:t> can </a:t>
            </a:r>
            <a:r>
              <a:rPr lang="vi-VN" sz="2500" err="1">
                <a:ea typeface="+mn-lt"/>
                <a:cs typeface="+mn-lt"/>
              </a:rPr>
              <a:t>drastically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 err="1">
                <a:ea typeface="+mn-lt"/>
                <a:cs typeface="+mn-lt"/>
              </a:rPr>
              <a:t>reduce</a:t>
            </a:r>
            <a:r>
              <a:rPr lang="vi-VN" sz="2500">
                <a:ea typeface="+mn-lt"/>
                <a:cs typeface="+mn-lt"/>
              </a:rPr>
              <a:t> the </a:t>
            </a:r>
            <a:r>
              <a:rPr lang="vi-VN" sz="2500" err="1">
                <a:ea typeface="+mn-lt"/>
                <a:cs typeface="+mn-lt"/>
              </a:rPr>
              <a:t>effectiveness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 err="1">
                <a:ea typeface="+mn-lt"/>
                <a:cs typeface="+mn-lt"/>
              </a:rPr>
              <a:t>of</a:t>
            </a:r>
            <a:r>
              <a:rPr lang="vi-VN" sz="2500">
                <a:ea typeface="+mn-lt"/>
                <a:cs typeface="+mn-lt"/>
              </a:rPr>
              <a:t> CF </a:t>
            </a:r>
            <a:r>
              <a:rPr lang="vi-VN" sz="2500" err="1">
                <a:ea typeface="+mn-lt"/>
                <a:cs typeface="+mn-lt"/>
              </a:rPr>
              <a:t>methods</a:t>
            </a:r>
          </a:p>
          <a:p>
            <a:pPr algn="just">
              <a:buNone/>
            </a:pPr>
            <a:endParaRPr lang="vi-VN" sz="2500">
              <a:ea typeface="Lato"/>
              <a:cs typeface="Lato"/>
            </a:endParaRPr>
          </a:p>
        </p:txBody>
      </p:sp>
      <p:graphicFrame>
        <p:nvGraphicFramePr>
          <p:cNvPr id="5" name="Bảng 4">
            <a:extLst>
              <a:ext uri="{FF2B5EF4-FFF2-40B4-BE49-F238E27FC236}">
                <a16:creationId xmlns:a16="http://schemas.microsoft.com/office/drawing/2014/main" id="{59D22A67-0049-0937-0A30-7BA972C84D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855842"/>
              </p:ext>
            </p:extLst>
          </p:nvPr>
        </p:nvGraphicFramePr>
        <p:xfrm>
          <a:off x="731520" y="4582160"/>
          <a:ext cx="10900755" cy="121918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422400">
                  <a:extLst>
                    <a:ext uri="{9D8B030D-6E8A-4147-A177-3AD203B41FA5}">
                      <a16:colId xmlns:a16="http://schemas.microsoft.com/office/drawing/2014/main" val="3496395008"/>
                    </a:ext>
                  </a:extLst>
                </a:gridCol>
                <a:gridCol w="1286927">
                  <a:extLst>
                    <a:ext uri="{9D8B030D-6E8A-4147-A177-3AD203B41FA5}">
                      <a16:colId xmlns:a16="http://schemas.microsoft.com/office/drawing/2014/main" val="1171551170"/>
                    </a:ext>
                  </a:extLst>
                </a:gridCol>
                <a:gridCol w="1155691">
                  <a:extLst>
                    <a:ext uri="{9D8B030D-6E8A-4147-A177-3AD203B41FA5}">
                      <a16:colId xmlns:a16="http://schemas.microsoft.com/office/drawing/2014/main" val="1900182065"/>
                    </a:ext>
                  </a:extLst>
                </a:gridCol>
                <a:gridCol w="1185319">
                  <a:extLst>
                    <a:ext uri="{9D8B030D-6E8A-4147-A177-3AD203B41FA5}">
                      <a16:colId xmlns:a16="http://schemas.microsoft.com/office/drawing/2014/main" val="1879908647"/>
                    </a:ext>
                  </a:extLst>
                </a:gridCol>
                <a:gridCol w="1121826">
                  <a:extLst>
                    <a:ext uri="{9D8B030D-6E8A-4147-A177-3AD203B41FA5}">
                      <a16:colId xmlns:a16="http://schemas.microsoft.com/office/drawing/2014/main" val="4187436788"/>
                    </a:ext>
                  </a:extLst>
                </a:gridCol>
                <a:gridCol w="1172621">
                  <a:extLst>
                    <a:ext uri="{9D8B030D-6E8A-4147-A177-3AD203B41FA5}">
                      <a16:colId xmlns:a16="http://schemas.microsoft.com/office/drawing/2014/main" val="2094670919"/>
                    </a:ext>
                  </a:extLst>
                </a:gridCol>
                <a:gridCol w="1270599">
                  <a:extLst>
                    <a:ext uri="{9D8B030D-6E8A-4147-A177-3AD203B41FA5}">
                      <a16:colId xmlns:a16="http://schemas.microsoft.com/office/drawing/2014/main" val="2095634252"/>
                    </a:ext>
                  </a:extLst>
                </a:gridCol>
                <a:gridCol w="1152063">
                  <a:extLst>
                    <a:ext uri="{9D8B030D-6E8A-4147-A177-3AD203B41FA5}">
                      <a16:colId xmlns:a16="http://schemas.microsoft.com/office/drawing/2014/main" val="3087324233"/>
                    </a:ext>
                  </a:extLst>
                </a:gridCol>
                <a:gridCol w="1133309">
                  <a:extLst>
                    <a:ext uri="{9D8B030D-6E8A-4147-A177-3AD203B41FA5}">
                      <a16:colId xmlns:a16="http://schemas.microsoft.com/office/drawing/2014/main" val="3639914575"/>
                    </a:ext>
                  </a:extLst>
                </a:gridCol>
              </a:tblGrid>
              <a:tr h="406394">
                <a:tc rowSpan="2"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</a:pPr>
                      <a:r>
                        <a:rPr lang="vi-VN" sz="1800" b="1">
                          <a:effectLst/>
                          <a:latin typeface="Times" panose="02020603050405020304" pitchFamily="18" charset="0"/>
                        </a:rPr>
                        <a:t>Model</a:t>
                      </a:r>
                      <a:endParaRPr lang="vi-VN">
                        <a:effectLst/>
                      </a:endParaRP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</a:pPr>
                      <a:r>
                        <a:rPr lang="vi-VN" sz="1800" b="1">
                          <a:effectLst/>
                          <a:latin typeface="Times" panose="02020603050405020304" pitchFamily="18" charset="0"/>
                        </a:rPr>
                        <a:t>Cold</a:t>
                      </a:r>
                      <a:endParaRPr lang="vi-VN">
                        <a:effectLst/>
                      </a:endParaRP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</a:pPr>
                      <a:r>
                        <a:rPr lang="vi-VN" sz="1800" b="1">
                          <a:effectLst/>
                          <a:latin typeface="Times" panose="02020603050405020304" pitchFamily="18" charset="0"/>
                        </a:rPr>
                        <a:t>Warm-A</a:t>
                      </a:r>
                      <a:endParaRPr lang="vi-VN">
                        <a:effectLst/>
                      </a:endParaRP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</a:pPr>
                      <a:r>
                        <a:rPr lang="vi-VN" sz="1800" b="1">
                          <a:effectLst/>
                          <a:latin typeface="Times" panose="02020603050405020304" pitchFamily="18" charset="0"/>
                        </a:rPr>
                        <a:t>Warm-B</a:t>
                      </a:r>
                      <a:endParaRPr lang="vi-VN">
                        <a:effectLst/>
                      </a:endParaRP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</a:pPr>
                      <a:r>
                        <a:rPr lang="vi-VN" sz="1800" b="1">
                          <a:effectLst/>
                          <a:latin typeface="Times" panose="02020603050405020304" pitchFamily="18" charset="0"/>
                        </a:rPr>
                        <a:t>Warm-C</a:t>
                      </a:r>
                      <a:endParaRPr lang="vi-VN">
                        <a:effectLst/>
                      </a:endParaRP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5617238"/>
                  </a:ext>
                </a:extLst>
              </a:tr>
              <a:tr h="406394"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</a:pPr>
                      <a:r>
                        <a:rPr lang="vi-VN" sz="1800" b="1">
                          <a:effectLst/>
                          <a:latin typeface="Times" panose="02020603050405020304" pitchFamily="18" charset="0"/>
                        </a:rPr>
                        <a:t>P@10</a:t>
                      </a:r>
                      <a:endParaRPr lang="vi-VN">
                        <a:effectLst/>
                      </a:endParaRP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</a:pPr>
                      <a:r>
                        <a:rPr lang="vi-VN" sz="1800" b="1">
                          <a:effectLst/>
                          <a:latin typeface="Times" panose="02020603050405020304" pitchFamily="18" charset="0"/>
                        </a:rPr>
                        <a:t>R@10</a:t>
                      </a:r>
                      <a:endParaRPr lang="vi-VN">
                        <a:effectLst/>
                      </a:endParaRP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</a:pPr>
                      <a:r>
                        <a:rPr lang="vi-VN" sz="1800" b="1">
                          <a:effectLst/>
                          <a:latin typeface="Times" panose="02020603050405020304" pitchFamily="18" charset="0"/>
                        </a:rPr>
                        <a:t>P@10</a:t>
                      </a:r>
                      <a:endParaRPr lang="vi-VN">
                        <a:effectLst/>
                      </a:endParaRP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</a:pPr>
                      <a:r>
                        <a:rPr lang="vi-VN" sz="1800" b="1">
                          <a:effectLst/>
                          <a:latin typeface="Times" panose="02020603050405020304" pitchFamily="18" charset="0"/>
                        </a:rPr>
                        <a:t>R@10</a:t>
                      </a:r>
                      <a:endParaRPr lang="vi-VN">
                        <a:effectLst/>
                      </a:endParaRP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</a:pPr>
                      <a:r>
                        <a:rPr lang="vi-VN" sz="1800" b="1">
                          <a:effectLst/>
                          <a:latin typeface="Times" panose="02020603050405020304" pitchFamily="18" charset="0"/>
                        </a:rPr>
                        <a:t>P@10</a:t>
                      </a:r>
                      <a:endParaRPr lang="vi-VN">
                        <a:effectLst/>
                      </a:endParaRP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</a:pPr>
                      <a:r>
                        <a:rPr lang="vi-VN" sz="1800" b="1">
                          <a:effectLst/>
                          <a:latin typeface="Times" panose="02020603050405020304" pitchFamily="18" charset="0"/>
                        </a:rPr>
                        <a:t>R@10</a:t>
                      </a:r>
                      <a:endParaRPr lang="vi-VN">
                        <a:effectLst/>
                      </a:endParaRP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</a:pPr>
                      <a:r>
                        <a:rPr lang="vi-VN" sz="1800" b="1">
                          <a:effectLst/>
                          <a:latin typeface="Times" panose="02020603050405020304" pitchFamily="18" charset="0"/>
                        </a:rPr>
                        <a:t>P@10</a:t>
                      </a:r>
                      <a:endParaRPr lang="vi-VN">
                        <a:effectLst/>
                      </a:endParaRP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</a:pPr>
                      <a:r>
                        <a:rPr lang="vi-VN" sz="1800" b="1">
                          <a:effectLst/>
                          <a:latin typeface="Times" panose="02020603050405020304" pitchFamily="18" charset="0"/>
                        </a:rPr>
                        <a:t>R@10</a:t>
                      </a:r>
                      <a:endParaRPr lang="vi-VN">
                        <a:effectLst/>
                      </a:endParaRP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012162"/>
                  </a:ext>
                </a:extLst>
              </a:tr>
              <a:tr h="406394">
                <a:tc>
                  <a:txBody>
                    <a:bodyPr/>
                    <a:lstStyle/>
                    <a:p>
                      <a:pPr rtl="0" fontAlgn="base">
                        <a:lnSpc>
                          <a:spcPts val="1650"/>
                        </a:lnSpc>
                      </a:pPr>
                      <a:r>
                        <a:rPr lang="vi-VN" sz="1800" b="1">
                          <a:effectLst/>
                          <a:latin typeface="Times" panose="02020603050405020304" pitchFamily="18" charset="0"/>
                        </a:rPr>
                        <a:t>LightGCN</a:t>
                      </a:r>
                      <a:endParaRPr lang="vi-VN">
                        <a:effectLst/>
                      </a:endParaRP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</a:pPr>
                      <a:r>
                        <a:rPr lang="vi-VN" sz="1800">
                          <a:effectLst/>
                          <a:latin typeface="Times" panose="02020603050405020304" pitchFamily="18" charset="0"/>
                        </a:rPr>
                        <a:t>0.000</a:t>
                      </a:r>
                      <a:endParaRPr lang="vi-VN">
                        <a:effectLst/>
                      </a:endParaRP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</a:pPr>
                      <a:r>
                        <a:rPr lang="vi-VN" sz="1800">
                          <a:effectLst/>
                          <a:latin typeface="Times" panose="02020603050405020304" pitchFamily="18" charset="0"/>
                        </a:rPr>
                        <a:t>0.000</a:t>
                      </a:r>
                      <a:endParaRPr lang="vi-VN">
                        <a:effectLst/>
                      </a:endParaRP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</a:pPr>
                      <a:r>
                        <a:rPr lang="vi-VN" sz="1800">
                          <a:effectLst/>
                          <a:latin typeface="Times" panose="02020603050405020304" pitchFamily="18" charset="0"/>
                        </a:rPr>
                        <a:t>0.0027</a:t>
                      </a:r>
                      <a:endParaRPr lang="vi-VN">
                        <a:effectLst/>
                      </a:endParaRP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</a:pPr>
                      <a:r>
                        <a:rPr lang="vi-VN" sz="1800">
                          <a:effectLst/>
                          <a:latin typeface="Times" panose="02020603050405020304" pitchFamily="18" charset="0"/>
                        </a:rPr>
                        <a:t>0.0019</a:t>
                      </a:r>
                      <a:endParaRPr lang="vi-VN">
                        <a:effectLst/>
                      </a:endParaRP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</a:pPr>
                      <a:r>
                        <a:rPr lang="vi-VN" sz="1800">
                          <a:effectLst/>
                          <a:latin typeface="Times" panose="02020603050405020304" pitchFamily="18" charset="0"/>
                        </a:rPr>
                        <a:t>0.0049</a:t>
                      </a:r>
                      <a:endParaRPr lang="vi-VN">
                        <a:effectLst/>
                      </a:endParaRP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</a:pPr>
                      <a:r>
                        <a:rPr lang="vi-VN" sz="1800">
                          <a:effectLst/>
                          <a:latin typeface="Times" panose="02020603050405020304" pitchFamily="18" charset="0"/>
                        </a:rPr>
                        <a:t>0.0038</a:t>
                      </a:r>
                      <a:endParaRPr lang="vi-VN">
                        <a:effectLst/>
                      </a:endParaRP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</a:pPr>
                      <a:r>
                        <a:rPr lang="vi-VN" sz="1800">
                          <a:effectLst/>
                          <a:latin typeface="Times" panose="02020603050405020304" pitchFamily="18" charset="0"/>
                        </a:rPr>
                        <a:t>0.0228</a:t>
                      </a:r>
                      <a:endParaRPr lang="vi-VN">
                        <a:effectLst/>
                      </a:endParaRP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</a:pPr>
                      <a:r>
                        <a:rPr lang="vi-VN" sz="1800">
                          <a:effectLst/>
                          <a:latin typeface="Times" panose="02020603050405020304" pitchFamily="18" charset="0"/>
                        </a:rPr>
                        <a:t>0.0282</a:t>
                      </a:r>
                      <a:endParaRPr lang="vi-VN">
                        <a:effectLst/>
                      </a:endParaRPr>
                    </a:p>
                  </a:txBody>
                  <a:tcPr marL="47625" marR="47625" marT="47625" marB="47625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636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84413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699873E-4225-C922-B4A6-CDC05A38D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>
                <a:ea typeface="Questrial"/>
                <a:cs typeface="Questrial"/>
              </a:rPr>
              <a:t>4. </a:t>
            </a:r>
            <a:r>
              <a:rPr lang="vi-VN" b="1" err="1">
                <a:ea typeface="Questrial"/>
                <a:cs typeface="Questrial"/>
              </a:rPr>
              <a:t>Cold</a:t>
            </a:r>
            <a:r>
              <a:rPr lang="vi-VN" b="1">
                <a:ea typeface="Questrial"/>
                <a:cs typeface="Questrial"/>
              </a:rPr>
              <a:t> </a:t>
            </a:r>
            <a:r>
              <a:rPr lang="vi-VN" b="1" err="1">
                <a:ea typeface="Questrial"/>
                <a:cs typeface="Questrial"/>
              </a:rPr>
              <a:t>Start</a:t>
            </a:r>
            <a:r>
              <a:rPr lang="vi-VN" b="1">
                <a:ea typeface="Questrial"/>
                <a:cs typeface="Questrial"/>
              </a:rPr>
              <a:t> </a:t>
            </a:r>
            <a:r>
              <a:rPr lang="vi-VN" b="1" err="1">
                <a:ea typeface="Questrial"/>
                <a:cs typeface="Questrial"/>
              </a:rPr>
              <a:t>Problem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3CFF8B27-0A0B-46E3-47FD-942A2F4FD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8125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buNone/>
            </a:pPr>
            <a:r>
              <a:rPr lang="vi-VN" sz="2500" err="1">
                <a:ea typeface="+mn-lt"/>
                <a:cs typeface="+mn-lt"/>
              </a:rPr>
              <a:t>For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 err="1">
                <a:ea typeface="+mn-lt"/>
                <a:cs typeface="+mn-lt"/>
              </a:rPr>
              <a:t>Cold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 err="1">
                <a:ea typeface="+mn-lt"/>
                <a:cs typeface="+mn-lt"/>
              </a:rPr>
              <a:t>Start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 err="1">
                <a:ea typeface="+mn-lt"/>
                <a:cs typeface="+mn-lt"/>
              </a:rPr>
              <a:t>Problem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 err="1">
                <a:ea typeface="+mn-lt"/>
                <a:cs typeface="+mn-lt"/>
              </a:rPr>
              <a:t>Setting</a:t>
            </a:r>
            <a:r>
              <a:rPr lang="vi-VN" sz="2500">
                <a:ea typeface="+mn-lt"/>
                <a:cs typeface="+mn-lt"/>
              </a:rPr>
              <a:t>:</a:t>
            </a:r>
            <a:endParaRPr lang="vi-VN"/>
          </a:p>
          <a:p>
            <a:pPr algn="just">
              <a:buNone/>
            </a:pPr>
            <a:r>
              <a:rPr lang="vi-VN" sz="2500" err="1">
                <a:ea typeface="Lato"/>
                <a:cs typeface="Lato"/>
              </a:rPr>
              <a:t>We</a:t>
            </a:r>
            <a:r>
              <a:rPr lang="vi-VN" sz="2500">
                <a:ea typeface="Lato"/>
                <a:cs typeface="Lato"/>
              </a:rPr>
              <a:t> </a:t>
            </a:r>
            <a:r>
              <a:rPr lang="vi-VN" sz="2500" err="1">
                <a:ea typeface="Lato"/>
                <a:cs typeface="Lato"/>
              </a:rPr>
              <a:t>define</a:t>
            </a:r>
            <a:r>
              <a:rPr lang="vi-VN" sz="2500">
                <a:ea typeface="Lato"/>
                <a:cs typeface="Lato"/>
              </a:rPr>
              <a:t> </a:t>
            </a:r>
            <a:r>
              <a:rPr lang="vi-VN" sz="2500" err="1">
                <a:ea typeface="Lato"/>
                <a:cs typeface="Lato"/>
              </a:rPr>
              <a:t>hot</a:t>
            </a:r>
            <a:r>
              <a:rPr lang="vi-VN" sz="2500">
                <a:ea typeface="Lato"/>
                <a:cs typeface="Lato"/>
              </a:rPr>
              <a:t> </a:t>
            </a:r>
            <a:r>
              <a:rPr lang="vi-VN" sz="2500" err="1">
                <a:ea typeface="Lato"/>
                <a:cs typeface="Lato"/>
              </a:rPr>
              <a:t>items</a:t>
            </a:r>
            <a:r>
              <a:rPr lang="vi-VN" sz="2500">
                <a:ea typeface="Lato"/>
                <a:cs typeface="Lato"/>
              </a:rPr>
              <a:t> </a:t>
            </a:r>
            <a:r>
              <a:rPr lang="vi-VN" sz="2500" err="1">
                <a:ea typeface="Lato"/>
                <a:cs typeface="Lato"/>
              </a:rPr>
              <a:t>are</a:t>
            </a:r>
            <a:r>
              <a:rPr lang="vi-VN" sz="2500">
                <a:ea typeface="Lato"/>
                <a:cs typeface="Lato"/>
              </a:rPr>
              <a:t> </a:t>
            </a:r>
            <a:r>
              <a:rPr lang="vi-VN" sz="2500" err="1">
                <a:ea typeface="Lato"/>
                <a:cs typeface="Lato"/>
              </a:rPr>
              <a:t>movies</a:t>
            </a:r>
            <a:r>
              <a:rPr lang="vi-VN" sz="2500">
                <a:ea typeface="Lato"/>
                <a:cs typeface="Lato"/>
              </a:rPr>
              <a:t> </a:t>
            </a:r>
            <a:r>
              <a:rPr lang="vi-VN" sz="2500" err="1">
                <a:ea typeface="Lato"/>
                <a:cs typeface="Lato"/>
              </a:rPr>
              <a:t>that</a:t>
            </a:r>
            <a:r>
              <a:rPr lang="vi-VN" sz="2500">
                <a:ea typeface="Lato"/>
                <a:cs typeface="Lato"/>
              </a:rPr>
              <a:t> </a:t>
            </a:r>
            <a:r>
              <a:rPr lang="vi-VN" sz="2500" err="1">
                <a:ea typeface="Lato"/>
                <a:cs typeface="Lato"/>
              </a:rPr>
              <a:t>have</a:t>
            </a:r>
            <a:r>
              <a:rPr lang="vi-VN" sz="2500">
                <a:ea typeface="Lato"/>
                <a:cs typeface="Lato"/>
              </a:rPr>
              <a:t> </a:t>
            </a:r>
            <a:r>
              <a:rPr lang="vi-VN" sz="2500" err="1">
                <a:ea typeface="Lato"/>
                <a:cs typeface="Lato"/>
              </a:rPr>
              <a:t>interactions</a:t>
            </a:r>
            <a:r>
              <a:rPr lang="vi-VN" sz="2500">
                <a:ea typeface="Lato"/>
                <a:cs typeface="Lato"/>
              </a:rPr>
              <a:t> &gt; N, </a:t>
            </a:r>
            <a:r>
              <a:rPr lang="vi-VN" sz="2500" err="1">
                <a:ea typeface="Lato"/>
                <a:cs typeface="Lato"/>
              </a:rPr>
              <a:t>represent</a:t>
            </a:r>
            <a:r>
              <a:rPr lang="vi-VN" sz="2500">
                <a:ea typeface="Lato"/>
                <a:cs typeface="Lato"/>
              </a:rPr>
              <a:t> </a:t>
            </a:r>
            <a:r>
              <a:rPr lang="vi-VN" sz="2500" err="1">
                <a:ea typeface="Lato"/>
                <a:cs typeface="Lato"/>
              </a:rPr>
              <a:t>train</a:t>
            </a:r>
            <a:r>
              <a:rPr lang="vi-VN" sz="2500">
                <a:ea typeface="Lato"/>
                <a:cs typeface="Lato"/>
              </a:rPr>
              <a:t> </a:t>
            </a:r>
            <a:r>
              <a:rPr lang="vi-VN" sz="2500" err="1">
                <a:ea typeface="Lato"/>
                <a:cs typeface="Lato"/>
              </a:rPr>
              <a:t>data</a:t>
            </a:r>
            <a:r>
              <a:rPr lang="vi-VN" sz="2500">
                <a:ea typeface="Lato"/>
                <a:cs typeface="Lato"/>
              </a:rPr>
              <a:t>.</a:t>
            </a:r>
          </a:p>
          <a:p>
            <a:pPr algn="just">
              <a:buNone/>
            </a:pPr>
            <a:r>
              <a:rPr lang="vi-VN" sz="2500" err="1">
                <a:ea typeface="Lato"/>
                <a:cs typeface="Lato"/>
              </a:rPr>
              <a:t>Cold</a:t>
            </a:r>
            <a:r>
              <a:rPr lang="vi-VN" sz="2500">
                <a:ea typeface="Lato"/>
                <a:cs typeface="Lato"/>
              </a:rPr>
              <a:t> </a:t>
            </a:r>
            <a:r>
              <a:rPr lang="vi-VN" sz="2500" err="1">
                <a:ea typeface="Lato"/>
                <a:cs typeface="Lato"/>
              </a:rPr>
              <a:t>items</a:t>
            </a:r>
            <a:r>
              <a:rPr lang="vi-VN" sz="2500">
                <a:ea typeface="Lato"/>
                <a:cs typeface="Lato"/>
              </a:rPr>
              <a:t> </a:t>
            </a:r>
            <a:r>
              <a:rPr lang="vi-VN" sz="2500" err="1">
                <a:ea typeface="Lato"/>
                <a:cs typeface="Lato"/>
              </a:rPr>
              <a:t>are</a:t>
            </a:r>
            <a:r>
              <a:rPr lang="vi-VN" sz="2500">
                <a:ea typeface="Lato"/>
                <a:cs typeface="Lato"/>
              </a:rPr>
              <a:t> </a:t>
            </a:r>
            <a:r>
              <a:rPr lang="vi-VN" sz="2500" err="1">
                <a:ea typeface="Lato"/>
                <a:cs typeface="Lato"/>
              </a:rPr>
              <a:t>remain</a:t>
            </a:r>
            <a:r>
              <a:rPr lang="vi-VN" sz="2500">
                <a:ea typeface="Lato"/>
                <a:cs typeface="Lato"/>
              </a:rPr>
              <a:t> </a:t>
            </a:r>
            <a:r>
              <a:rPr lang="vi-VN" sz="2500" err="1">
                <a:ea typeface="Lato"/>
                <a:cs typeface="Lato"/>
              </a:rPr>
              <a:t>movies</a:t>
            </a:r>
            <a:r>
              <a:rPr lang="vi-VN" sz="2500">
                <a:ea typeface="Lato"/>
                <a:cs typeface="Lato"/>
              </a:rPr>
              <a:t>, </a:t>
            </a:r>
            <a:r>
              <a:rPr lang="vi-VN" sz="2500" err="1">
                <a:ea typeface="Lato"/>
                <a:cs typeface="Lato"/>
              </a:rPr>
              <a:t>have</a:t>
            </a:r>
            <a:r>
              <a:rPr lang="vi-VN" sz="2500">
                <a:ea typeface="Lato"/>
                <a:cs typeface="Lato"/>
              </a:rPr>
              <a:t> </a:t>
            </a:r>
            <a:r>
              <a:rPr lang="vi-VN" sz="2500" err="1">
                <a:ea typeface="Lato"/>
                <a:cs typeface="Lato"/>
              </a:rPr>
              <a:t>interactions</a:t>
            </a:r>
            <a:r>
              <a:rPr lang="vi-VN" sz="2500">
                <a:ea typeface="Lato"/>
                <a:cs typeface="Lato"/>
              </a:rPr>
              <a:t> &gt; 3.K.</a:t>
            </a:r>
          </a:p>
          <a:p>
            <a:pPr algn="just">
              <a:buNone/>
            </a:pPr>
            <a:r>
              <a:rPr lang="vi-VN" sz="2500" err="1">
                <a:ea typeface="Lato"/>
                <a:cs typeface="Lato"/>
              </a:rPr>
              <a:t>We</a:t>
            </a:r>
            <a:r>
              <a:rPr lang="vi-VN" sz="2500">
                <a:ea typeface="Lato"/>
                <a:cs typeface="Lato"/>
              </a:rPr>
              <a:t> </a:t>
            </a:r>
            <a:r>
              <a:rPr lang="vi-VN" sz="2500" err="1">
                <a:ea typeface="Lato"/>
                <a:cs typeface="Lato"/>
              </a:rPr>
              <a:t>will</a:t>
            </a:r>
            <a:r>
              <a:rPr lang="vi-VN" sz="2500">
                <a:ea typeface="Lato"/>
                <a:cs typeface="Lato"/>
              </a:rPr>
              <a:t> </a:t>
            </a:r>
            <a:r>
              <a:rPr lang="vi-VN" sz="2500" err="1">
                <a:ea typeface="Lato"/>
                <a:cs typeface="Lato"/>
              </a:rPr>
              <a:t>develop</a:t>
            </a:r>
            <a:r>
              <a:rPr lang="vi-VN" sz="2500">
                <a:ea typeface="Lato"/>
                <a:cs typeface="Lato"/>
              </a:rPr>
              <a:t> 4 </a:t>
            </a:r>
            <a:r>
              <a:rPr lang="vi-VN" sz="2500" err="1">
                <a:ea typeface="Lato"/>
                <a:cs typeface="Lato"/>
              </a:rPr>
              <a:t>phase</a:t>
            </a:r>
            <a:r>
              <a:rPr lang="vi-VN" sz="2500">
                <a:ea typeface="Lato"/>
                <a:cs typeface="Lato"/>
              </a:rPr>
              <a:t> </a:t>
            </a:r>
            <a:r>
              <a:rPr lang="vi-VN" sz="2500" err="1">
                <a:ea typeface="Lato"/>
                <a:cs typeface="Lato"/>
              </a:rPr>
              <a:t>and</a:t>
            </a:r>
            <a:r>
              <a:rPr lang="vi-VN" sz="2500">
                <a:ea typeface="Lato"/>
                <a:cs typeface="Lato"/>
              </a:rPr>
              <a:t> 4 </a:t>
            </a:r>
            <a:r>
              <a:rPr lang="vi-VN" sz="2500" err="1">
                <a:ea typeface="Lato"/>
                <a:cs typeface="Lato"/>
              </a:rPr>
              <a:t>data</a:t>
            </a:r>
            <a:r>
              <a:rPr lang="vi-VN" sz="2500">
                <a:ea typeface="Lato"/>
                <a:cs typeface="Lato"/>
              </a:rPr>
              <a:t> </a:t>
            </a:r>
            <a:r>
              <a:rPr lang="vi-VN" sz="2500" err="1">
                <a:ea typeface="Lato"/>
                <a:cs typeface="Lato"/>
              </a:rPr>
              <a:t>on</a:t>
            </a:r>
            <a:r>
              <a:rPr lang="vi-VN" sz="2500">
                <a:ea typeface="Lato"/>
                <a:cs typeface="Lato"/>
              </a:rPr>
              <a:t> </a:t>
            </a:r>
            <a:r>
              <a:rPr lang="vi-VN" sz="2500" err="1">
                <a:ea typeface="Lato"/>
                <a:cs typeface="Lato"/>
              </a:rPr>
              <a:t>cold</a:t>
            </a:r>
            <a:r>
              <a:rPr lang="vi-VN" sz="2500">
                <a:ea typeface="Lato"/>
                <a:cs typeface="Lato"/>
              </a:rPr>
              <a:t> </a:t>
            </a:r>
            <a:r>
              <a:rPr lang="vi-VN" sz="2500" err="1">
                <a:ea typeface="Lato"/>
                <a:cs typeface="Lato"/>
              </a:rPr>
              <a:t>start</a:t>
            </a:r>
            <a:r>
              <a:rPr lang="vi-VN" sz="2500">
                <a:ea typeface="Lato"/>
                <a:cs typeface="Lato"/>
              </a:rPr>
              <a:t> </a:t>
            </a:r>
            <a:r>
              <a:rPr lang="vi-VN" sz="2500" err="1">
                <a:ea typeface="Lato"/>
                <a:cs typeface="Lato"/>
              </a:rPr>
              <a:t>scenario</a:t>
            </a:r>
            <a:r>
              <a:rPr lang="vi-VN" sz="2500">
                <a:ea typeface="Lato"/>
                <a:cs typeface="Lato"/>
              </a:rPr>
              <a:t>:</a:t>
            </a:r>
          </a:p>
          <a:p>
            <a:pPr algn="just">
              <a:buNone/>
            </a:pPr>
            <a:r>
              <a:rPr lang="vi-VN" sz="2500">
                <a:ea typeface="+mn-lt"/>
                <a:cs typeface="+mn-lt"/>
              </a:rPr>
              <a:t>The </a:t>
            </a:r>
            <a:r>
              <a:rPr lang="vi-VN" sz="2500" err="1">
                <a:ea typeface="+mn-lt"/>
                <a:cs typeface="+mn-lt"/>
              </a:rPr>
              <a:t>first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>
                <a:latin typeface="Consolas"/>
                <a:ea typeface="Lato"/>
                <a:cs typeface="Lato"/>
              </a:rPr>
              <a:t>K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 err="1">
                <a:ea typeface="+mn-lt"/>
                <a:cs typeface="+mn-lt"/>
              </a:rPr>
              <a:t>interactions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 err="1">
                <a:ea typeface="+mn-lt"/>
                <a:cs typeface="+mn-lt"/>
              </a:rPr>
              <a:t>of</a:t>
            </a:r>
            <a:r>
              <a:rPr lang="vi-VN" sz="2500">
                <a:ea typeface="+mn-lt"/>
                <a:cs typeface="+mn-lt"/>
              </a:rPr>
              <a:t> a </a:t>
            </a:r>
            <a:r>
              <a:rPr lang="vi-VN" sz="2500" err="1">
                <a:ea typeface="+mn-lt"/>
                <a:cs typeface="+mn-lt"/>
              </a:rPr>
              <a:t>cold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 err="1">
                <a:ea typeface="+mn-lt"/>
                <a:cs typeface="+mn-lt"/>
              </a:rPr>
              <a:t>item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 err="1">
                <a:ea typeface="+mn-lt"/>
                <a:cs typeface="+mn-lt"/>
              </a:rPr>
              <a:t>will</a:t>
            </a:r>
            <a:r>
              <a:rPr lang="vi-VN" sz="2500">
                <a:ea typeface="+mn-lt"/>
                <a:cs typeface="+mn-lt"/>
              </a:rPr>
              <a:t> be </a:t>
            </a:r>
            <a:r>
              <a:rPr lang="vi-VN" sz="2500" err="1">
                <a:ea typeface="+mn-lt"/>
                <a:cs typeface="+mn-lt"/>
              </a:rPr>
              <a:t>assigned</a:t>
            </a:r>
            <a:r>
              <a:rPr lang="vi-VN" sz="2500">
                <a:ea typeface="+mn-lt"/>
                <a:cs typeface="+mn-lt"/>
              </a:rPr>
              <a:t> to </a:t>
            </a:r>
            <a:r>
              <a:rPr lang="vi-VN" sz="2500" err="1">
                <a:ea typeface="+mn-lt"/>
                <a:cs typeface="+mn-lt"/>
              </a:rPr>
              <a:t>Phase</a:t>
            </a:r>
            <a:r>
              <a:rPr lang="vi-VN" sz="2500">
                <a:ea typeface="+mn-lt"/>
                <a:cs typeface="+mn-lt"/>
              </a:rPr>
              <a:t> A, the </a:t>
            </a:r>
            <a:r>
              <a:rPr lang="vi-VN" sz="2500" err="1">
                <a:ea typeface="+mn-lt"/>
                <a:cs typeface="+mn-lt"/>
              </a:rPr>
              <a:t>next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>
                <a:latin typeface="Consolas"/>
                <a:ea typeface="Lato"/>
                <a:cs typeface="Lato"/>
              </a:rPr>
              <a:t>K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 err="1">
                <a:ea typeface="+mn-lt"/>
                <a:cs typeface="+mn-lt"/>
              </a:rPr>
              <a:t>interactions</a:t>
            </a:r>
            <a:r>
              <a:rPr lang="vi-VN" sz="2500">
                <a:ea typeface="+mn-lt"/>
                <a:cs typeface="+mn-lt"/>
              </a:rPr>
              <a:t> to </a:t>
            </a:r>
            <a:r>
              <a:rPr lang="vi-VN" sz="2500" err="1">
                <a:ea typeface="+mn-lt"/>
                <a:cs typeface="+mn-lt"/>
              </a:rPr>
              <a:t>Phase</a:t>
            </a:r>
            <a:r>
              <a:rPr lang="vi-VN" sz="2500">
                <a:ea typeface="+mn-lt"/>
                <a:cs typeface="+mn-lt"/>
              </a:rPr>
              <a:t> B, the </a:t>
            </a:r>
            <a:r>
              <a:rPr lang="vi-VN" sz="2500" err="1">
                <a:ea typeface="+mn-lt"/>
                <a:cs typeface="+mn-lt"/>
              </a:rPr>
              <a:t>following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>
                <a:latin typeface="Consolas"/>
                <a:ea typeface="Lato"/>
                <a:cs typeface="Lato"/>
              </a:rPr>
              <a:t>K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 err="1">
                <a:ea typeface="+mn-lt"/>
                <a:cs typeface="+mn-lt"/>
              </a:rPr>
              <a:t>interactions</a:t>
            </a:r>
            <a:r>
              <a:rPr lang="vi-VN" sz="2500">
                <a:ea typeface="+mn-lt"/>
                <a:cs typeface="+mn-lt"/>
              </a:rPr>
              <a:t> to </a:t>
            </a:r>
            <a:r>
              <a:rPr lang="vi-VN" sz="2500" err="1">
                <a:ea typeface="+mn-lt"/>
                <a:cs typeface="+mn-lt"/>
              </a:rPr>
              <a:t>Phase</a:t>
            </a:r>
            <a:r>
              <a:rPr lang="vi-VN" sz="2500">
                <a:ea typeface="+mn-lt"/>
                <a:cs typeface="+mn-lt"/>
              </a:rPr>
              <a:t> C, </a:t>
            </a:r>
            <a:r>
              <a:rPr lang="vi-VN" sz="2500" err="1">
                <a:ea typeface="+mn-lt"/>
                <a:cs typeface="+mn-lt"/>
              </a:rPr>
              <a:t>and</a:t>
            </a:r>
            <a:r>
              <a:rPr lang="vi-VN" sz="2500">
                <a:ea typeface="+mn-lt"/>
                <a:cs typeface="+mn-lt"/>
              </a:rPr>
              <a:t> the </a:t>
            </a:r>
            <a:r>
              <a:rPr lang="vi-VN" sz="2500" err="1">
                <a:ea typeface="+mn-lt"/>
                <a:cs typeface="+mn-lt"/>
              </a:rPr>
              <a:t>remaining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 err="1">
                <a:ea typeface="+mn-lt"/>
                <a:cs typeface="+mn-lt"/>
              </a:rPr>
              <a:t>interactions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 err="1">
                <a:ea typeface="+mn-lt"/>
                <a:cs typeface="+mn-lt"/>
              </a:rPr>
              <a:t>will</a:t>
            </a:r>
            <a:r>
              <a:rPr lang="vi-VN" sz="2500">
                <a:ea typeface="+mn-lt"/>
                <a:cs typeface="+mn-lt"/>
              </a:rPr>
              <a:t> be </a:t>
            </a:r>
            <a:r>
              <a:rPr lang="vi-VN" sz="2500" err="1">
                <a:ea typeface="+mn-lt"/>
                <a:cs typeface="+mn-lt"/>
              </a:rPr>
              <a:t>used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 err="1">
                <a:ea typeface="+mn-lt"/>
                <a:cs typeface="+mn-lt"/>
              </a:rPr>
              <a:t>as</a:t>
            </a:r>
            <a:r>
              <a:rPr lang="vi-VN" sz="2500">
                <a:ea typeface="+mn-lt"/>
                <a:cs typeface="+mn-lt"/>
              </a:rPr>
              <a:t> the </a:t>
            </a:r>
            <a:r>
              <a:rPr lang="vi-VN" sz="2500" err="1">
                <a:ea typeface="+mn-lt"/>
                <a:cs typeface="+mn-lt"/>
              </a:rPr>
              <a:t>test</a:t>
            </a:r>
            <a:r>
              <a:rPr lang="vi-VN" sz="2500">
                <a:ea typeface="+mn-lt"/>
                <a:cs typeface="+mn-lt"/>
              </a:rPr>
              <a:t> </a:t>
            </a:r>
            <a:r>
              <a:rPr lang="vi-VN" sz="2500" err="1">
                <a:ea typeface="+mn-lt"/>
                <a:cs typeface="+mn-lt"/>
              </a:rPr>
              <a:t>data</a:t>
            </a:r>
            <a:r>
              <a:rPr lang="vi-VN" sz="2500">
                <a:ea typeface="+mn-lt"/>
                <a:cs typeface="+mn-lt"/>
              </a:rPr>
              <a:t>.</a:t>
            </a:r>
            <a:endParaRPr lang="vi-VN"/>
          </a:p>
          <a:p>
            <a:pPr algn="just">
              <a:buNone/>
            </a:pPr>
            <a:r>
              <a:rPr lang="vi-VN" err="1">
                <a:ea typeface="Lato"/>
                <a:cs typeface="Lato"/>
              </a:rPr>
              <a:t>We</a:t>
            </a:r>
            <a:r>
              <a:rPr lang="vi-VN">
                <a:ea typeface="Lato"/>
                <a:cs typeface="Lato"/>
              </a:rPr>
              <a:t> </a:t>
            </a:r>
            <a:r>
              <a:rPr lang="vi-VN" err="1">
                <a:ea typeface="Lato"/>
                <a:cs typeface="Lato"/>
              </a:rPr>
              <a:t>will</a:t>
            </a:r>
            <a:r>
              <a:rPr lang="vi-VN">
                <a:ea typeface="Lato"/>
                <a:cs typeface="Lato"/>
              </a:rPr>
              <a:t> </a:t>
            </a:r>
            <a:r>
              <a:rPr lang="vi-VN" err="1">
                <a:ea typeface="Lato"/>
                <a:cs typeface="Lato"/>
              </a:rPr>
              <a:t>evaluate</a:t>
            </a:r>
            <a:r>
              <a:rPr lang="vi-VN">
                <a:ea typeface="Lato"/>
                <a:cs typeface="Lato"/>
              </a:rPr>
              <a:t> </a:t>
            </a:r>
            <a:r>
              <a:rPr lang="vi-VN" err="1">
                <a:ea typeface="Lato"/>
                <a:cs typeface="Lato"/>
              </a:rPr>
              <a:t>on</a:t>
            </a:r>
            <a:r>
              <a:rPr lang="vi-VN">
                <a:ea typeface="Lato"/>
                <a:cs typeface="Lato"/>
              </a:rPr>
              <a:t> 4 </a:t>
            </a:r>
            <a:r>
              <a:rPr lang="vi-VN" err="1">
                <a:ea typeface="Lato"/>
                <a:cs typeface="Lato"/>
              </a:rPr>
              <a:t>phases</a:t>
            </a:r>
            <a:r>
              <a:rPr lang="vi-VN">
                <a:ea typeface="Lato"/>
                <a:cs typeface="Lato"/>
              </a:rPr>
              <a:t>, </a:t>
            </a:r>
            <a:r>
              <a:rPr lang="vi-VN" err="1">
                <a:ea typeface="Lato"/>
                <a:cs typeface="Lato"/>
              </a:rPr>
              <a:t>first</a:t>
            </a:r>
            <a:r>
              <a:rPr lang="vi-VN">
                <a:ea typeface="Lato"/>
                <a:cs typeface="Lato"/>
              </a:rPr>
              <a:t> </a:t>
            </a:r>
            <a:r>
              <a:rPr lang="vi-VN" err="1">
                <a:ea typeface="Lato"/>
                <a:cs typeface="Lato"/>
              </a:rPr>
              <a:t>is</a:t>
            </a:r>
            <a:r>
              <a:rPr lang="vi-VN">
                <a:ea typeface="Lato"/>
                <a:cs typeface="Lato"/>
              </a:rPr>
              <a:t> </a:t>
            </a:r>
            <a:r>
              <a:rPr lang="vi-VN" err="1">
                <a:ea typeface="Lato"/>
                <a:cs typeface="Lato"/>
              </a:rPr>
              <a:t>cold</a:t>
            </a:r>
            <a:r>
              <a:rPr lang="vi-VN">
                <a:ea typeface="Lato"/>
                <a:cs typeface="Lato"/>
              </a:rPr>
              <a:t> </a:t>
            </a:r>
            <a:r>
              <a:rPr lang="vi-VN" err="1">
                <a:ea typeface="Lato"/>
                <a:cs typeface="Lato"/>
              </a:rPr>
              <a:t>with</a:t>
            </a:r>
            <a:r>
              <a:rPr lang="vi-VN">
                <a:ea typeface="Lato"/>
                <a:cs typeface="Lato"/>
              </a:rPr>
              <a:t> </a:t>
            </a:r>
            <a:r>
              <a:rPr lang="vi-VN" err="1">
                <a:ea typeface="Lato"/>
                <a:cs typeface="Lato"/>
              </a:rPr>
              <a:t>only</a:t>
            </a:r>
            <a:r>
              <a:rPr lang="vi-VN">
                <a:ea typeface="Lato"/>
                <a:cs typeface="Lato"/>
              </a:rPr>
              <a:t> </a:t>
            </a:r>
            <a:r>
              <a:rPr lang="vi-VN" err="1">
                <a:ea typeface="Lato"/>
                <a:cs typeface="Lato"/>
              </a:rPr>
              <a:t>train</a:t>
            </a:r>
            <a:r>
              <a:rPr lang="vi-VN">
                <a:ea typeface="Lato"/>
                <a:cs typeface="Lato"/>
              </a:rPr>
              <a:t> </a:t>
            </a:r>
            <a:r>
              <a:rPr lang="vi-VN" err="1">
                <a:ea typeface="Lato"/>
                <a:cs typeface="Lato"/>
              </a:rPr>
              <a:t>data</a:t>
            </a:r>
            <a:r>
              <a:rPr lang="vi-VN">
                <a:ea typeface="Lato"/>
                <a:cs typeface="Lato"/>
              </a:rPr>
              <a:t>, </a:t>
            </a:r>
            <a:r>
              <a:rPr lang="vi-VN" err="1">
                <a:ea typeface="Lato"/>
                <a:cs typeface="Lato"/>
              </a:rPr>
              <a:t>next</a:t>
            </a:r>
            <a:r>
              <a:rPr lang="vi-VN">
                <a:ea typeface="Lato"/>
                <a:cs typeface="Lato"/>
              </a:rPr>
              <a:t> </a:t>
            </a:r>
            <a:r>
              <a:rPr lang="vi-VN" err="1">
                <a:ea typeface="Lato"/>
                <a:cs typeface="Lato"/>
              </a:rPr>
              <a:t>is</a:t>
            </a:r>
            <a:r>
              <a:rPr lang="vi-VN">
                <a:ea typeface="Lato"/>
                <a:cs typeface="Lato"/>
              </a:rPr>
              <a:t> </a:t>
            </a:r>
            <a:r>
              <a:rPr lang="vi-VN" err="1">
                <a:ea typeface="Lato"/>
                <a:cs typeface="Lato"/>
              </a:rPr>
              <a:t>Warm</a:t>
            </a:r>
            <a:r>
              <a:rPr lang="vi-VN">
                <a:ea typeface="Lato"/>
                <a:cs typeface="Lato"/>
              </a:rPr>
              <a:t> </a:t>
            </a:r>
            <a:r>
              <a:rPr lang="vi-VN" err="1">
                <a:ea typeface="Lato"/>
                <a:cs typeface="Lato"/>
              </a:rPr>
              <a:t>Phase</a:t>
            </a:r>
            <a:r>
              <a:rPr lang="vi-VN">
                <a:ea typeface="Lato"/>
                <a:cs typeface="Lato"/>
              </a:rPr>
              <a:t> A </a:t>
            </a:r>
            <a:r>
              <a:rPr lang="vi-VN" err="1">
                <a:ea typeface="Lato"/>
                <a:cs typeface="Lato"/>
              </a:rPr>
              <a:t>with</a:t>
            </a:r>
            <a:r>
              <a:rPr lang="vi-VN">
                <a:ea typeface="Lato"/>
                <a:cs typeface="Lato"/>
              </a:rPr>
              <a:t> </a:t>
            </a:r>
            <a:r>
              <a:rPr lang="vi-VN" err="1">
                <a:ea typeface="Lato"/>
                <a:cs typeface="Lato"/>
              </a:rPr>
              <a:t>warm_a</a:t>
            </a:r>
            <a:r>
              <a:rPr lang="vi-VN">
                <a:ea typeface="Lato"/>
                <a:cs typeface="Lato"/>
              </a:rPr>
              <a:t> </a:t>
            </a:r>
            <a:r>
              <a:rPr lang="vi-VN" err="1">
                <a:ea typeface="Lato"/>
                <a:cs typeface="Lato"/>
              </a:rPr>
              <a:t>data</a:t>
            </a:r>
            <a:r>
              <a:rPr lang="vi-VN">
                <a:ea typeface="Lato"/>
                <a:cs typeface="Lato"/>
              </a:rPr>
              <a:t>, </a:t>
            </a:r>
            <a:r>
              <a:rPr lang="vi-VN" err="1">
                <a:ea typeface="Lato"/>
                <a:cs typeface="Lato"/>
              </a:rPr>
              <a:t>etc</a:t>
            </a:r>
            <a:r>
              <a:rPr lang="vi-VN">
                <a:ea typeface="Lato"/>
                <a:cs typeface="Lato"/>
              </a:rPr>
              <a:t>...</a:t>
            </a:r>
          </a:p>
          <a:p>
            <a:pPr algn="just">
              <a:buNone/>
            </a:pPr>
            <a:endParaRPr lang="vi-VN" sz="2500">
              <a:ea typeface="Lato"/>
              <a:cs typeface="Lato"/>
            </a:endParaRPr>
          </a:p>
          <a:p>
            <a:pPr algn="just">
              <a:buNone/>
            </a:pPr>
            <a:endParaRPr lang="vi-VN" sz="2500"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0789201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ình ảnh 4" descr="Ảnh có chứa văn bản, biểu đồ, ảnh chụp màn hình, hàng&#10;&#10;Mô tả được tự động tạo">
            <a:extLst>
              <a:ext uri="{FF2B5EF4-FFF2-40B4-BE49-F238E27FC236}">
                <a16:creationId xmlns:a16="http://schemas.microsoft.com/office/drawing/2014/main" id="{15B186CB-1F52-920C-5585-39DF87C7E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957" y="3641446"/>
            <a:ext cx="7123044" cy="2877109"/>
          </a:xfrm>
          <a:prstGeom prst="rect">
            <a:avLst/>
          </a:prstGeom>
        </p:spPr>
      </p:pic>
      <p:sp>
        <p:nvSpPr>
          <p:cNvPr id="2" name="Tiêu đề 1">
            <a:extLst>
              <a:ext uri="{FF2B5EF4-FFF2-40B4-BE49-F238E27FC236}">
                <a16:creationId xmlns:a16="http://schemas.microsoft.com/office/drawing/2014/main" id="{4CBE5D70-FA86-5E14-F888-9E7E62B77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>
                <a:ea typeface="Questrial"/>
                <a:cs typeface="Questrial"/>
              </a:rPr>
              <a:t>4. </a:t>
            </a:r>
            <a:r>
              <a:rPr lang="vi-VN" b="1" err="1">
                <a:ea typeface="Questrial"/>
                <a:cs typeface="Questrial"/>
              </a:rPr>
              <a:t>Cold</a:t>
            </a:r>
            <a:r>
              <a:rPr lang="vi-VN" b="1">
                <a:ea typeface="Questrial"/>
                <a:cs typeface="Questrial"/>
              </a:rPr>
              <a:t> </a:t>
            </a:r>
            <a:r>
              <a:rPr lang="vi-VN" b="1" err="1">
                <a:ea typeface="Questrial"/>
                <a:cs typeface="Questrial"/>
              </a:rPr>
              <a:t>Start</a:t>
            </a:r>
            <a:r>
              <a:rPr lang="vi-VN" b="1">
                <a:ea typeface="Questrial"/>
                <a:cs typeface="Questrial"/>
              </a:rPr>
              <a:t> </a:t>
            </a:r>
            <a:r>
              <a:rPr lang="vi-VN" b="1" err="1">
                <a:ea typeface="Questrial"/>
                <a:cs typeface="Questrial"/>
              </a:rPr>
              <a:t>Problem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2F8F078-DA9F-8284-994E-BAEA63CCB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1190"/>
            <a:ext cx="1115612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buNone/>
            </a:pPr>
            <a:r>
              <a:rPr lang="vi-VN" sz="2000" err="1">
                <a:ea typeface="+mn-lt"/>
                <a:cs typeface="+mn-lt"/>
              </a:rPr>
              <a:t>EmerG</a:t>
            </a:r>
            <a:r>
              <a:rPr lang="vi-VN" sz="2000">
                <a:ea typeface="+mn-lt"/>
                <a:cs typeface="+mn-lt"/>
              </a:rPr>
              <a:t> [2] </a:t>
            </a:r>
            <a:r>
              <a:rPr lang="vi-VN" sz="2000" err="1">
                <a:ea typeface="+mn-lt"/>
                <a:cs typeface="+mn-lt"/>
              </a:rPr>
              <a:t>enhances</a:t>
            </a:r>
            <a:r>
              <a:rPr lang="vi-VN" sz="2000">
                <a:ea typeface="+mn-lt"/>
                <a:cs typeface="+mn-lt"/>
              </a:rPr>
              <a:t> </a:t>
            </a:r>
            <a:r>
              <a:rPr lang="vi-VN" sz="2000" err="1">
                <a:ea typeface="+mn-lt"/>
                <a:cs typeface="+mn-lt"/>
              </a:rPr>
              <a:t>prediction</a:t>
            </a:r>
            <a:r>
              <a:rPr lang="vi-VN" sz="2000">
                <a:ea typeface="+mn-lt"/>
                <a:cs typeface="+mn-lt"/>
              </a:rPr>
              <a:t> </a:t>
            </a:r>
            <a:r>
              <a:rPr lang="vi-VN" sz="2000" err="1">
                <a:ea typeface="+mn-lt"/>
                <a:cs typeface="+mn-lt"/>
              </a:rPr>
              <a:t>by</a:t>
            </a:r>
            <a:r>
              <a:rPr lang="vi-VN" sz="2000">
                <a:ea typeface="+mn-lt"/>
                <a:cs typeface="+mn-lt"/>
              </a:rPr>
              <a:t> </a:t>
            </a:r>
            <a:r>
              <a:rPr lang="vi-VN" sz="2000" err="1">
                <a:ea typeface="+mn-lt"/>
                <a:cs typeface="+mn-lt"/>
              </a:rPr>
              <a:t>combining</a:t>
            </a:r>
            <a:r>
              <a:rPr lang="vi-VN" sz="2000">
                <a:ea typeface="+mn-lt"/>
                <a:cs typeface="+mn-lt"/>
              </a:rPr>
              <a:t> </a:t>
            </a:r>
            <a:r>
              <a:rPr lang="vi-VN" sz="2000" err="1">
                <a:ea typeface="+mn-lt"/>
                <a:cs typeface="+mn-lt"/>
              </a:rPr>
              <a:t>hypernetworks</a:t>
            </a:r>
            <a:r>
              <a:rPr lang="vi-VN" sz="2000">
                <a:ea typeface="+mn-lt"/>
                <a:cs typeface="+mn-lt"/>
              </a:rPr>
              <a:t> </a:t>
            </a:r>
            <a:r>
              <a:rPr lang="vi-VN" sz="2000" err="1">
                <a:ea typeface="+mn-lt"/>
                <a:cs typeface="+mn-lt"/>
              </a:rPr>
              <a:t>and</a:t>
            </a:r>
            <a:r>
              <a:rPr lang="vi-VN" sz="2000">
                <a:ea typeface="+mn-lt"/>
                <a:cs typeface="+mn-lt"/>
              </a:rPr>
              <a:t> GNN:</a:t>
            </a:r>
            <a:endParaRPr lang="vi-VN"/>
          </a:p>
          <a:p>
            <a:pPr algn="just">
              <a:buFont typeface="Arial"/>
            </a:pPr>
            <a:r>
              <a:rPr lang="vi-VN" sz="2000" b="1" err="1">
                <a:ea typeface="+mn-lt"/>
                <a:cs typeface="+mn-lt"/>
              </a:rPr>
              <a:t>Item-specific</a:t>
            </a:r>
            <a:r>
              <a:rPr lang="vi-VN" sz="2000" b="1">
                <a:ea typeface="+mn-lt"/>
                <a:cs typeface="+mn-lt"/>
              </a:rPr>
              <a:t> </a:t>
            </a:r>
            <a:r>
              <a:rPr lang="vi-VN" sz="2000" b="1" err="1">
                <a:ea typeface="+mn-lt"/>
                <a:cs typeface="+mn-lt"/>
              </a:rPr>
              <a:t>interactions</a:t>
            </a:r>
            <a:r>
              <a:rPr lang="vi-VN" sz="2000" b="1">
                <a:ea typeface="+mn-lt"/>
                <a:cs typeface="+mn-lt"/>
              </a:rPr>
              <a:t>:</a:t>
            </a:r>
            <a:r>
              <a:rPr lang="vi-VN" sz="2000">
                <a:ea typeface="+mn-lt"/>
                <a:cs typeface="+mn-lt"/>
              </a:rPr>
              <a:t> </a:t>
            </a:r>
            <a:r>
              <a:rPr lang="vi-VN" sz="2000" err="1">
                <a:ea typeface="+mn-lt"/>
                <a:cs typeface="+mn-lt"/>
              </a:rPr>
              <a:t>EmerG</a:t>
            </a:r>
            <a:r>
              <a:rPr lang="vi-VN" sz="2000">
                <a:ea typeface="+mn-lt"/>
                <a:cs typeface="+mn-lt"/>
              </a:rPr>
              <a:t> </a:t>
            </a:r>
            <a:r>
              <a:rPr lang="vi-VN" sz="2000" err="1">
                <a:ea typeface="+mn-lt"/>
                <a:cs typeface="+mn-lt"/>
              </a:rPr>
              <a:t>constructs</a:t>
            </a:r>
            <a:r>
              <a:rPr lang="vi-VN" sz="2000">
                <a:ea typeface="+mn-lt"/>
                <a:cs typeface="+mn-lt"/>
              </a:rPr>
              <a:t> </a:t>
            </a:r>
            <a:r>
              <a:rPr lang="vi-VN" sz="2000" err="1">
                <a:ea typeface="+mn-lt"/>
                <a:cs typeface="+mn-lt"/>
              </a:rPr>
              <a:t>unique</a:t>
            </a:r>
            <a:r>
              <a:rPr lang="vi-VN" sz="2000">
                <a:ea typeface="+mn-lt"/>
                <a:cs typeface="+mn-lt"/>
              </a:rPr>
              <a:t> </a:t>
            </a:r>
            <a:r>
              <a:rPr lang="vi-VN" sz="2000" err="1">
                <a:ea typeface="+mn-lt"/>
                <a:cs typeface="+mn-lt"/>
              </a:rPr>
              <a:t>feature</a:t>
            </a:r>
            <a:r>
              <a:rPr lang="vi-VN" sz="2000">
                <a:ea typeface="+mn-lt"/>
                <a:cs typeface="+mn-lt"/>
              </a:rPr>
              <a:t> </a:t>
            </a:r>
            <a:r>
              <a:rPr lang="vi-VN" sz="2000" err="1">
                <a:ea typeface="+mn-lt"/>
                <a:cs typeface="+mn-lt"/>
              </a:rPr>
              <a:t>graphs</a:t>
            </a:r>
            <a:r>
              <a:rPr lang="vi-VN" sz="2000">
                <a:ea typeface="+mn-lt"/>
                <a:cs typeface="+mn-lt"/>
              </a:rPr>
              <a:t> </a:t>
            </a:r>
            <a:r>
              <a:rPr lang="vi-VN" sz="2000" err="1">
                <a:ea typeface="+mn-lt"/>
                <a:cs typeface="+mn-lt"/>
              </a:rPr>
              <a:t>for</a:t>
            </a:r>
            <a:r>
              <a:rPr lang="vi-VN" sz="2000">
                <a:ea typeface="+mn-lt"/>
                <a:cs typeface="+mn-lt"/>
              </a:rPr>
              <a:t> </a:t>
            </a:r>
            <a:r>
              <a:rPr lang="vi-VN" sz="2000" err="1">
                <a:ea typeface="+mn-lt"/>
                <a:cs typeface="+mn-lt"/>
              </a:rPr>
              <a:t>each</a:t>
            </a:r>
            <a:r>
              <a:rPr lang="vi-VN" sz="2000">
                <a:ea typeface="+mn-lt"/>
                <a:cs typeface="+mn-lt"/>
              </a:rPr>
              <a:t> </a:t>
            </a:r>
            <a:r>
              <a:rPr lang="vi-VN" sz="2000" err="1">
                <a:ea typeface="+mn-lt"/>
                <a:cs typeface="+mn-lt"/>
              </a:rPr>
              <a:t>item</a:t>
            </a:r>
            <a:r>
              <a:rPr lang="vi-VN" sz="2000">
                <a:ea typeface="+mn-lt"/>
                <a:cs typeface="+mn-lt"/>
              </a:rPr>
              <a:t>, </a:t>
            </a:r>
            <a:r>
              <a:rPr lang="vi-VN" sz="2000" err="1">
                <a:ea typeface="+mn-lt"/>
                <a:cs typeface="+mn-lt"/>
              </a:rPr>
              <a:t>capturing</a:t>
            </a:r>
            <a:r>
              <a:rPr lang="vi-VN" sz="2000">
                <a:ea typeface="+mn-lt"/>
                <a:cs typeface="+mn-lt"/>
              </a:rPr>
              <a:t> </a:t>
            </a:r>
            <a:r>
              <a:rPr lang="vi-VN" sz="2000" err="1">
                <a:ea typeface="+mn-lt"/>
                <a:cs typeface="+mn-lt"/>
              </a:rPr>
              <a:t>complex</a:t>
            </a:r>
            <a:r>
              <a:rPr lang="vi-VN" sz="2000">
                <a:ea typeface="+mn-lt"/>
                <a:cs typeface="+mn-lt"/>
              </a:rPr>
              <a:t> </a:t>
            </a:r>
            <a:r>
              <a:rPr lang="vi-VN" sz="2000" err="1">
                <a:ea typeface="+mn-lt"/>
                <a:cs typeface="+mn-lt"/>
              </a:rPr>
              <a:t>item-user</a:t>
            </a:r>
            <a:r>
              <a:rPr lang="vi-VN" sz="2000">
                <a:ea typeface="+mn-lt"/>
                <a:cs typeface="+mn-lt"/>
              </a:rPr>
              <a:t> </a:t>
            </a:r>
            <a:r>
              <a:rPr lang="vi-VN" sz="2000" err="1">
                <a:ea typeface="+mn-lt"/>
                <a:cs typeface="+mn-lt"/>
              </a:rPr>
              <a:t>relationships</a:t>
            </a:r>
            <a:r>
              <a:rPr lang="vi-VN" sz="2000">
                <a:ea typeface="+mn-lt"/>
                <a:cs typeface="+mn-lt"/>
              </a:rPr>
              <a:t> </a:t>
            </a:r>
            <a:r>
              <a:rPr lang="vi-VN" sz="2000" err="1">
                <a:ea typeface="+mn-lt"/>
                <a:cs typeface="+mn-lt"/>
              </a:rPr>
              <a:t>for</a:t>
            </a:r>
            <a:r>
              <a:rPr lang="vi-VN" sz="2000">
                <a:ea typeface="+mn-lt"/>
                <a:cs typeface="+mn-lt"/>
              </a:rPr>
              <a:t> </a:t>
            </a:r>
            <a:r>
              <a:rPr lang="vi-VN" sz="2000" err="1">
                <a:ea typeface="+mn-lt"/>
                <a:cs typeface="+mn-lt"/>
              </a:rPr>
              <a:t>better</a:t>
            </a:r>
            <a:r>
              <a:rPr lang="vi-VN" sz="2000">
                <a:ea typeface="+mn-lt"/>
                <a:cs typeface="+mn-lt"/>
              </a:rPr>
              <a:t> </a:t>
            </a:r>
            <a:r>
              <a:rPr lang="vi-VN" sz="2000" err="1">
                <a:ea typeface="+mn-lt"/>
                <a:cs typeface="+mn-lt"/>
              </a:rPr>
              <a:t>predictions</a:t>
            </a:r>
            <a:r>
              <a:rPr lang="vi-VN" sz="2000">
                <a:ea typeface="+mn-lt"/>
                <a:cs typeface="+mn-lt"/>
              </a:rPr>
              <a:t>.</a:t>
            </a:r>
          </a:p>
          <a:p>
            <a:pPr algn="just">
              <a:buFont typeface="Arial"/>
            </a:pPr>
            <a:r>
              <a:rPr lang="vi-VN" sz="2000" b="1" err="1">
                <a:ea typeface="+mn-lt"/>
                <a:cs typeface="+mn-lt"/>
              </a:rPr>
              <a:t>Hypernetwork-generated</a:t>
            </a:r>
            <a:r>
              <a:rPr lang="vi-VN" sz="2000" b="1">
                <a:ea typeface="+mn-lt"/>
                <a:cs typeface="+mn-lt"/>
              </a:rPr>
              <a:t> </a:t>
            </a:r>
            <a:r>
              <a:rPr lang="vi-VN" sz="2000" b="1" err="1">
                <a:ea typeface="+mn-lt"/>
                <a:cs typeface="+mn-lt"/>
              </a:rPr>
              <a:t>adjacency</a:t>
            </a:r>
            <a:r>
              <a:rPr lang="vi-VN" sz="2000" b="1">
                <a:ea typeface="+mn-lt"/>
                <a:cs typeface="+mn-lt"/>
              </a:rPr>
              <a:t> </a:t>
            </a:r>
            <a:r>
              <a:rPr lang="vi-VN" sz="2000" b="1" err="1">
                <a:ea typeface="+mn-lt"/>
                <a:cs typeface="+mn-lt"/>
              </a:rPr>
              <a:t>matrices</a:t>
            </a:r>
            <a:r>
              <a:rPr lang="vi-VN" sz="2000" b="1">
                <a:ea typeface="+mn-lt"/>
                <a:cs typeface="+mn-lt"/>
              </a:rPr>
              <a:t>:</a:t>
            </a:r>
            <a:r>
              <a:rPr lang="vi-VN" sz="2000">
                <a:ea typeface="+mn-lt"/>
                <a:cs typeface="+mn-lt"/>
              </a:rPr>
              <a:t> </a:t>
            </a:r>
            <a:r>
              <a:rPr lang="vi-VN" sz="2000" err="1">
                <a:ea typeface="+mn-lt"/>
                <a:cs typeface="+mn-lt"/>
              </a:rPr>
              <a:t>This</a:t>
            </a:r>
            <a:r>
              <a:rPr lang="vi-VN" sz="2000">
                <a:ea typeface="+mn-lt"/>
                <a:cs typeface="+mn-lt"/>
              </a:rPr>
              <a:t> </a:t>
            </a:r>
            <a:r>
              <a:rPr lang="vi-VN" sz="2000" err="1">
                <a:ea typeface="+mn-lt"/>
                <a:cs typeface="+mn-lt"/>
              </a:rPr>
              <a:t>enables</a:t>
            </a:r>
            <a:r>
              <a:rPr lang="vi-VN" sz="2000">
                <a:ea typeface="+mn-lt"/>
                <a:cs typeface="+mn-lt"/>
              </a:rPr>
              <a:t> </a:t>
            </a:r>
            <a:r>
              <a:rPr lang="vi-VN" sz="2000" err="1">
                <a:ea typeface="+mn-lt"/>
                <a:cs typeface="+mn-lt"/>
              </a:rPr>
              <a:t>diverse</a:t>
            </a:r>
            <a:r>
              <a:rPr lang="vi-VN" sz="2000">
                <a:ea typeface="+mn-lt"/>
                <a:cs typeface="+mn-lt"/>
              </a:rPr>
              <a:t> </a:t>
            </a:r>
            <a:r>
              <a:rPr lang="vi-VN" sz="2000" err="1">
                <a:ea typeface="+mn-lt"/>
                <a:cs typeface="+mn-lt"/>
              </a:rPr>
              <a:t>feature</a:t>
            </a:r>
            <a:r>
              <a:rPr lang="vi-VN" sz="2000">
                <a:ea typeface="+mn-lt"/>
                <a:cs typeface="+mn-lt"/>
              </a:rPr>
              <a:t> </a:t>
            </a:r>
            <a:r>
              <a:rPr lang="vi-VN" sz="2000" err="1">
                <a:ea typeface="+mn-lt"/>
                <a:cs typeface="+mn-lt"/>
              </a:rPr>
              <a:t>interaction</a:t>
            </a:r>
            <a:r>
              <a:rPr lang="vi-VN" sz="2000">
                <a:ea typeface="+mn-lt"/>
                <a:cs typeface="+mn-lt"/>
              </a:rPr>
              <a:t> </a:t>
            </a:r>
            <a:r>
              <a:rPr lang="vi-VN" sz="2000" err="1">
                <a:ea typeface="+mn-lt"/>
                <a:cs typeface="+mn-lt"/>
              </a:rPr>
              <a:t>modeling</a:t>
            </a:r>
            <a:r>
              <a:rPr lang="vi-VN" sz="2000">
                <a:ea typeface="+mn-lt"/>
                <a:cs typeface="+mn-lt"/>
              </a:rPr>
              <a:t> </a:t>
            </a:r>
            <a:r>
              <a:rPr lang="vi-VN" sz="2000" err="1">
                <a:ea typeface="+mn-lt"/>
                <a:cs typeface="+mn-lt"/>
              </a:rPr>
              <a:t>instead</a:t>
            </a:r>
            <a:r>
              <a:rPr lang="vi-VN" sz="2000">
                <a:ea typeface="+mn-lt"/>
                <a:cs typeface="+mn-lt"/>
              </a:rPr>
              <a:t> </a:t>
            </a:r>
            <a:r>
              <a:rPr lang="vi-VN" sz="2000" err="1">
                <a:ea typeface="+mn-lt"/>
                <a:cs typeface="+mn-lt"/>
              </a:rPr>
              <a:t>of</a:t>
            </a:r>
            <a:r>
              <a:rPr lang="vi-VN" sz="2000">
                <a:ea typeface="+mn-lt"/>
                <a:cs typeface="+mn-lt"/>
              </a:rPr>
              <a:t> a </a:t>
            </a:r>
            <a:r>
              <a:rPr lang="vi-VN" sz="2000" err="1">
                <a:ea typeface="+mn-lt"/>
                <a:cs typeface="+mn-lt"/>
              </a:rPr>
              <a:t>one-size-fits-all</a:t>
            </a:r>
            <a:r>
              <a:rPr lang="vi-VN" sz="2000">
                <a:ea typeface="+mn-lt"/>
                <a:cs typeface="+mn-lt"/>
              </a:rPr>
              <a:t> </a:t>
            </a:r>
            <a:r>
              <a:rPr lang="vi-VN" sz="2000" err="1">
                <a:ea typeface="+mn-lt"/>
                <a:cs typeface="+mn-lt"/>
              </a:rPr>
              <a:t>approach</a:t>
            </a:r>
            <a:r>
              <a:rPr lang="vi-VN" sz="2000">
                <a:ea typeface="+mn-lt"/>
                <a:cs typeface="+mn-lt"/>
              </a:rPr>
              <a:t>.</a:t>
            </a:r>
          </a:p>
          <a:p>
            <a:pPr algn="just">
              <a:buFont typeface="Arial"/>
            </a:pPr>
            <a:r>
              <a:rPr lang="vi-VN" sz="2000" b="1" err="1">
                <a:ea typeface="+mn-lt"/>
                <a:cs typeface="+mn-lt"/>
              </a:rPr>
              <a:t>Customized</a:t>
            </a:r>
            <a:r>
              <a:rPr lang="vi-VN" sz="2000" b="1">
                <a:ea typeface="+mn-lt"/>
                <a:cs typeface="+mn-lt"/>
              </a:rPr>
              <a:t> GNN </a:t>
            </a:r>
            <a:r>
              <a:rPr lang="vi-VN" sz="2000" b="1" err="1">
                <a:ea typeface="+mn-lt"/>
                <a:cs typeface="+mn-lt"/>
              </a:rPr>
              <a:t>message</a:t>
            </a:r>
            <a:r>
              <a:rPr lang="vi-VN" sz="2000" b="1">
                <a:ea typeface="+mn-lt"/>
                <a:cs typeface="+mn-lt"/>
              </a:rPr>
              <a:t> </a:t>
            </a:r>
            <a:r>
              <a:rPr lang="vi-VN" sz="2000" b="1" err="1">
                <a:ea typeface="+mn-lt"/>
                <a:cs typeface="+mn-lt"/>
              </a:rPr>
              <a:t>passing</a:t>
            </a:r>
            <a:r>
              <a:rPr lang="vi-VN" sz="2000" b="1">
                <a:ea typeface="+mn-lt"/>
                <a:cs typeface="+mn-lt"/>
              </a:rPr>
              <a:t>:</a:t>
            </a:r>
            <a:r>
              <a:rPr lang="vi-VN" sz="2000">
                <a:ea typeface="+mn-lt"/>
                <a:cs typeface="+mn-lt"/>
              </a:rPr>
              <a:t> </a:t>
            </a:r>
            <a:r>
              <a:rPr lang="vi-VN" sz="2000" err="1">
                <a:ea typeface="+mn-lt"/>
                <a:cs typeface="+mn-lt"/>
              </a:rPr>
              <a:t>Tailored</a:t>
            </a:r>
            <a:r>
              <a:rPr lang="vi-VN" sz="2000">
                <a:ea typeface="+mn-lt"/>
                <a:cs typeface="+mn-lt"/>
              </a:rPr>
              <a:t> </a:t>
            </a:r>
            <a:r>
              <a:rPr lang="vi-VN" sz="2000" err="1">
                <a:ea typeface="+mn-lt"/>
                <a:cs typeface="+mn-lt"/>
              </a:rPr>
              <a:t>mechanisms</a:t>
            </a:r>
            <a:r>
              <a:rPr lang="vi-VN" sz="2000">
                <a:ea typeface="+mn-lt"/>
                <a:cs typeface="+mn-lt"/>
              </a:rPr>
              <a:t> in </a:t>
            </a:r>
            <a:r>
              <a:rPr lang="vi-VN" sz="2000" err="1">
                <a:ea typeface="+mn-lt"/>
                <a:cs typeface="+mn-lt"/>
              </a:rPr>
              <a:t>GNNs</a:t>
            </a:r>
            <a:r>
              <a:rPr lang="vi-VN" sz="2000">
                <a:ea typeface="+mn-lt"/>
                <a:cs typeface="+mn-lt"/>
              </a:rPr>
              <a:t> </a:t>
            </a:r>
            <a:r>
              <a:rPr lang="vi-VN" sz="2000" err="1">
                <a:ea typeface="+mn-lt"/>
                <a:cs typeface="+mn-lt"/>
              </a:rPr>
              <a:t>capture</a:t>
            </a:r>
            <a:r>
              <a:rPr lang="vi-VN" sz="2000">
                <a:ea typeface="+mn-lt"/>
                <a:cs typeface="+mn-lt"/>
              </a:rPr>
              <a:t> </a:t>
            </a:r>
            <a:r>
              <a:rPr lang="vi-VN" sz="2000" err="1">
                <a:ea typeface="+mn-lt"/>
                <a:cs typeface="+mn-lt"/>
              </a:rPr>
              <a:t>higher-order</a:t>
            </a:r>
            <a:r>
              <a:rPr lang="vi-VN" sz="2000">
                <a:ea typeface="+mn-lt"/>
                <a:cs typeface="+mn-lt"/>
              </a:rPr>
              <a:t> </a:t>
            </a:r>
            <a:r>
              <a:rPr lang="vi-VN" sz="2000" err="1">
                <a:ea typeface="+mn-lt"/>
                <a:cs typeface="+mn-lt"/>
              </a:rPr>
              <a:t>feature</a:t>
            </a:r>
            <a:r>
              <a:rPr lang="vi-VN" sz="2000">
                <a:ea typeface="+mn-lt"/>
                <a:cs typeface="+mn-lt"/>
              </a:rPr>
              <a:t> </a:t>
            </a:r>
            <a:r>
              <a:rPr lang="vi-VN" sz="2000" err="1">
                <a:ea typeface="+mn-lt"/>
                <a:cs typeface="+mn-lt"/>
              </a:rPr>
              <a:t>interactions</a:t>
            </a:r>
            <a:r>
              <a:rPr lang="vi-VN" sz="2000">
                <a:ea typeface="+mn-lt"/>
                <a:cs typeface="+mn-lt"/>
              </a:rPr>
              <a:t> </a:t>
            </a:r>
            <a:r>
              <a:rPr lang="vi-VN" sz="2000" err="1">
                <a:ea typeface="+mn-lt"/>
                <a:cs typeface="+mn-lt"/>
              </a:rPr>
              <a:t>for</a:t>
            </a:r>
            <a:r>
              <a:rPr lang="vi-VN" sz="2000">
                <a:ea typeface="+mn-lt"/>
                <a:cs typeface="+mn-lt"/>
              </a:rPr>
              <a:t> </a:t>
            </a:r>
            <a:r>
              <a:rPr lang="vi-VN" sz="2000" err="1">
                <a:ea typeface="+mn-lt"/>
                <a:cs typeface="+mn-lt"/>
              </a:rPr>
              <a:t>improved</a:t>
            </a:r>
            <a:r>
              <a:rPr lang="vi-VN" sz="2000">
                <a:ea typeface="+mn-lt"/>
                <a:cs typeface="+mn-lt"/>
              </a:rPr>
              <a:t> </a:t>
            </a:r>
            <a:r>
              <a:rPr lang="vi-VN" sz="2000" err="1">
                <a:ea typeface="+mn-lt"/>
                <a:cs typeface="+mn-lt"/>
              </a:rPr>
              <a:t>accuracy</a:t>
            </a:r>
            <a:r>
              <a:rPr lang="vi-VN" sz="2000">
                <a:ea typeface="+mn-lt"/>
                <a:cs typeface="+mn-lt"/>
              </a:rPr>
              <a:t>.</a:t>
            </a:r>
          </a:p>
          <a:p>
            <a:pPr marL="0" indent="0" algn="just">
              <a:buNone/>
            </a:pPr>
            <a:endParaRPr lang="vi-VN" sz="2000">
              <a:ea typeface="Lato"/>
              <a:cs typeface="Lato"/>
            </a:endParaRPr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2DFCD89F-C4C8-A759-5242-1F8B68264C1C}"/>
              </a:ext>
            </a:extLst>
          </p:cNvPr>
          <p:cNvSpPr txBox="1"/>
          <p:nvPr/>
        </p:nvSpPr>
        <p:spPr>
          <a:xfrm>
            <a:off x="297180" y="6522720"/>
            <a:ext cx="1028446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vi-VN" sz="1600">
                <a:ea typeface="Lato"/>
                <a:cs typeface="Lato"/>
              </a:rPr>
              <a:t>[2] </a:t>
            </a:r>
            <a:r>
              <a:rPr lang="vi-VN" sz="1600" err="1">
                <a:ea typeface="Lato"/>
                <a:cs typeface="Lato"/>
              </a:rPr>
              <a:t>Wang</a:t>
            </a:r>
            <a:r>
              <a:rPr lang="vi-VN" sz="1600">
                <a:ea typeface="Lato"/>
                <a:cs typeface="Lato"/>
              </a:rPr>
              <a:t> </a:t>
            </a:r>
            <a:r>
              <a:rPr lang="vi-VN" sz="1600" err="1">
                <a:ea typeface="Lato"/>
                <a:cs typeface="Lato"/>
              </a:rPr>
              <a:t>et</a:t>
            </a:r>
            <a:r>
              <a:rPr lang="vi-VN" sz="1600">
                <a:ea typeface="Lato"/>
                <a:cs typeface="Lato"/>
              </a:rPr>
              <a:t> </a:t>
            </a:r>
            <a:r>
              <a:rPr lang="vi-VN" sz="1600" err="1">
                <a:ea typeface="Lato"/>
                <a:cs typeface="Lato"/>
              </a:rPr>
              <a:t>al</a:t>
            </a:r>
            <a:r>
              <a:rPr lang="vi-VN" sz="1600">
                <a:ea typeface="Lato"/>
                <a:cs typeface="Lato"/>
              </a:rPr>
              <a:t>.  </a:t>
            </a:r>
            <a:r>
              <a:rPr lang="vi-VN" sz="1600" err="1">
                <a:latin typeface="Lato"/>
                <a:ea typeface="+mn-lt"/>
                <a:cs typeface="Times"/>
              </a:rPr>
              <a:t>Item-Specific</a:t>
            </a:r>
            <a:r>
              <a:rPr lang="vi-VN" sz="1600">
                <a:latin typeface="Lato"/>
                <a:ea typeface="+mn-lt"/>
                <a:cs typeface="Times"/>
              </a:rPr>
              <a:t> </a:t>
            </a:r>
            <a:r>
              <a:rPr lang="vi-VN" sz="1600" err="1">
                <a:latin typeface="Lato"/>
                <a:ea typeface="+mn-lt"/>
                <a:cs typeface="Times"/>
              </a:rPr>
              <a:t>Feature</a:t>
            </a:r>
            <a:r>
              <a:rPr lang="vi-VN" sz="1600">
                <a:latin typeface="Lato"/>
                <a:ea typeface="+mn-lt"/>
                <a:cs typeface="Times"/>
              </a:rPr>
              <a:t> </a:t>
            </a:r>
            <a:r>
              <a:rPr lang="vi-VN" sz="1600" err="1">
                <a:latin typeface="Lato"/>
                <a:ea typeface="+mn-lt"/>
                <a:cs typeface="Times"/>
              </a:rPr>
              <a:t>Interactions</a:t>
            </a:r>
            <a:r>
              <a:rPr lang="vi-VN" sz="1600">
                <a:latin typeface="Lato"/>
                <a:ea typeface="+mn-lt"/>
                <a:cs typeface="Times"/>
              </a:rPr>
              <a:t> </a:t>
            </a:r>
            <a:r>
              <a:rPr lang="vi-VN" sz="1600" err="1">
                <a:latin typeface="Lato"/>
                <a:ea typeface="+mn-lt"/>
                <a:cs typeface="Times"/>
              </a:rPr>
              <a:t>for</a:t>
            </a:r>
            <a:r>
              <a:rPr lang="vi-VN" sz="1600">
                <a:latin typeface="Lato"/>
                <a:ea typeface="+mn-lt"/>
                <a:cs typeface="Times"/>
              </a:rPr>
              <a:t> </a:t>
            </a:r>
            <a:r>
              <a:rPr lang="vi-VN" sz="1600" err="1">
                <a:latin typeface="Lato"/>
                <a:ea typeface="+mn-lt"/>
                <a:cs typeface="Times"/>
              </a:rPr>
              <a:t>Cold-Start</a:t>
            </a:r>
            <a:r>
              <a:rPr lang="vi-VN" sz="1600">
                <a:latin typeface="Lato"/>
                <a:ea typeface="+mn-lt"/>
                <a:cs typeface="Times"/>
              </a:rPr>
              <a:t> CTR </a:t>
            </a:r>
            <a:r>
              <a:rPr lang="vi-VN" sz="1600" err="1">
                <a:latin typeface="Lato"/>
                <a:ea typeface="+mn-lt"/>
                <a:cs typeface="Times"/>
              </a:rPr>
              <a:t>Prediction</a:t>
            </a:r>
            <a:r>
              <a:rPr lang="vi-VN" sz="1600">
                <a:latin typeface="Lato"/>
                <a:ea typeface="+mn-lt"/>
                <a:cs typeface="Times"/>
              </a:rPr>
              <a:t> (KDD 2024)</a:t>
            </a:r>
            <a:endParaRPr lang="vi-VN" sz="1600">
              <a:latin typeface="Lato"/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6123206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CBE5D70-FA86-5E14-F888-9E7E62B77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>
                <a:ea typeface="Questrial"/>
                <a:cs typeface="Questrial"/>
              </a:rPr>
              <a:t>4. </a:t>
            </a:r>
            <a:r>
              <a:rPr lang="vi-VN" b="1" err="1">
                <a:ea typeface="Questrial"/>
                <a:cs typeface="Questrial"/>
              </a:rPr>
              <a:t>Cold</a:t>
            </a:r>
            <a:r>
              <a:rPr lang="vi-VN" b="1">
                <a:ea typeface="Questrial"/>
                <a:cs typeface="Questrial"/>
              </a:rPr>
              <a:t> </a:t>
            </a:r>
            <a:r>
              <a:rPr lang="vi-VN" b="1" err="1">
                <a:ea typeface="Questrial"/>
                <a:cs typeface="Questrial"/>
              </a:rPr>
              <a:t>Start</a:t>
            </a:r>
            <a:r>
              <a:rPr lang="vi-VN" b="1">
                <a:ea typeface="Questrial"/>
                <a:cs typeface="Questrial"/>
              </a:rPr>
              <a:t> </a:t>
            </a:r>
            <a:r>
              <a:rPr lang="vi-VN" b="1" err="1">
                <a:ea typeface="Questrial"/>
                <a:cs typeface="Questrial"/>
              </a:rPr>
              <a:t>Problem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2F8F078-DA9F-8284-994E-BAEA63CCB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722" y="1461190"/>
            <a:ext cx="5236818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algn="just">
              <a:buNone/>
            </a:pPr>
            <a:r>
              <a:rPr lang="vi-VN" sz="2000">
                <a:ea typeface="Lato"/>
                <a:cs typeface="Lato"/>
              </a:rPr>
              <a:t> </a:t>
            </a:r>
            <a:r>
              <a:rPr lang="vi-VN" sz="2600">
                <a:ea typeface="Lato"/>
                <a:cs typeface="Lato"/>
              </a:rPr>
              <a:t>GNN </a:t>
            </a:r>
            <a:r>
              <a:rPr lang="vi-VN" sz="2600" err="1">
                <a:ea typeface="Lato"/>
                <a:cs typeface="Lato"/>
              </a:rPr>
              <a:t>is</a:t>
            </a:r>
            <a:r>
              <a:rPr lang="vi-VN" sz="2600">
                <a:ea typeface="Lato"/>
                <a:cs typeface="Lato"/>
              </a:rPr>
              <a:t> </a:t>
            </a:r>
            <a:r>
              <a:rPr lang="vi-VN" sz="2600" err="1">
                <a:ea typeface="Lato"/>
                <a:cs typeface="Lato"/>
              </a:rPr>
              <a:t>used</a:t>
            </a:r>
            <a:r>
              <a:rPr lang="vi-VN" sz="2600">
                <a:ea typeface="Lato"/>
                <a:cs typeface="Lato"/>
              </a:rPr>
              <a:t> to </a:t>
            </a:r>
            <a:r>
              <a:rPr lang="vi-VN" sz="2600" err="1">
                <a:ea typeface="Lato"/>
                <a:cs typeface="Lato"/>
              </a:rPr>
              <a:t>process</a:t>
            </a:r>
            <a:r>
              <a:rPr lang="vi-VN" sz="2600">
                <a:ea typeface="Lato"/>
                <a:cs typeface="Lato"/>
              </a:rPr>
              <a:t> </a:t>
            </a:r>
            <a:r>
              <a:rPr lang="vi-VN" sz="2600" err="1">
                <a:ea typeface="Lato"/>
                <a:cs typeface="Lato"/>
              </a:rPr>
              <a:t>and</a:t>
            </a:r>
            <a:r>
              <a:rPr lang="vi-VN" sz="2600">
                <a:ea typeface="Lato"/>
                <a:cs typeface="Lato"/>
              </a:rPr>
              <a:t> </a:t>
            </a:r>
            <a:r>
              <a:rPr lang="vi-VN" sz="2600" err="1">
                <a:ea typeface="Lato"/>
                <a:cs typeface="Lato"/>
              </a:rPr>
              <a:t>predict</a:t>
            </a:r>
            <a:r>
              <a:rPr lang="vi-VN" sz="2600">
                <a:ea typeface="Lato"/>
                <a:cs typeface="Lato"/>
              </a:rPr>
              <a:t> the </a:t>
            </a:r>
            <a:r>
              <a:rPr lang="vi-VN" sz="2600" err="1">
                <a:ea typeface="Lato"/>
                <a:cs typeface="Lato"/>
              </a:rPr>
              <a:t>likelihood</a:t>
            </a:r>
            <a:r>
              <a:rPr lang="vi-VN" sz="2600">
                <a:ea typeface="Lato"/>
                <a:cs typeface="Lato"/>
              </a:rPr>
              <a:t> </a:t>
            </a:r>
            <a:r>
              <a:rPr lang="vi-VN" sz="2600" err="1">
                <a:ea typeface="Lato"/>
                <a:cs typeface="Lato"/>
              </a:rPr>
              <a:t>of</a:t>
            </a:r>
            <a:r>
              <a:rPr lang="vi-VN" sz="2600">
                <a:ea typeface="Lato"/>
                <a:cs typeface="Lato"/>
              </a:rPr>
              <a:t> </a:t>
            </a:r>
            <a:r>
              <a:rPr lang="vi-VN" sz="2600" err="1">
                <a:ea typeface="Lato"/>
                <a:cs typeface="Lato"/>
              </a:rPr>
              <a:t>user-item</a:t>
            </a:r>
            <a:r>
              <a:rPr lang="vi-VN" sz="2600">
                <a:ea typeface="Lato"/>
                <a:cs typeface="Lato"/>
              </a:rPr>
              <a:t> </a:t>
            </a:r>
            <a:r>
              <a:rPr lang="vi-VN" sz="2600" err="1">
                <a:ea typeface="Lato"/>
                <a:cs typeface="Lato"/>
              </a:rPr>
              <a:t>interactions</a:t>
            </a:r>
            <a:r>
              <a:rPr lang="vi-VN" sz="2600">
                <a:ea typeface="Lato"/>
                <a:cs typeface="Lato"/>
              </a:rPr>
              <a:t>:</a:t>
            </a:r>
          </a:p>
          <a:p>
            <a:pPr algn="just">
              <a:buNone/>
            </a:pPr>
            <a:endParaRPr lang="vi-VN" sz="2600">
              <a:ea typeface="Lato"/>
              <a:cs typeface="Lato"/>
            </a:endParaRPr>
          </a:p>
          <a:p>
            <a:pPr algn="just">
              <a:buNone/>
            </a:pPr>
            <a:endParaRPr lang="vi-VN" sz="2600">
              <a:ea typeface="Lato"/>
              <a:cs typeface="Lato"/>
            </a:endParaRPr>
          </a:p>
          <a:p>
            <a:pPr algn="just">
              <a:buNone/>
            </a:pPr>
            <a:r>
              <a:rPr lang="vi-VN" sz="2600">
                <a:ea typeface="+mn-lt"/>
                <a:cs typeface="+mn-lt"/>
              </a:rPr>
              <a:t> </a:t>
            </a:r>
            <a:r>
              <a:rPr lang="vi-VN" sz="2600" err="1">
                <a:ea typeface="+mn-lt"/>
                <a:cs typeface="+mn-lt"/>
              </a:rPr>
              <a:t>Meta</a:t>
            </a:r>
            <a:r>
              <a:rPr lang="vi-VN" sz="2600">
                <a:ea typeface="+mn-lt"/>
                <a:cs typeface="+mn-lt"/>
              </a:rPr>
              <a:t> </a:t>
            </a:r>
            <a:r>
              <a:rPr lang="vi-VN" sz="2600" err="1">
                <a:ea typeface="+mn-lt"/>
                <a:cs typeface="+mn-lt"/>
              </a:rPr>
              <a:t>learning</a:t>
            </a:r>
            <a:r>
              <a:rPr lang="vi-VN" sz="2600">
                <a:ea typeface="+mn-lt"/>
                <a:cs typeface="+mn-lt"/>
              </a:rPr>
              <a:t> </a:t>
            </a:r>
            <a:r>
              <a:rPr lang="vi-VN" sz="2600" err="1">
                <a:ea typeface="+mn-lt"/>
                <a:cs typeface="+mn-lt"/>
              </a:rPr>
              <a:t>optimizes</a:t>
            </a:r>
            <a:r>
              <a:rPr lang="vi-VN" sz="2600">
                <a:ea typeface="+mn-lt"/>
                <a:cs typeface="+mn-lt"/>
              </a:rPr>
              <a:t> </a:t>
            </a:r>
            <a:r>
              <a:rPr lang="vi-VN" sz="2600" err="1">
                <a:ea typeface="+mn-lt"/>
                <a:cs typeface="+mn-lt"/>
              </a:rPr>
              <a:t>parameters</a:t>
            </a:r>
            <a:r>
              <a:rPr lang="vi-VN" sz="2600">
                <a:ea typeface="+mn-lt"/>
                <a:cs typeface="+mn-lt"/>
              </a:rPr>
              <a:t> </a:t>
            </a:r>
            <a:r>
              <a:rPr lang="vi-VN" sz="2600" err="1">
                <a:ea typeface="+mn-lt"/>
                <a:cs typeface="+mn-lt"/>
              </a:rPr>
              <a:t>of</a:t>
            </a:r>
            <a:r>
              <a:rPr lang="vi-VN" sz="2600">
                <a:ea typeface="+mn-lt"/>
                <a:cs typeface="+mn-lt"/>
              </a:rPr>
              <a:t> </a:t>
            </a:r>
            <a:r>
              <a:rPr lang="vi-VN" sz="2600" err="1">
                <a:ea typeface="+mn-lt"/>
                <a:cs typeface="+mn-lt"/>
              </a:rPr>
              <a:t>hypernetworks</a:t>
            </a:r>
            <a:r>
              <a:rPr lang="vi-VN" sz="2600">
                <a:ea typeface="+mn-lt"/>
                <a:cs typeface="+mn-lt"/>
              </a:rPr>
              <a:t> </a:t>
            </a:r>
            <a:r>
              <a:rPr lang="vi-VN" sz="2600" err="1">
                <a:ea typeface="+mn-lt"/>
                <a:cs typeface="+mn-lt"/>
              </a:rPr>
              <a:t>and</a:t>
            </a:r>
            <a:r>
              <a:rPr lang="vi-VN" sz="2600">
                <a:ea typeface="+mn-lt"/>
                <a:cs typeface="+mn-lt"/>
              </a:rPr>
              <a:t> GNN </a:t>
            </a:r>
            <a:r>
              <a:rPr lang="vi-VN" sz="2600" err="1">
                <a:ea typeface="+mn-lt"/>
                <a:cs typeface="+mn-lt"/>
              </a:rPr>
              <a:t>across</a:t>
            </a:r>
            <a:r>
              <a:rPr lang="vi-VN" sz="2600">
                <a:ea typeface="+mn-lt"/>
                <a:cs typeface="+mn-lt"/>
              </a:rPr>
              <a:t> </a:t>
            </a:r>
            <a:r>
              <a:rPr lang="vi-VN" sz="2600" err="1">
                <a:ea typeface="+mn-lt"/>
                <a:cs typeface="+mn-lt"/>
              </a:rPr>
              <a:t>various</a:t>
            </a:r>
            <a:r>
              <a:rPr lang="vi-VN" sz="2600">
                <a:ea typeface="+mn-lt"/>
                <a:cs typeface="+mn-lt"/>
              </a:rPr>
              <a:t> </a:t>
            </a:r>
            <a:r>
              <a:rPr lang="vi-VN" sz="2600" err="1">
                <a:ea typeface="+mn-lt"/>
                <a:cs typeface="+mn-lt"/>
              </a:rPr>
              <a:t>item</a:t>
            </a:r>
            <a:r>
              <a:rPr lang="vi-VN" sz="2600">
                <a:ea typeface="+mn-lt"/>
                <a:cs typeface="+mn-lt"/>
              </a:rPr>
              <a:t> CTR </a:t>
            </a:r>
            <a:r>
              <a:rPr lang="vi-VN" sz="2600" err="1">
                <a:ea typeface="+mn-lt"/>
                <a:cs typeface="+mn-lt"/>
              </a:rPr>
              <a:t>prediction</a:t>
            </a:r>
            <a:r>
              <a:rPr lang="vi-VN" sz="2600">
                <a:ea typeface="+mn-lt"/>
                <a:cs typeface="+mn-lt"/>
              </a:rPr>
              <a:t> </a:t>
            </a:r>
            <a:r>
              <a:rPr lang="vi-VN" sz="2600" err="1">
                <a:ea typeface="+mn-lt"/>
                <a:cs typeface="+mn-lt"/>
              </a:rPr>
              <a:t>tasks</a:t>
            </a:r>
            <a:r>
              <a:rPr lang="vi-VN" sz="2600">
                <a:ea typeface="+mn-lt"/>
                <a:cs typeface="+mn-lt"/>
              </a:rPr>
              <a:t>, </a:t>
            </a:r>
            <a:r>
              <a:rPr lang="vi-VN" sz="2600" err="1">
                <a:ea typeface="+mn-lt"/>
                <a:cs typeface="+mn-lt"/>
              </a:rPr>
              <a:t>while</a:t>
            </a:r>
            <a:r>
              <a:rPr lang="vi-VN" sz="2600">
                <a:ea typeface="+mn-lt"/>
                <a:cs typeface="+mn-lt"/>
              </a:rPr>
              <a:t> </a:t>
            </a:r>
            <a:r>
              <a:rPr lang="vi-VN" sz="2600" err="1">
                <a:ea typeface="+mn-lt"/>
                <a:cs typeface="+mn-lt"/>
              </a:rPr>
              <a:t>only</a:t>
            </a:r>
            <a:r>
              <a:rPr lang="vi-VN" sz="2600">
                <a:ea typeface="+mn-lt"/>
                <a:cs typeface="+mn-lt"/>
              </a:rPr>
              <a:t> </a:t>
            </a:r>
            <a:r>
              <a:rPr lang="vi-VN" sz="2600" err="1">
                <a:ea typeface="+mn-lt"/>
                <a:cs typeface="+mn-lt"/>
              </a:rPr>
              <a:t>adjusting</a:t>
            </a:r>
            <a:r>
              <a:rPr lang="vi-VN" sz="2600">
                <a:ea typeface="+mn-lt"/>
                <a:cs typeface="+mn-lt"/>
              </a:rPr>
              <a:t> a </a:t>
            </a:r>
            <a:r>
              <a:rPr lang="vi-VN" sz="2600" err="1">
                <a:ea typeface="+mn-lt"/>
                <a:cs typeface="+mn-lt"/>
              </a:rPr>
              <a:t>small</a:t>
            </a:r>
            <a:r>
              <a:rPr lang="vi-VN" sz="2600">
                <a:ea typeface="+mn-lt"/>
                <a:cs typeface="+mn-lt"/>
              </a:rPr>
              <a:t> </a:t>
            </a:r>
            <a:r>
              <a:rPr lang="vi-VN" sz="2600" err="1">
                <a:ea typeface="+mn-lt"/>
                <a:cs typeface="+mn-lt"/>
              </a:rPr>
              <a:t>set</a:t>
            </a:r>
            <a:r>
              <a:rPr lang="vi-VN" sz="2600">
                <a:ea typeface="+mn-lt"/>
                <a:cs typeface="+mn-lt"/>
              </a:rPr>
              <a:t> </a:t>
            </a:r>
            <a:r>
              <a:rPr lang="vi-VN" sz="2600" err="1">
                <a:ea typeface="+mn-lt"/>
                <a:cs typeface="+mn-lt"/>
              </a:rPr>
              <a:t>of</a:t>
            </a:r>
            <a:r>
              <a:rPr lang="vi-VN" sz="2600">
                <a:ea typeface="+mn-lt"/>
                <a:cs typeface="+mn-lt"/>
              </a:rPr>
              <a:t> </a:t>
            </a:r>
            <a:r>
              <a:rPr lang="vi-VN" sz="2600" err="1">
                <a:ea typeface="+mn-lt"/>
                <a:cs typeface="+mn-lt"/>
              </a:rPr>
              <a:t>item-specific</a:t>
            </a:r>
            <a:r>
              <a:rPr lang="vi-VN" sz="2600">
                <a:ea typeface="+mn-lt"/>
                <a:cs typeface="+mn-lt"/>
              </a:rPr>
              <a:t> </a:t>
            </a:r>
            <a:r>
              <a:rPr lang="vi-VN" sz="2600" err="1">
                <a:ea typeface="+mn-lt"/>
                <a:cs typeface="+mn-lt"/>
              </a:rPr>
              <a:t>parameters</a:t>
            </a:r>
            <a:r>
              <a:rPr lang="vi-VN" sz="2600">
                <a:ea typeface="+mn-lt"/>
                <a:cs typeface="+mn-lt"/>
              </a:rPr>
              <a:t> </a:t>
            </a:r>
            <a:r>
              <a:rPr lang="vi-VN" sz="2600" err="1">
                <a:ea typeface="+mn-lt"/>
                <a:cs typeface="+mn-lt"/>
              </a:rPr>
              <a:t>within</a:t>
            </a:r>
            <a:r>
              <a:rPr lang="vi-VN" sz="2600">
                <a:ea typeface="+mn-lt"/>
                <a:cs typeface="+mn-lt"/>
              </a:rPr>
              <a:t> </a:t>
            </a:r>
            <a:r>
              <a:rPr lang="vi-VN" sz="2600" err="1">
                <a:ea typeface="+mn-lt"/>
                <a:cs typeface="+mn-lt"/>
              </a:rPr>
              <a:t>each</a:t>
            </a:r>
            <a:r>
              <a:rPr lang="vi-VN" sz="2600">
                <a:ea typeface="+mn-lt"/>
                <a:cs typeface="+mn-lt"/>
              </a:rPr>
              <a:t> task:</a:t>
            </a:r>
            <a:endParaRPr lang="vi-VN" sz="2600">
              <a:ea typeface="Lato"/>
              <a:cs typeface="Lato"/>
            </a:endParaRPr>
          </a:p>
        </p:txBody>
      </p:sp>
      <p:pic>
        <p:nvPicPr>
          <p:cNvPr id="4" name="Hình ảnh 3" descr="Ảnh có chứa văn bản, Phông chữ, màu trắng, chữ viết tay&#10;&#10;Mô tả được tự động tạo">
            <a:extLst>
              <a:ext uri="{FF2B5EF4-FFF2-40B4-BE49-F238E27FC236}">
                <a16:creationId xmlns:a16="http://schemas.microsoft.com/office/drawing/2014/main" id="{23821322-03B1-A384-11E1-7D3F2F975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2433" y="1466090"/>
            <a:ext cx="6309831" cy="1407906"/>
          </a:xfrm>
          <a:prstGeom prst="rect">
            <a:avLst/>
          </a:prstGeom>
        </p:spPr>
      </p:pic>
      <p:pic>
        <p:nvPicPr>
          <p:cNvPr id="7" name="Hình ảnh 6" descr="Ảnh có chứa văn bản, ảnh chụp màn hình, Phông chữ, số&#10;&#10;Mô tả được tự động tạo">
            <a:extLst>
              <a:ext uri="{FF2B5EF4-FFF2-40B4-BE49-F238E27FC236}">
                <a16:creationId xmlns:a16="http://schemas.microsoft.com/office/drawing/2014/main" id="{6E42C4F9-0B05-2D64-145F-7D7AB13B5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053" y="3101215"/>
            <a:ext cx="4464328" cy="3582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5476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CBE5D70-FA86-5E14-F888-9E7E62B77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>
                <a:ea typeface="Questrial"/>
                <a:cs typeface="Questrial"/>
              </a:rPr>
              <a:t>4. </a:t>
            </a:r>
            <a:r>
              <a:rPr lang="vi-VN" b="1" err="1">
                <a:ea typeface="Questrial"/>
                <a:cs typeface="Questrial"/>
              </a:rPr>
              <a:t>Cold</a:t>
            </a:r>
            <a:r>
              <a:rPr lang="vi-VN" b="1">
                <a:ea typeface="Questrial"/>
                <a:cs typeface="Questrial"/>
              </a:rPr>
              <a:t> </a:t>
            </a:r>
            <a:r>
              <a:rPr lang="vi-VN" b="1" err="1">
                <a:ea typeface="Questrial"/>
                <a:cs typeface="Questrial"/>
              </a:rPr>
              <a:t>Start</a:t>
            </a:r>
            <a:r>
              <a:rPr lang="vi-VN" b="1">
                <a:ea typeface="Questrial"/>
                <a:cs typeface="Questrial"/>
              </a:rPr>
              <a:t> </a:t>
            </a:r>
            <a:r>
              <a:rPr lang="vi-VN" b="1" err="1">
                <a:ea typeface="Questrial"/>
                <a:cs typeface="Questrial"/>
              </a:rPr>
              <a:t>Problem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82F8F078-DA9F-8284-994E-BAEA63CCB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1190"/>
            <a:ext cx="1115612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buNone/>
            </a:pPr>
            <a:r>
              <a:rPr lang="vi-VN" sz="2400" err="1">
                <a:ea typeface="+mn-lt"/>
                <a:cs typeface="+mn-lt"/>
              </a:rPr>
              <a:t>Modification</a:t>
            </a:r>
            <a:r>
              <a:rPr lang="vi-VN" sz="2400">
                <a:ea typeface="+mn-lt"/>
                <a:cs typeface="+mn-lt"/>
              </a:rPr>
              <a:t>:</a:t>
            </a:r>
          </a:p>
          <a:p>
            <a:pPr algn="just">
              <a:buNone/>
            </a:pPr>
            <a:r>
              <a:rPr lang="vi-VN" sz="2400" err="1">
                <a:ea typeface="Lato"/>
                <a:cs typeface="Lato"/>
              </a:rPr>
              <a:t>EmerG</a:t>
            </a:r>
            <a:r>
              <a:rPr lang="vi-VN" sz="2400">
                <a:ea typeface="Lato"/>
                <a:cs typeface="Lato"/>
              </a:rPr>
              <a:t> </a:t>
            </a:r>
            <a:r>
              <a:rPr lang="vi-VN" sz="2400" err="1">
                <a:ea typeface="Lato"/>
                <a:cs typeface="Lato"/>
              </a:rPr>
              <a:t>is</a:t>
            </a:r>
            <a:r>
              <a:rPr lang="vi-VN" sz="2400">
                <a:ea typeface="Lato"/>
                <a:cs typeface="Lato"/>
              </a:rPr>
              <a:t> </a:t>
            </a:r>
            <a:r>
              <a:rPr lang="vi-VN" sz="2400" err="1">
                <a:ea typeface="Lato"/>
                <a:cs typeface="Lato"/>
              </a:rPr>
              <a:t>designed</a:t>
            </a:r>
            <a:r>
              <a:rPr lang="vi-VN" sz="2400">
                <a:ea typeface="Lato"/>
                <a:cs typeface="Lato"/>
              </a:rPr>
              <a:t> to </a:t>
            </a:r>
            <a:r>
              <a:rPr lang="vi-VN" sz="2400" err="1">
                <a:ea typeface="Lato"/>
                <a:cs typeface="Lato"/>
              </a:rPr>
              <a:t>predict</a:t>
            </a:r>
            <a:r>
              <a:rPr lang="vi-VN" sz="2400">
                <a:ea typeface="Lato"/>
                <a:cs typeface="Lato"/>
              </a:rPr>
              <a:t> </a:t>
            </a:r>
            <a:r>
              <a:rPr lang="vi-VN" sz="2400" err="1">
                <a:ea typeface="Lato"/>
                <a:cs typeface="Lato"/>
              </a:rPr>
              <a:t>Click-through</a:t>
            </a:r>
            <a:r>
              <a:rPr lang="vi-VN" sz="2400">
                <a:ea typeface="Lato"/>
                <a:cs typeface="Lato"/>
              </a:rPr>
              <a:t> </a:t>
            </a:r>
            <a:r>
              <a:rPr lang="vi-VN" sz="2400" err="1">
                <a:ea typeface="Lato"/>
                <a:cs typeface="Lato"/>
              </a:rPr>
              <a:t>Rate</a:t>
            </a:r>
            <a:r>
              <a:rPr lang="vi-VN" sz="2400">
                <a:ea typeface="Lato"/>
                <a:cs typeface="Lato"/>
              </a:rPr>
              <a:t> (CTR). </a:t>
            </a:r>
            <a:r>
              <a:rPr lang="vi-VN" sz="2400" err="1">
                <a:ea typeface="Lato"/>
                <a:cs typeface="Lato"/>
              </a:rPr>
              <a:t>Which</a:t>
            </a:r>
            <a:r>
              <a:rPr lang="vi-VN" sz="2400">
                <a:ea typeface="Lato"/>
                <a:cs typeface="Lato"/>
              </a:rPr>
              <a:t> </a:t>
            </a:r>
            <a:r>
              <a:rPr lang="vi-VN" sz="2400" err="1">
                <a:ea typeface="Lato"/>
                <a:cs typeface="Lato"/>
              </a:rPr>
              <a:t>estimate</a:t>
            </a:r>
            <a:r>
              <a:rPr lang="vi-VN" sz="2400">
                <a:ea typeface="Lato"/>
                <a:cs typeface="Lato"/>
              </a:rPr>
              <a:t> the </a:t>
            </a:r>
            <a:r>
              <a:rPr lang="vi-VN" sz="2400" err="1">
                <a:ea typeface="Lato"/>
                <a:cs typeface="Lato"/>
              </a:rPr>
              <a:t>probability</a:t>
            </a:r>
            <a:r>
              <a:rPr lang="vi-VN" sz="2400">
                <a:ea typeface="Lato"/>
                <a:cs typeface="Lato"/>
              </a:rPr>
              <a:t> </a:t>
            </a:r>
            <a:r>
              <a:rPr lang="vi-VN" sz="2400" err="1">
                <a:ea typeface="Lato"/>
                <a:cs typeface="Lato"/>
              </a:rPr>
              <a:t>that</a:t>
            </a:r>
            <a:r>
              <a:rPr lang="vi-VN" sz="2400">
                <a:ea typeface="Lato"/>
                <a:cs typeface="Lato"/>
              </a:rPr>
              <a:t> a </a:t>
            </a:r>
            <a:r>
              <a:rPr lang="vi-VN" sz="2400" err="1">
                <a:ea typeface="Lato"/>
                <a:cs typeface="Lato"/>
              </a:rPr>
              <a:t>user</a:t>
            </a:r>
            <a:r>
              <a:rPr lang="vi-VN" sz="2400">
                <a:ea typeface="Lato"/>
                <a:cs typeface="Lato"/>
              </a:rPr>
              <a:t> </a:t>
            </a:r>
            <a:r>
              <a:rPr lang="vi-VN" sz="2400" err="1">
                <a:ea typeface="Lato"/>
                <a:cs typeface="Lato"/>
              </a:rPr>
              <a:t>click</a:t>
            </a:r>
            <a:r>
              <a:rPr lang="vi-VN" sz="2400">
                <a:ea typeface="Lato"/>
                <a:cs typeface="Lato"/>
              </a:rPr>
              <a:t> </a:t>
            </a:r>
            <a:r>
              <a:rPr lang="vi-VN" sz="2400" err="1">
                <a:ea typeface="Lato"/>
                <a:cs typeface="Lato"/>
              </a:rPr>
              <a:t>on</a:t>
            </a:r>
            <a:r>
              <a:rPr lang="vi-VN" sz="2400">
                <a:ea typeface="Lato"/>
                <a:cs typeface="Lato"/>
              </a:rPr>
              <a:t> </a:t>
            </a:r>
            <a:r>
              <a:rPr lang="vi-VN" sz="2400" err="1">
                <a:ea typeface="Lato"/>
                <a:cs typeface="Lato"/>
              </a:rPr>
              <a:t>or</a:t>
            </a:r>
            <a:r>
              <a:rPr lang="vi-VN" sz="2400">
                <a:ea typeface="Lato"/>
                <a:cs typeface="Lato"/>
              </a:rPr>
              <a:t> </a:t>
            </a:r>
            <a:r>
              <a:rPr lang="vi-VN" sz="2400" err="1">
                <a:ea typeface="Lato"/>
                <a:cs typeface="Lato"/>
              </a:rPr>
              <a:t>choose</a:t>
            </a:r>
            <a:r>
              <a:rPr lang="vi-VN" sz="2400">
                <a:ea typeface="Lato"/>
                <a:cs typeface="Lato"/>
              </a:rPr>
              <a:t> an </a:t>
            </a:r>
            <a:r>
              <a:rPr lang="vi-VN" sz="2400" err="1">
                <a:ea typeface="Lato"/>
                <a:cs typeface="Lato"/>
              </a:rPr>
              <a:t>item</a:t>
            </a:r>
            <a:r>
              <a:rPr lang="vi-VN" sz="2400">
                <a:ea typeface="Lato"/>
                <a:cs typeface="Lato"/>
              </a:rPr>
              <a:t>, </a:t>
            </a:r>
            <a:r>
              <a:rPr lang="vi-VN" sz="2400" err="1">
                <a:ea typeface="Lato"/>
                <a:cs typeface="Lato"/>
              </a:rPr>
              <a:t>such</a:t>
            </a:r>
            <a:r>
              <a:rPr lang="vi-VN" sz="2400">
                <a:ea typeface="Lato"/>
                <a:cs typeface="Lato"/>
              </a:rPr>
              <a:t> </a:t>
            </a:r>
            <a:r>
              <a:rPr lang="vi-VN" sz="2400" err="1">
                <a:ea typeface="Lato"/>
                <a:cs typeface="Lato"/>
              </a:rPr>
              <a:t>as</a:t>
            </a:r>
            <a:r>
              <a:rPr lang="vi-VN" sz="2400">
                <a:ea typeface="Lato"/>
                <a:cs typeface="Lato"/>
              </a:rPr>
              <a:t> </a:t>
            </a:r>
            <a:r>
              <a:rPr lang="vi-VN" sz="2400" err="1">
                <a:ea typeface="Lato"/>
                <a:cs typeface="Lato"/>
              </a:rPr>
              <a:t>movie</a:t>
            </a:r>
            <a:r>
              <a:rPr lang="vi-VN" sz="2400">
                <a:ea typeface="Lato"/>
                <a:cs typeface="Lato"/>
              </a:rPr>
              <a:t>, to </a:t>
            </a:r>
            <a:r>
              <a:rPr lang="vi-VN" sz="2400" err="1">
                <a:ea typeface="Lato"/>
                <a:cs typeface="Lato"/>
              </a:rPr>
              <a:t>watch</a:t>
            </a:r>
            <a:r>
              <a:rPr lang="vi-VN" sz="2400">
                <a:ea typeface="Lato"/>
                <a:cs typeface="Lato"/>
              </a:rPr>
              <a:t>.</a:t>
            </a:r>
          </a:p>
          <a:p>
            <a:pPr algn="just">
              <a:buNone/>
            </a:pPr>
            <a:r>
              <a:rPr lang="vi-VN" sz="2400">
                <a:ea typeface="Lato"/>
                <a:cs typeface="Lato"/>
              </a:rPr>
              <a:t>The </a:t>
            </a:r>
            <a:r>
              <a:rPr lang="vi-VN" sz="2400" err="1">
                <a:ea typeface="Lato"/>
                <a:cs typeface="Lato"/>
              </a:rPr>
              <a:t>label</a:t>
            </a:r>
            <a:r>
              <a:rPr lang="vi-VN" sz="2400">
                <a:ea typeface="Lato"/>
                <a:cs typeface="Lato"/>
              </a:rPr>
              <a:t> </a:t>
            </a:r>
            <a:r>
              <a:rPr lang="vi-VN" sz="2400" err="1">
                <a:ea typeface="Lato"/>
                <a:cs typeface="Lato"/>
              </a:rPr>
              <a:t>result</a:t>
            </a:r>
            <a:r>
              <a:rPr lang="vi-VN" sz="2400">
                <a:ea typeface="Lato"/>
                <a:cs typeface="Lato"/>
              </a:rPr>
              <a:t> </a:t>
            </a:r>
            <a:r>
              <a:rPr lang="vi-VN" sz="2400" err="1">
                <a:ea typeface="Lato"/>
                <a:cs typeface="Lato"/>
              </a:rPr>
              <a:t>only</a:t>
            </a:r>
            <a:r>
              <a:rPr lang="vi-VN" sz="2400">
                <a:ea typeface="Lato"/>
                <a:cs typeface="Lato"/>
              </a:rPr>
              <a:t> 1 (</a:t>
            </a:r>
            <a:r>
              <a:rPr lang="vi-VN" sz="2400" err="1">
                <a:ea typeface="Lato"/>
                <a:cs typeface="Lato"/>
              </a:rPr>
              <a:t>click</a:t>
            </a:r>
            <a:r>
              <a:rPr lang="vi-VN" sz="2400">
                <a:ea typeface="Lato"/>
                <a:cs typeface="Lato"/>
              </a:rPr>
              <a:t>) </a:t>
            </a:r>
            <a:r>
              <a:rPr lang="vi-VN" sz="2400" err="1">
                <a:ea typeface="Lato"/>
                <a:cs typeface="Lato"/>
              </a:rPr>
              <a:t>or</a:t>
            </a:r>
            <a:r>
              <a:rPr lang="vi-VN" sz="2400">
                <a:ea typeface="Lato"/>
                <a:cs typeface="Lato"/>
              </a:rPr>
              <a:t> 0 (</a:t>
            </a:r>
            <a:r>
              <a:rPr lang="vi-VN" sz="2400" err="1">
                <a:ea typeface="Lato"/>
                <a:cs typeface="Lato"/>
              </a:rPr>
              <a:t>not</a:t>
            </a:r>
            <a:r>
              <a:rPr lang="vi-VN" sz="2400">
                <a:ea typeface="Lato"/>
                <a:cs typeface="Lato"/>
              </a:rPr>
              <a:t> </a:t>
            </a:r>
            <a:r>
              <a:rPr lang="vi-VN" sz="2400" err="1">
                <a:ea typeface="Lato"/>
                <a:cs typeface="Lato"/>
              </a:rPr>
              <a:t>click</a:t>
            </a:r>
            <a:r>
              <a:rPr lang="vi-VN" sz="2400">
                <a:ea typeface="Lato"/>
                <a:cs typeface="Lato"/>
              </a:rPr>
              <a:t>), so </a:t>
            </a:r>
            <a:r>
              <a:rPr lang="vi-VN" sz="2400" err="1">
                <a:ea typeface="Lato"/>
                <a:cs typeface="Lato"/>
              </a:rPr>
              <a:t>we</a:t>
            </a:r>
            <a:r>
              <a:rPr lang="vi-VN" sz="2400">
                <a:ea typeface="Lato"/>
                <a:cs typeface="Lato"/>
              </a:rPr>
              <a:t> </a:t>
            </a:r>
            <a:r>
              <a:rPr lang="vi-VN" sz="2400" err="1">
                <a:ea typeface="Lato"/>
                <a:cs typeface="Lato"/>
              </a:rPr>
              <a:t>need</a:t>
            </a:r>
            <a:r>
              <a:rPr lang="vi-VN" sz="2400">
                <a:ea typeface="Lato"/>
                <a:cs typeface="Lato"/>
              </a:rPr>
              <a:t> to </a:t>
            </a:r>
            <a:r>
              <a:rPr lang="vi-VN" sz="2400" err="1">
                <a:ea typeface="Lato"/>
                <a:cs typeface="Lato"/>
              </a:rPr>
              <a:t>modify</a:t>
            </a:r>
            <a:r>
              <a:rPr lang="vi-VN" sz="2400">
                <a:ea typeface="Lato"/>
                <a:cs typeface="Lato"/>
              </a:rPr>
              <a:t> to the </a:t>
            </a:r>
            <a:r>
              <a:rPr lang="vi-VN" sz="2400" err="1">
                <a:ea typeface="Lato"/>
                <a:cs typeface="Lato"/>
              </a:rPr>
              <a:t>predict</a:t>
            </a:r>
            <a:r>
              <a:rPr lang="vi-VN" sz="2400">
                <a:ea typeface="Lato"/>
                <a:cs typeface="Lato"/>
              </a:rPr>
              <a:t> </a:t>
            </a:r>
            <a:r>
              <a:rPr lang="vi-VN" sz="2400" err="1">
                <a:ea typeface="Lato"/>
                <a:cs typeface="Lato"/>
              </a:rPr>
              <a:t>top</a:t>
            </a:r>
            <a:r>
              <a:rPr lang="vi-VN" sz="2400">
                <a:ea typeface="Lato"/>
                <a:cs typeface="Lato"/>
              </a:rPr>
              <a:t>-k </a:t>
            </a:r>
            <a:r>
              <a:rPr lang="vi-VN" sz="2400" err="1">
                <a:ea typeface="Lato"/>
                <a:cs typeface="Lato"/>
              </a:rPr>
              <a:t>movie</a:t>
            </a:r>
            <a:r>
              <a:rPr lang="vi-VN" sz="2400">
                <a:ea typeface="Lato"/>
                <a:cs typeface="Lato"/>
              </a:rPr>
              <a:t> </a:t>
            </a:r>
            <a:r>
              <a:rPr lang="vi-VN" sz="2400" err="1">
                <a:ea typeface="Lato"/>
                <a:cs typeface="Lato"/>
              </a:rPr>
              <a:t>problem</a:t>
            </a:r>
            <a:r>
              <a:rPr lang="vi-VN" sz="2400">
                <a:ea typeface="Lato"/>
                <a:cs typeface="Lato"/>
              </a:rPr>
              <a:t> </a:t>
            </a:r>
            <a:r>
              <a:rPr lang="vi-VN" sz="2400" err="1">
                <a:ea typeface="Lato"/>
                <a:cs typeface="Lato"/>
              </a:rPr>
              <a:t>as</a:t>
            </a:r>
            <a:r>
              <a:rPr lang="vi-VN" sz="2400">
                <a:ea typeface="Lato"/>
                <a:cs typeface="Lato"/>
              </a:rPr>
              <a:t> </a:t>
            </a:r>
            <a:r>
              <a:rPr lang="vi-VN" sz="2400" err="1">
                <a:ea typeface="Lato"/>
                <a:cs typeface="Lato"/>
              </a:rPr>
              <a:t>we</a:t>
            </a:r>
            <a:r>
              <a:rPr lang="vi-VN" sz="2400">
                <a:ea typeface="Lato"/>
                <a:cs typeface="Lato"/>
              </a:rPr>
              <a:t> </a:t>
            </a:r>
            <a:r>
              <a:rPr lang="vi-VN" sz="2400" err="1">
                <a:ea typeface="Lato"/>
                <a:cs typeface="Lato"/>
              </a:rPr>
              <a:t>proposed</a:t>
            </a:r>
            <a:r>
              <a:rPr lang="vi-VN" sz="2400">
                <a:ea typeface="Lato"/>
                <a:cs typeface="Lato"/>
              </a:rPr>
              <a:t>.</a:t>
            </a:r>
          </a:p>
          <a:p>
            <a:pPr algn="just">
              <a:buNone/>
            </a:pPr>
            <a:r>
              <a:rPr lang="vi-VN" sz="2400" err="1">
                <a:ea typeface="Lato"/>
                <a:cs typeface="Lato"/>
              </a:rPr>
              <a:t>We</a:t>
            </a:r>
            <a:r>
              <a:rPr lang="vi-VN" sz="2400">
                <a:ea typeface="Lato"/>
                <a:cs typeface="Lato"/>
              </a:rPr>
              <a:t> </a:t>
            </a:r>
            <a:r>
              <a:rPr lang="vi-VN" sz="2400" err="1">
                <a:ea typeface="Lato"/>
                <a:cs typeface="Lato"/>
              </a:rPr>
              <a:t>will</a:t>
            </a:r>
            <a:r>
              <a:rPr lang="vi-VN" sz="2400">
                <a:ea typeface="Lato"/>
                <a:cs typeface="Lato"/>
              </a:rPr>
              <a:t> </a:t>
            </a:r>
            <a:r>
              <a:rPr lang="vi-VN" sz="2400" err="1">
                <a:ea typeface="Lato"/>
                <a:cs typeface="Lato"/>
              </a:rPr>
              <a:t>train</a:t>
            </a:r>
            <a:r>
              <a:rPr lang="vi-VN" sz="2400">
                <a:ea typeface="Lato"/>
                <a:cs typeface="Lato"/>
              </a:rPr>
              <a:t> </a:t>
            </a:r>
            <a:r>
              <a:rPr lang="vi-VN" sz="2400" err="1">
                <a:ea typeface="Lato"/>
                <a:cs typeface="Lato"/>
              </a:rPr>
              <a:t>item</a:t>
            </a:r>
            <a:r>
              <a:rPr lang="vi-VN" sz="2400">
                <a:ea typeface="Lato"/>
                <a:cs typeface="Lato"/>
              </a:rPr>
              <a:t> </a:t>
            </a:r>
            <a:r>
              <a:rPr lang="vi-VN" sz="2400" err="1">
                <a:ea typeface="Lato"/>
                <a:cs typeface="Lato"/>
              </a:rPr>
              <a:t>that</a:t>
            </a:r>
            <a:r>
              <a:rPr lang="vi-VN" sz="2400">
                <a:ea typeface="Lato"/>
                <a:cs typeface="Lato"/>
              </a:rPr>
              <a:t> </a:t>
            </a:r>
            <a:r>
              <a:rPr lang="vi-VN" sz="2400" err="1">
                <a:ea typeface="Lato"/>
                <a:cs typeface="Lato"/>
              </a:rPr>
              <a:t>labels</a:t>
            </a:r>
            <a:r>
              <a:rPr lang="vi-VN" sz="2400">
                <a:ea typeface="Lato"/>
                <a:cs typeface="Lato"/>
              </a:rPr>
              <a:t> 5 (</a:t>
            </a:r>
            <a:r>
              <a:rPr lang="vi-VN" sz="2400" err="1">
                <a:ea typeface="Lato"/>
                <a:cs typeface="Lato"/>
              </a:rPr>
              <a:t>highest</a:t>
            </a:r>
            <a:r>
              <a:rPr lang="vi-VN" sz="2400">
                <a:ea typeface="Lato"/>
                <a:cs typeface="Lato"/>
              </a:rPr>
              <a:t>) </a:t>
            </a:r>
            <a:r>
              <a:rPr lang="vi-VN" sz="2400" err="1">
                <a:ea typeface="Lato"/>
                <a:cs typeface="Lato"/>
              </a:rPr>
              <a:t>as</a:t>
            </a:r>
            <a:r>
              <a:rPr lang="vi-VN" sz="2400">
                <a:ea typeface="Lato"/>
                <a:cs typeface="Lato"/>
              </a:rPr>
              <a:t> 1, </a:t>
            </a:r>
            <a:r>
              <a:rPr lang="vi-VN" sz="2400" err="1">
                <a:ea typeface="Lato"/>
                <a:cs typeface="Lato"/>
              </a:rPr>
              <a:t>and</a:t>
            </a:r>
            <a:r>
              <a:rPr lang="vi-VN" sz="2400">
                <a:ea typeface="Lato"/>
                <a:cs typeface="Lato"/>
              </a:rPr>
              <a:t> </a:t>
            </a:r>
            <a:r>
              <a:rPr lang="vi-VN" sz="2400" err="1">
                <a:ea typeface="Lato"/>
                <a:cs typeface="Lato"/>
              </a:rPr>
              <a:t>remain</a:t>
            </a:r>
            <a:r>
              <a:rPr lang="vi-VN" sz="2400">
                <a:ea typeface="Lato"/>
                <a:cs typeface="Lato"/>
              </a:rPr>
              <a:t> </a:t>
            </a:r>
            <a:r>
              <a:rPr lang="vi-VN" sz="2400" err="1">
                <a:ea typeface="Lato"/>
                <a:cs typeface="Lato"/>
              </a:rPr>
              <a:t>as</a:t>
            </a:r>
            <a:r>
              <a:rPr lang="vi-VN" sz="2400">
                <a:ea typeface="Lato"/>
                <a:cs typeface="Lato"/>
              </a:rPr>
              <a:t> 0, </a:t>
            </a:r>
            <a:r>
              <a:rPr lang="vi-VN" sz="2400" err="1">
                <a:ea typeface="Lato"/>
                <a:cs typeface="Lato"/>
              </a:rPr>
              <a:t>take</a:t>
            </a:r>
            <a:r>
              <a:rPr lang="vi-VN" sz="2400">
                <a:ea typeface="Lato"/>
                <a:cs typeface="Lato"/>
              </a:rPr>
              <a:t> </a:t>
            </a:r>
            <a:r>
              <a:rPr lang="vi-VN" sz="2400" err="1">
                <a:ea typeface="Lato"/>
                <a:cs typeface="Lato"/>
              </a:rPr>
              <a:t>top</a:t>
            </a:r>
            <a:r>
              <a:rPr lang="vi-VN" sz="2400">
                <a:ea typeface="Lato"/>
                <a:cs typeface="Lato"/>
              </a:rPr>
              <a:t>-K </a:t>
            </a:r>
            <a:r>
              <a:rPr lang="vi-VN" sz="2400" err="1">
                <a:ea typeface="Lato"/>
                <a:cs typeface="Lato"/>
              </a:rPr>
              <a:t>highest</a:t>
            </a:r>
            <a:r>
              <a:rPr lang="vi-VN" sz="2400">
                <a:ea typeface="Lato"/>
                <a:cs typeface="Lato"/>
              </a:rPr>
              <a:t> </a:t>
            </a:r>
            <a:r>
              <a:rPr lang="vi-VN" sz="2400" err="1">
                <a:ea typeface="Lato"/>
                <a:cs typeface="Lato"/>
              </a:rPr>
              <a:t>click</a:t>
            </a:r>
            <a:r>
              <a:rPr lang="vi-VN" sz="2400">
                <a:ea typeface="Lato"/>
                <a:cs typeface="Lato"/>
              </a:rPr>
              <a:t> </a:t>
            </a:r>
            <a:r>
              <a:rPr lang="vi-VN" sz="2400" err="1">
                <a:ea typeface="Lato"/>
                <a:cs typeface="Lato"/>
              </a:rPr>
              <a:t>rate</a:t>
            </a:r>
            <a:r>
              <a:rPr lang="vi-VN" sz="2400">
                <a:ea typeface="Lato"/>
                <a:cs typeface="Lato"/>
              </a:rPr>
              <a:t> </a:t>
            </a:r>
            <a:r>
              <a:rPr lang="vi-VN" sz="2400" err="1">
                <a:ea typeface="Lato"/>
                <a:cs typeface="Lato"/>
              </a:rPr>
              <a:t>movie</a:t>
            </a:r>
            <a:r>
              <a:rPr lang="vi-VN" sz="2400">
                <a:ea typeface="Lato"/>
                <a:cs typeface="Lato"/>
              </a:rPr>
              <a:t> to </a:t>
            </a:r>
            <a:r>
              <a:rPr lang="vi-VN" sz="2400" err="1">
                <a:ea typeface="Lato"/>
                <a:cs typeface="Lato"/>
              </a:rPr>
              <a:t>predict</a:t>
            </a:r>
            <a:r>
              <a:rPr lang="vi-VN" sz="2400">
                <a:ea typeface="Lato"/>
                <a:cs typeface="Lato"/>
              </a:rPr>
              <a:t> </a:t>
            </a:r>
            <a:r>
              <a:rPr lang="vi-VN" sz="2400" err="1">
                <a:ea typeface="Lato"/>
                <a:cs typeface="Lato"/>
              </a:rPr>
              <a:t>and</a:t>
            </a:r>
            <a:r>
              <a:rPr lang="vi-VN" sz="2400">
                <a:ea typeface="Lato"/>
                <a:cs typeface="Lato"/>
              </a:rPr>
              <a:t> </a:t>
            </a:r>
            <a:r>
              <a:rPr lang="vi-VN" sz="2400" err="1">
                <a:ea typeface="Lato"/>
                <a:cs typeface="Lato"/>
              </a:rPr>
              <a:t>evaluate</a:t>
            </a:r>
            <a:r>
              <a:rPr lang="vi-VN" sz="2400">
                <a:ea typeface="Lato"/>
                <a:cs typeface="Lato"/>
              </a:rPr>
              <a:t> </a:t>
            </a:r>
            <a:r>
              <a:rPr lang="vi-VN" sz="2400" err="1">
                <a:ea typeface="Lato"/>
                <a:cs typeface="Lato"/>
              </a:rPr>
              <a:t>Precision@K</a:t>
            </a:r>
            <a:r>
              <a:rPr lang="vi-VN" sz="2400">
                <a:ea typeface="Lato"/>
                <a:cs typeface="Lato"/>
              </a:rPr>
              <a:t> </a:t>
            </a:r>
            <a:r>
              <a:rPr lang="vi-VN" sz="2400" err="1">
                <a:ea typeface="Lato"/>
                <a:cs typeface="Lato"/>
              </a:rPr>
              <a:t>and</a:t>
            </a:r>
            <a:r>
              <a:rPr lang="vi-VN" sz="2400">
                <a:ea typeface="Lato"/>
                <a:cs typeface="Lato"/>
              </a:rPr>
              <a:t> </a:t>
            </a:r>
            <a:r>
              <a:rPr lang="vi-VN" sz="2400" err="1">
                <a:ea typeface="Lato"/>
                <a:cs typeface="Lato"/>
              </a:rPr>
              <a:t>Recall@K</a:t>
            </a:r>
            <a:endParaRPr lang="vi-VN" sz="2400">
              <a:ea typeface="Lato"/>
              <a:cs typeface="Lato"/>
            </a:endParaRPr>
          </a:p>
          <a:p>
            <a:pPr algn="just">
              <a:buNone/>
            </a:pPr>
            <a:endParaRPr lang="vi-VN" sz="2000">
              <a:ea typeface="Lato"/>
              <a:cs typeface="Lato"/>
            </a:endParaRPr>
          </a:p>
          <a:p>
            <a:pPr marL="0" indent="0" algn="just">
              <a:buNone/>
            </a:pPr>
            <a:endParaRPr lang="vi-VN" sz="2000">
              <a:ea typeface="Lato"/>
              <a:cs typeface="Lato"/>
            </a:endParaRPr>
          </a:p>
        </p:txBody>
      </p:sp>
      <p:pic>
        <p:nvPicPr>
          <p:cNvPr id="4" name="Hình ảnh 3" descr="Ảnh có chứa văn bản, Phông chữ, màu trắng, hàng&#10;&#10;Mô tả được tự động tạo">
            <a:extLst>
              <a:ext uri="{FF2B5EF4-FFF2-40B4-BE49-F238E27FC236}">
                <a16:creationId xmlns:a16="http://schemas.microsoft.com/office/drawing/2014/main" id="{FB58A2B9-B003-F29B-2EEC-9A67DBEC3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474" y="4473350"/>
            <a:ext cx="11419115" cy="73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438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75DE5-E84C-8DC2-5851-6C6C7F352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Questrial"/>
                <a:cs typeface="Questrial"/>
              </a:rPr>
              <a:t>5. Experimental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0D918-4D20-E570-A834-3467E0031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29454" cy="41936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buNone/>
            </a:pPr>
            <a:r>
              <a:rPr lang="en-US" sz="2500" b="1">
                <a:highlight>
                  <a:srgbClr val="FFFFFF"/>
                </a:highlight>
                <a:ea typeface="Lato"/>
                <a:cs typeface="Lato"/>
              </a:rPr>
              <a:t>Cold Start Experiment:</a:t>
            </a:r>
          </a:p>
          <a:p>
            <a:pPr algn="just">
              <a:buFont typeface="Calibri" panose="020B0604020202020204" pitchFamily="34" charset="0"/>
              <a:buChar char="-"/>
            </a:pPr>
            <a:endParaRPr lang="en-US" sz="2500" b="1">
              <a:highlight>
                <a:srgbClr val="FFFFFF"/>
              </a:highlight>
              <a:ea typeface="Lato"/>
              <a:cs typeface="Lato"/>
            </a:endParaRPr>
          </a:p>
          <a:p>
            <a:pPr algn="just">
              <a:buNone/>
            </a:pPr>
            <a:endParaRPr lang="en-US" sz="2500" b="1">
              <a:highlight>
                <a:srgbClr val="FFFFFF"/>
              </a:highlight>
              <a:ea typeface="Lato"/>
              <a:cs typeface="Lato"/>
            </a:endParaRPr>
          </a:p>
        </p:txBody>
      </p:sp>
      <p:graphicFrame>
        <p:nvGraphicFramePr>
          <p:cNvPr id="6" name="Bảng 5">
            <a:extLst>
              <a:ext uri="{FF2B5EF4-FFF2-40B4-BE49-F238E27FC236}">
                <a16:creationId xmlns:a16="http://schemas.microsoft.com/office/drawing/2014/main" id="{5CA24CA2-2579-482D-BFEF-8F8200A301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9210"/>
              </p:ext>
            </p:extLst>
          </p:nvPr>
        </p:nvGraphicFramePr>
        <p:xfrm>
          <a:off x="1188720" y="2926080"/>
          <a:ext cx="9817074" cy="16052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33500">
                  <a:extLst>
                    <a:ext uri="{9D8B030D-6E8A-4147-A177-3AD203B41FA5}">
                      <a16:colId xmlns:a16="http://schemas.microsoft.com/office/drawing/2014/main" val="3000338045"/>
                    </a:ext>
                  </a:extLst>
                </a:gridCol>
                <a:gridCol w="1049862">
                  <a:extLst>
                    <a:ext uri="{9D8B030D-6E8A-4147-A177-3AD203B41FA5}">
                      <a16:colId xmlns:a16="http://schemas.microsoft.com/office/drawing/2014/main" val="774540488"/>
                    </a:ext>
                  </a:extLst>
                </a:gridCol>
                <a:gridCol w="897464">
                  <a:extLst>
                    <a:ext uri="{9D8B030D-6E8A-4147-A177-3AD203B41FA5}">
                      <a16:colId xmlns:a16="http://schemas.microsoft.com/office/drawing/2014/main" val="3038167626"/>
                    </a:ext>
                  </a:extLst>
                </a:gridCol>
                <a:gridCol w="1151464">
                  <a:extLst>
                    <a:ext uri="{9D8B030D-6E8A-4147-A177-3AD203B41FA5}">
                      <a16:colId xmlns:a16="http://schemas.microsoft.com/office/drawing/2014/main" val="1805066582"/>
                    </a:ext>
                  </a:extLst>
                </a:gridCol>
                <a:gridCol w="1164162">
                  <a:extLst>
                    <a:ext uri="{9D8B030D-6E8A-4147-A177-3AD203B41FA5}">
                      <a16:colId xmlns:a16="http://schemas.microsoft.com/office/drawing/2014/main" val="1016906078"/>
                    </a:ext>
                  </a:extLst>
                </a:gridCol>
                <a:gridCol w="1100663">
                  <a:extLst>
                    <a:ext uri="{9D8B030D-6E8A-4147-A177-3AD203B41FA5}">
                      <a16:colId xmlns:a16="http://schemas.microsoft.com/office/drawing/2014/main" val="800870566"/>
                    </a:ext>
                  </a:extLst>
                </a:gridCol>
                <a:gridCol w="960963">
                  <a:extLst>
                    <a:ext uri="{9D8B030D-6E8A-4147-A177-3AD203B41FA5}">
                      <a16:colId xmlns:a16="http://schemas.microsoft.com/office/drawing/2014/main" val="4279664669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242823600"/>
                    </a:ext>
                  </a:extLst>
                </a:gridCol>
                <a:gridCol w="990596">
                  <a:extLst>
                    <a:ext uri="{9D8B030D-6E8A-4147-A177-3AD203B41FA5}">
                      <a16:colId xmlns:a16="http://schemas.microsoft.com/office/drawing/2014/main" val="2835451547"/>
                    </a:ext>
                  </a:extLst>
                </a:gridCol>
              </a:tblGrid>
              <a:tr h="266700">
                <a:tc rowSpan="2">
                  <a:txBody>
                    <a:bodyPr/>
                    <a:lstStyle/>
                    <a:p>
                      <a:pPr algn="ctr" rtl="0" fontAlgn="t"/>
                      <a:r>
                        <a:rPr lang="vi-VN" sz="1800" b="1" i="0" u="none" strike="noStrike" err="1">
                          <a:solidFill>
                            <a:schemeClr val="tx1"/>
                          </a:solidFill>
                          <a:effectLst/>
                          <a:latin typeface="Lato"/>
                        </a:rPr>
                        <a:t>Model</a:t>
                      </a:r>
                      <a:endParaRPr lang="vi-VN" sz="1800" b="1">
                        <a:solidFill>
                          <a:schemeClr val="tx1"/>
                        </a:solidFill>
                        <a:effectLst/>
                        <a:latin typeface="Lato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t"/>
                      <a:r>
                        <a:rPr lang="vi-VN" sz="1800" b="1" i="0" u="none" strike="noStrike" err="1">
                          <a:solidFill>
                            <a:schemeClr val="tx1"/>
                          </a:solidFill>
                          <a:effectLst/>
                          <a:latin typeface="Lato"/>
                        </a:rPr>
                        <a:t>Cold</a:t>
                      </a:r>
                      <a:endParaRPr lang="vi-VN" sz="1800" b="1">
                        <a:solidFill>
                          <a:schemeClr val="tx1"/>
                        </a:solidFill>
                        <a:effectLst/>
                        <a:latin typeface="Lato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t"/>
                      <a:r>
                        <a:rPr lang="vi-VN" sz="1800" b="1" i="0" u="none" strike="noStrike" err="1">
                          <a:solidFill>
                            <a:schemeClr val="tx1"/>
                          </a:solidFill>
                          <a:effectLst/>
                          <a:latin typeface="Lato"/>
                        </a:rPr>
                        <a:t>Warm</a:t>
                      </a:r>
                      <a:r>
                        <a:rPr lang="vi-VN" sz="1800" b="1" i="0" u="none" strike="noStrike">
                          <a:solidFill>
                            <a:schemeClr val="tx1"/>
                          </a:solidFill>
                          <a:effectLst/>
                          <a:latin typeface="Lato"/>
                        </a:rPr>
                        <a:t>-A</a:t>
                      </a:r>
                      <a:endParaRPr lang="vi-VN" sz="1800" b="1">
                        <a:solidFill>
                          <a:schemeClr val="tx1"/>
                        </a:solidFill>
                        <a:effectLst/>
                        <a:latin typeface="Lato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t"/>
                      <a:r>
                        <a:rPr lang="vi-VN" sz="1800" b="1" i="0" u="none" strike="noStrike" err="1">
                          <a:solidFill>
                            <a:schemeClr val="tx1"/>
                          </a:solidFill>
                          <a:effectLst/>
                          <a:latin typeface="Lato"/>
                        </a:rPr>
                        <a:t>Warm</a:t>
                      </a:r>
                      <a:r>
                        <a:rPr lang="vi-VN" sz="1800" b="1" i="0" u="none" strike="noStrike">
                          <a:solidFill>
                            <a:schemeClr val="tx1"/>
                          </a:solidFill>
                          <a:effectLst/>
                          <a:latin typeface="Lato"/>
                        </a:rPr>
                        <a:t>-B</a:t>
                      </a:r>
                      <a:endParaRPr lang="vi-VN" sz="1800" b="1">
                        <a:solidFill>
                          <a:schemeClr val="tx1"/>
                        </a:solidFill>
                        <a:effectLst/>
                        <a:latin typeface="Lato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t"/>
                      <a:r>
                        <a:rPr lang="vi-VN" sz="1800" b="1" i="0" u="none" strike="noStrike" err="1">
                          <a:solidFill>
                            <a:schemeClr val="tx1"/>
                          </a:solidFill>
                          <a:effectLst/>
                          <a:latin typeface="Lato"/>
                        </a:rPr>
                        <a:t>Warm</a:t>
                      </a:r>
                      <a:r>
                        <a:rPr lang="vi-VN" sz="1800" b="1" i="0" u="none" strike="noStrike">
                          <a:solidFill>
                            <a:schemeClr val="tx1"/>
                          </a:solidFill>
                          <a:effectLst/>
                          <a:latin typeface="Lato"/>
                        </a:rPr>
                        <a:t>-C</a:t>
                      </a:r>
                      <a:endParaRPr lang="vi-VN" sz="1800" b="1">
                        <a:solidFill>
                          <a:schemeClr val="tx1"/>
                        </a:solidFill>
                        <a:effectLst/>
                        <a:latin typeface="Lato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584380"/>
                  </a:ext>
                </a:extLst>
              </a:tr>
              <a:tr h="266700"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vi-VN" sz="1800" b="1" i="0" u="none" strike="noStrike">
                          <a:solidFill>
                            <a:schemeClr val="tx1"/>
                          </a:solidFill>
                          <a:effectLst/>
                          <a:latin typeface="Lato"/>
                        </a:rPr>
                        <a:t>P@10</a:t>
                      </a:r>
                      <a:endParaRPr lang="vi-VN" sz="1800" b="1">
                        <a:solidFill>
                          <a:schemeClr val="tx1"/>
                        </a:solidFill>
                        <a:effectLst/>
                        <a:latin typeface="Lato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vi-VN" sz="1800" b="1" i="0" u="none" strike="noStrike">
                          <a:solidFill>
                            <a:schemeClr val="tx1"/>
                          </a:solidFill>
                          <a:effectLst/>
                          <a:latin typeface="Lato"/>
                        </a:rPr>
                        <a:t>R@10</a:t>
                      </a:r>
                      <a:endParaRPr lang="vi-VN" sz="1800" b="1">
                        <a:solidFill>
                          <a:schemeClr val="tx1"/>
                        </a:solidFill>
                        <a:effectLst/>
                        <a:latin typeface="Lato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vi-VN" sz="1800" b="1" i="0" u="none" strike="noStrike">
                          <a:solidFill>
                            <a:schemeClr val="tx1"/>
                          </a:solidFill>
                          <a:effectLst/>
                          <a:latin typeface="Lato"/>
                        </a:rPr>
                        <a:t>P@10</a:t>
                      </a:r>
                      <a:endParaRPr lang="vi-VN" sz="1800" b="1">
                        <a:solidFill>
                          <a:schemeClr val="tx1"/>
                        </a:solidFill>
                        <a:effectLst/>
                        <a:latin typeface="Lato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vi-VN" sz="1800" b="1" i="0" u="none" strike="noStrike">
                          <a:solidFill>
                            <a:schemeClr val="tx1"/>
                          </a:solidFill>
                          <a:effectLst/>
                          <a:latin typeface="Lato"/>
                        </a:rPr>
                        <a:t>R@10</a:t>
                      </a:r>
                      <a:endParaRPr lang="vi-VN" sz="1800" b="1">
                        <a:solidFill>
                          <a:schemeClr val="tx1"/>
                        </a:solidFill>
                        <a:effectLst/>
                        <a:latin typeface="Lato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vi-VN" sz="1800" b="1" i="0" u="none" strike="noStrike">
                          <a:solidFill>
                            <a:schemeClr val="tx1"/>
                          </a:solidFill>
                          <a:effectLst/>
                          <a:latin typeface="Lato"/>
                        </a:rPr>
                        <a:t>P@10</a:t>
                      </a:r>
                      <a:endParaRPr lang="vi-VN" sz="1800" b="1">
                        <a:solidFill>
                          <a:schemeClr val="tx1"/>
                        </a:solidFill>
                        <a:effectLst/>
                        <a:latin typeface="Lato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vi-VN" sz="1800" b="1" i="0" u="none" strike="noStrike">
                          <a:solidFill>
                            <a:schemeClr val="tx1"/>
                          </a:solidFill>
                          <a:effectLst/>
                          <a:latin typeface="Lato"/>
                        </a:rPr>
                        <a:t>R@10</a:t>
                      </a:r>
                      <a:endParaRPr lang="vi-VN" sz="1800" b="1">
                        <a:solidFill>
                          <a:schemeClr val="tx1"/>
                        </a:solidFill>
                        <a:effectLst/>
                        <a:latin typeface="Lato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vi-VN" sz="1800" b="1" i="0" u="none" strike="noStrike">
                          <a:solidFill>
                            <a:schemeClr val="tx1"/>
                          </a:solidFill>
                          <a:effectLst/>
                          <a:latin typeface="Lato"/>
                        </a:rPr>
                        <a:t>P@10</a:t>
                      </a:r>
                      <a:endParaRPr lang="vi-VN" sz="1800" b="1">
                        <a:solidFill>
                          <a:schemeClr val="tx1"/>
                        </a:solidFill>
                        <a:effectLst/>
                        <a:latin typeface="Lato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vi-VN" sz="1800" b="1" i="0" u="none" strike="noStrike">
                          <a:solidFill>
                            <a:schemeClr val="tx1"/>
                          </a:solidFill>
                          <a:effectLst/>
                          <a:latin typeface="Lato"/>
                        </a:rPr>
                        <a:t>R@10</a:t>
                      </a:r>
                      <a:endParaRPr lang="vi-VN" sz="1800" b="1">
                        <a:solidFill>
                          <a:schemeClr val="tx1"/>
                        </a:solidFill>
                        <a:effectLst/>
                        <a:latin typeface="Lato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1571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/>
                      <a:r>
                        <a:rPr lang="vi-VN" sz="1800" b="1" i="0" u="none" strike="noStrike" err="1">
                          <a:solidFill>
                            <a:schemeClr val="tx1"/>
                          </a:solidFill>
                          <a:effectLst/>
                          <a:latin typeface="Lato"/>
                        </a:rPr>
                        <a:t>LightGCN</a:t>
                      </a:r>
                      <a:endParaRPr lang="vi-VN" sz="1800" b="1">
                        <a:solidFill>
                          <a:schemeClr val="tx1"/>
                        </a:solidFill>
                        <a:effectLst/>
                        <a:latin typeface="Lato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vi-VN" sz="1800" b="0" i="0" u="none" strike="noStrike">
                          <a:solidFill>
                            <a:schemeClr val="tx1"/>
                          </a:solidFill>
                          <a:effectLst/>
                          <a:latin typeface="Lato"/>
                        </a:rPr>
                        <a:t>0.000</a:t>
                      </a:r>
                      <a:endParaRPr lang="vi-VN" sz="1800" b="0">
                        <a:solidFill>
                          <a:schemeClr val="tx1"/>
                        </a:solidFill>
                        <a:effectLst/>
                        <a:latin typeface="Lato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vi-VN" sz="1800" b="0" i="0" u="none" strike="noStrike">
                          <a:solidFill>
                            <a:schemeClr val="tx1"/>
                          </a:solidFill>
                          <a:effectLst/>
                          <a:latin typeface="Lato"/>
                        </a:rPr>
                        <a:t>0.000</a:t>
                      </a:r>
                      <a:endParaRPr lang="vi-VN" sz="1800" b="0">
                        <a:solidFill>
                          <a:schemeClr val="tx1"/>
                        </a:solidFill>
                        <a:effectLst/>
                        <a:latin typeface="Lato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vi-VN" sz="1800" b="0" i="0" u="none" strike="noStrike">
                          <a:solidFill>
                            <a:schemeClr val="tx1"/>
                          </a:solidFill>
                          <a:effectLst/>
                          <a:latin typeface="Lato"/>
                        </a:rPr>
                        <a:t>0.0027</a:t>
                      </a:r>
                      <a:endParaRPr lang="vi-VN" sz="1800" b="0">
                        <a:solidFill>
                          <a:schemeClr val="tx1"/>
                        </a:solidFill>
                        <a:effectLst/>
                        <a:latin typeface="Lato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vi-VN" sz="1800" b="0" i="0" u="none" strike="noStrike">
                          <a:solidFill>
                            <a:schemeClr val="tx1"/>
                          </a:solidFill>
                          <a:effectLst/>
                          <a:latin typeface="Lato"/>
                        </a:rPr>
                        <a:t>0.0019</a:t>
                      </a:r>
                      <a:endParaRPr lang="vi-VN" sz="1800" b="0">
                        <a:solidFill>
                          <a:schemeClr val="tx1"/>
                        </a:solidFill>
                        <a:effectLst/>
                        <a:latin typeface="Lato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vi-VN" sz="1800" b="0" i="0" u="none" strike="noStrike">
                          <a:solidFill>
                            <a:schemeClr val="tx1"/>
                          </a:solidFill>
                          <a:effectLst/>
                          <a:latin typeface="Lato"/>
                        </a:rPr>
                        <a:t>0.0049</a:t>
                      </a:r>
                      <a:endParaRPr lang="vi-VN" sz="1800" b="0">
                        <a:solidFill>
                          <a:schemeClr val="tx1"/>
                        </a:solidFill>
                        <a:effectLst/>
                        <a:latin typeface="Lato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vi-VN" sz="1800" b="0" i="0" u="none" strike="noStrike">
                          <a:solidFill>
                            <a:schemeClr val="tx1"/>
                          </a:solidFill>
                          <a:effectLst/>
                          <a:latin typeface="Lato"/>
                        </a:rPr>
                        <a:t>0.0038</a:t>
                      </a:r>
                      <a:endParaRPr lang="vi-VN" sz="1800" b="0">
                        <a:solidFill>
                          <a:schemeClr val="tx1"/>
                        </a:solidFill>
                        <a:effectLst/>
                        <a:latin typeface="Lato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vi-VN" sz="1800" b="0" i="0" u="none" strike="noStrike">
                          <a:solidFill>
                            <a:schemeClr val="tx1"/>
                          </a:solidFill>
                          <a:effectLst/>
                          <a:latin typeface="Lato"/>
                        </a:rPr>
                        <a:t>0.0228</a:t>
                      </a:r>
                      <a:endParaRPr lang="vi-VN" sz="1800" b="0">
                        <a:solidFill>
                          <a:schemeClr val="tx1"/>
                        </a:solidFill>
                        <a:effectLst/>
                        <a:latin typeface="Lato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vi-VN" sz="1800" b="0" i="0" u="none" strike="noStrike">
                          <a:solidFill>
                            <a:schemeClr val="tx1"/>
                          </a:solidFill>
                          <a:effectLst/>
                          <a:latin typeface="Lato"/>
                        </a:rPr>
                        <a:t>0.0282</a:t>
                      </a:r>
                      <a:endParaRPr lang="vi-VN" sz="1800" b="0">
                        <a:solidFill>
                          <a:schemeClr val="tx1"/>
                        </a:solidFill>
                        <a:effectLst/>
                        <a:latin typeface="Lato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6222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t"/>
                      <a:r>
                        <a:rPr lang="vi-VN" sz="1800" b="1" i="0" u="none" strike="noStrike" err="1">
                          <a:solidFill>
                            <a:schemeClr val="tx1"/>
                          </a:solidFill>
                          <a:effectLst/>
                          <a:latin typeface="Lato"/>
                        </a:rPr>
                        <a:t>EmerG</a:t>
                      </a:r>
                      <a:endParaRPr lang="vi-VN" sz="1800" b="1">
                        <a:solidFill>
                          <a:schemeClr val="tx1"/>
                        </a:solidFill>
                        <a:effectLst/>
                        <a:latin typeface="Lato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vi-VN" sz="1800" b="0" i="0" u="none" strike="noStrike">
                          <a:solidFill>
                            <a:schemeClr val="tx1"/>
                          </a:solidFill>
                          <a:effectLst/>
                          <a:latin typeface="Lato"/>
                        </a:rPr>
                        <a:t>0.2325</a:t>
                      </a:r>
                      <a:endParaRPr lang="vi-VN" sz="1800" b="0">
                        <a:solidFill>
                          <a:schemeClr val="tx1"/>
                        </a:solidFill>
                        <a:effectLst/>
                        <a:latin typeface="Lato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vi-VN" sz="1800" b="0" i="0" u="none" strike="noStrike">
                          <a:solidFill>
                            <a:schemeClr val="tx1"/>
                          </a:solidFill>
                          <a:effectLst/>
                          <a:latin typeface="Lato"/>
                        </a:rPr>
                        <a:t>0.1749</a:t>
                      </a:r>
                      <a:endParaRPr lang="vi-VN" sz="1800" b="0">
                        <a:solidFill>
                          <a:schemeClr val="tx1"/>
                        </a:solidFill>
                        <a:effectLst/>
                        <a:latin typeface="Lato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vi-VN" sz="1800" b="0" i="0" u="none" strike="noStrike">
                          <a:solidFill>
                            <a:schemeClr val="tx1"/>
                          </a:solidFill>
                          <a:effectLst/>
                          <a:latin typeface="Lato"/>
                        </a:rPr>
                        <a:t>0.2509</a:t>
                      </a:r>
                      <a:endParaRPr lang="vi-VN" sz="1800" b="0">
                        <a:solidFill>
                          <a:schemeClr val="tx1"/>
                        </a:solidFill>
                        <a:effectLst/>
                        <a:latin typeface="Lato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vi-VN" sz="1800" b="0" i="0" u="none" strike="noStrike">
                          <a:solidFill>
                            <a:schemeClr val="tx1"/>
                          </a:solidFill>
                          <a:effectLst/>
                          <a:latin typeface="Lato"/>
                        </a:rPr>
                        <a:t>0.1522</a:t>
                      </a:r>
                      <a:endParaRPr lang="vi-VN" sz="1800" b="0">
                        <a:solidFill>
                          <a:schemeClr val="tx1"/>
                        </a:solidFill>
                        <a:effectLst/>
                        <a:latin typeface="Lato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vi-VN" sz="1800" b="0" i="0" u="none" strike="noStrike">
                          <a:solidFill>
                            <a:schemeClr val="tx1"/>
                          </a:solidFill>
                          <a:effectLst/>
                          <a:latin typeface="Lato"/>
                        </a:rPr>
                        <a:t>0.2604</a:t>
                      </a:r>
                      <a:endParaRPr lang="vi-VN" sz="1800" b="0">
                        <a:solidFill>
                          <a:schemeClr val="tx1"/>
                        </a:solidFill>
                        <a:effectLst/>
                        <a:latin typeface="Lato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vi-VN" sz="1800" b="0" i="0" u="none" strike="noStrike">
                          <a:solidFill>
                            <a:schemeClr val="tx1"/>
                          </a:solidFill>
                          <a:effectLst/>
                          <a:latin typeface="Lato"/>
                        </a:rPr>
                        <a:t>0.1546</a:t>
                      </a:r>
                      <a:endParaRPr lang="vi-VN" sz="1800" b="0">
                        <a:solidFill>
                          <a:schemeClr val="tx1"/>
                        </a:solidFill>
                        <a:effectLst/>
                        <a:latin typeface="Lato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vi-VN" sz="1800" b="0" i="0" u="none" strike="noStrike">
                          <a:solidFill>
                            <a:schemeClr val="tx1"/>
                          </a:solidFill>
                          <a:effectLst/>
                          <a:latin typeface="Lato"/>
                        </a:rPr>
                        <a:t>0.2654</a:t>
                      </a:r>
                      <a:endParaRPr lang="vi-VN" sz="1800" b="0">
                        <a:solidFill>
                          <a:schemeClr val="tx1"/>
                        </a:solidFill>
                        <a:effectLst/>
                        <a:latin typeface="Lato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vi-VN" sz="1800" b="0" i="0" u="none" strike="noStrike">
                          <a:solidFill>
                            <a:schemeClr val="tx1"/>
                          </a:solidFill>
                          <a:effectLst/>
                          <a:latin typeface="Lato"/>
                        </a:rPr>
                        <a:t>0.1561</a:t>
                      </a:r>
                      <a:endParaRPr lang="vi-VN" sz="1800" b="0">
                        <a:solidFill>
                          <a:schemeClr val="tx1"/>
                        </a:solidFill>
                        <a:effectLst/>
                        <a:latin typeface="Lato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32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25623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8335B66-05D9-7C0D-27BA-DF7D5D006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>
                <a:ea typeface="Questrial"/>
                <a:cs typeface="Questrial"/>
              </a:rPr>
              <a:t>6. </a:t>
            </a:r>
            <a:r>
              <a:rPr lang="vi-VN" b="1" err="1">
                <a:ea typeface="Questrial"/>
                <a:cs typeface="Questrial"/>
              </a:rPr>
              <a:t>Conclusion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5538C0CC-496F-4FA5-0E47-E6A146E06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vi-VN" sz="2300">
                <a:ea typeface="+mn-lt"/>
                <a:cs typeface="+mn-lt"/>
              </a:rPr>
              <a:t>In </a:t>
            </a:r>
            <a:r>
              <a:rPr lang="vi-VN" sz="2300" err="1">
                <a:ea typeface="+mn-lt"/>
                <a:cs typeface="+mn-lt"/>
              </a:rPr>
              <a:t>this</a:t>
            </a:r>
            <a:r>
              <a:rPr lang="vi-VN" sz="2300">
                <a:ea typeface="+mn-lt"/>
                <a:cs typeface="+mn-lt"/>
              </a:rPr>
              <a:t> </a:t>
            </a:r>
            <a:r>
              <a:rPr lang="vi-VN" sz="2300" err="1">
                <a:ea typeface="+mn-lt"/>
                <a:cs typeface="+mn-lt"/>
              </a:rPr>
              <a:t>project</a:t>
            </a:r>
            <a:r>
              <a:rPr lang="vi-VN" sz="2300">
                <a:ea typeface="+mn-lt"/>
                <a:cs typeface="+mn-lt"/>
              </a:rPr>
              <a:t>, </a:t>
            </a:r>
            <a:r>
              <a:rPr lang="vi-VN" sz="2300" err="1">
                <a:ea typeface="+mn-lt"/>
                <a:cs typeface="+mn-lt"/>
              </a:rPr>
              <a:t>we</a:t>
            </a:r>
            <a:r>
              <a:rPr lang="vi-VN" sz="2300">
                <a:ea typeface="+mn-lt"/>
                <a:cs typeface="+mn-lt"/>
              </a:rPr>
              <a:t> </a:t>
            </a:r>
            <a:r>
              <a:rPr lang="vi-VN" sz="2300" err="1">
                <a:ea typeface="+mn-lt"/>
                <a:cs typeface="+mn-lt"/>
              </a:rPr>
              <a:t>evaluated</a:t>
            </a:r>
            <a:r>
              <a:rPr lang="vi-VN" sz="2300">
                <a:ea typeface="+mn-lt"/>
                <a:cs typeface="+mn-lt"/>
              </a:rPr>
              <a:t> </a:t>
            </a:r>
            <a:r>
              <a:rPr lang="vi-VN" sz="2300" err="1">
                <a:ea typeface="+mn-lt"/>
                <a:cs typeface="+mn-lt"/>
              </a:rPr>
              <a:t>several</a:t>
            </a:r>
            <a:r>
              <a:rPr lang="vi-VN" sz="2300">
                <a:ea typeface="+mn-lt"/>
                <a:cs typeface="+mn-lt"/>
              </a:rPr>
              <a:t> </a:t>
            </a:r>
            <a:r>
              <a:rPr lang="vi-VN" sz="2300" err="1">
                <a:ea typeface="+mn-lt"/>
                <a:cs typeface="+mn-lt"/>
              </a:rPr>
              <a:t>recommendation</a:t>
            </a:r>
            <a:r>
              <a:rPr lang="vi-VN" sz="2300">
                <a:ea typeface="+mn-lt"/>
                <a:cs typeface="+mn-lt"/>
              </a:rPr>
              <a:t> </a:t>
            </a:r>
            <a:r>
              <a:rPr lang="vi-VN" sz="2300" err="1">
                <a:ea typeface="+mn-lt"/>
                <a:cs typeface="+mn-lt"/>
              </a:rPr>
              <a:t>models</a:t>
            </a:r>
            <a:r>
              <a:rPr lang="vi-VN" sz="2300">
                <a:ea typeface="+mn-lt"/>
                <a:cs typeface="+mn-lt"/>
              </a:rPr>
              <a:t> </a:t>
            </a:r>
            <a:r>
              <a:rPr lang="vi-VN" sz="2300" err="1">
                <a:ea typeface="+mn-lt"/>
                <a:cs typeface="+mn-lt"/>
              </a:rPr>
              <a:t>using</a:t>
            </a:r>
            <a:r>
              <a:rPr lang="vi-VN" sz="2300">
                <a:ea typeface="+mn-lt"/>
                <a:cs typeface="+mn-lt"/>
              </a:rPr>
              <a:t> the </a:t>
            </a:r>
            <a:r>
              <a:rPr lang="vi-VN" sz="2300" err="1">
                <a:ea typeface="+mn-lt"/>
                <a:cs typeface="+mn-lt"/>
              </a:rPr>
              <a:t>MovieLens</a:t>
            </a:r>
            <a:r>
              <a:rPr lang="vi-VN" sz="2300">
                <a:ea typeface="+mn-lt"/>
                <a:cs typeface="+mn-lt"/>
              </a:rPr>
              <a:t> 100K </a:t>
            </a:r>
            <a:r>
              <a:rPr lang="vi-VN" sz="2300" err="1">
                <a:ea typeface="+mn-lt"/>
                <a:cs typeface="+mn-lt"/>
              </a:rPr>
              <a:t>dataset</a:t>
            </a:r>
            <a:r>
              <a:rPr lang="vi-VN" sz="2300">
                <a:ea typeface="+mn-lt"/>
                <a:cs typeface="+mn-lt"/>
              </a:rPr>
              <a:t>, </a:t>
            </a:r>
            <a:r>
              <a:rPr lang="vi-VN" sz="2300" err="1">
                <a:ea typeface="+mn-lt"/>
                <a:cs typeface="+mn-lt"/>
              </a:rPr>
              <a:t>including</a:t>
            </a:r>
            <a:r>
              <a:rPr lang="vi-VN" sz="2300">
                <a:ea typeface="+mn-lt"/>
                <a:cs typeface="+mn-lt"/>
              </a:rPr>
              <a:t> </a:t>
            </a:r>
            <a:r>
              <a:rPr lang="vi-VN" sz="2300" err="1">
                <a:ea typeface="+mn-lt"/>
                <a:cs typeface="+mn-lt"/>
              </a:rPr>
              <a:t>LightGCN</a:t>
            </a:r>
            <a:r>
              <a:rPr lang="vi-VN" sz="2300">
                <a:ea typeface="+mn-lt"/>
                <a:cs typeface="+mn-lt"/>
              </a:rPr>
              <a:t>, </a:t>
            </a:r>
            <a:r>
              <a:rPr lang="vi-VN" sz="2300" err="1">
                <a:ea typeface="+mn-lt"/>
                <a:cs typeface="+mn-lt"/>
              </a:rPr>
              <a:t>BiVAE</a:t>
            </a:r>
            <a:r>
              <a:rPr lang="vi-VN" sz="2300">
                <a:ea typeface="+mn-lt"/>
                <a:cs typeface="+mn-lt"/>
              </a:rPr>
              <a:t>, BPR, </a:t>
            </a:r>
            <a:r>
              <a:rPr lang="vi-VN" sz="2300" err="1">
                <a:ea typeface="+mn-lt"/>
                <a:cs typeface="+mn-lt"/>
              </a:rPr>
              <a:t>LightFM</a:t>
            </a:r>
            <a:r>
              <a:rPr lang="vi-VN" sz="2300">
                <a:ea typeface="+mn-lt"/>
                <a:cs typeface="+mn-lt"/>
              </a:rPr>
              <a:t>, NCF, </a:t>
            </a:r>
            <a:r>
              <a:rPr lang="vi-VN" sz="2300" err="1">
                <a:ea typeface="+mn-lt"/>
                <a:cs typeface="+mn-lt"/>
              </a:rPr>
              <a:t>and</a:t>
            </a:r>
            <a:r>
              <a:rPr lang="vi-VN" sz="2300">
                <a:ea typeface="+mn-lt"/>
                <a:cs typeface="+mn-lt"/>
              </a:rPr>
              <a:t> MF </a:t>
            </a:r>
            <a:r>
              <a:rPr lang="vi-VN" sz="2300" err="1">
                <a:ea typeface="+mn-lt"/>
                <a:cs typeface="+mn-lt"/>
              </a:rPr>
              <a:t>on</a:t>
            </a:r>
            <a:r>
              <a:rPr lang="vi-VN" sz="2300">
                <a:ea typeface="+mn-lt"/>
                <a:cs typeface="+mn-lt"/>
              </a:rPr>
              <a:t> </a:t>
            </a:r>
            <a:r>
              <a:rPr lang="vi-VN" sz="2300" err="1">
                <a:ea typeface="+mn-lt"/>
                <a:cs typeface="+mn-lt"/>
              </a:rPr>
              <a:t>metrics</a:t>
            </a:r>
            <a:r>
              <a:rPr lang="vi-VN" sz="2300">
                <a:ea typeface="+mn-lt"/>
                <a:cs typeface="+mn-lt"/>
              </a:rPr>
              <a:t> Precision@10, Recall@10. </a:t>
            </a:r>
            <a:r>
              <a:rPr lang="vi-VN" sz="2300" err="1">
                <a:ea typeface="+mn-lt"/>
                <a:cs typeface="+mn-lt"/>
              </a:rPr>
              <a:t>LightGCN</a:t>
            </a:r>
            <a:r>
              <a:rPr lang="vi-VN" sz="2300">
                <a:ea typeface="+mn-lt"/>
                <a:cs typeface="+mn-lt"/>
              </a:rPr>
              <a:t> </a:t>
            </a:r>
            <a:r>
              <a:rPr lang="vi-VN" sz="2300" err="1">
                <a:ea typeface="+mn-lt"/>
                <a:cs typeface="+mn-lt"/>
              </a:rPr>
              <a:t>and</a:t>
            </a:r>
            <a:r>
              <a:rPr lang="vi-VN" sz="2300">
                <a:ea typeface="+mn-lt"/>
                <a:cs typeface="+mn-lt"/>
              </a:rPr>
              <a:t> BPR </a:t>
            </a:r>
            <a:r>
              <a:rPr lang="vi-VN" sz="2300" err="1">
                <a:ea typeface="+mn-lt"/>
                <a:cs typeface="+mn-lt"/>
              </a:rPr>
              <a:t>performed</a:t>
            </a:r>
            <a:r>
              <a:rPr lang="vi-VN" sz="2300">
                <a:ea typeface="+mn-lt"/>
                <a:cs typeface="+mn-lt"/>
              </a:rPr>
              <a:t> </a:t>
            </a:r>
            <a:r>
              <a:rPr lang="vi-VN" sz="2300" err="1">
                <a:ea typeface="+mn-lt"/>
                <a:cs typeface="+mn-lt"/>
              </a:rPr>
              <a:t>particularly</a:t>
            </a:r>
            <a:r>
              <a:rPr lang="vi-VN" sz="2300">
                <a:ea typeface="+mn-lt"/>
                <a:cs typeface="+mn-lt"/>
              </a:rPr>
              <a:t> </a:t>
            </a:r>
            <a:r>
              <a:rPr lang="vi-VN" sz="2300" err="1">
                <a:ea typeface="+mn-lt"/>
                <a:cs typeface="+mn-lt"/>
              </a:rPr>
              <a:t>well</a:t>
            </a:r>
            <a:r>
              <a:rPr lang="vi-VN" sz="2300">
                <a:ea typeface="+mn-lt"/>
                <a:cs typeface="+mn-lt"/>
              </a:rPr>
              <a:t>, </a:t>
            </a:r>
            <a:r>
              <a:rPr lang="vi-VN" sz="2300" err="1">
                <a:ea typeface="+mn-lt"/>
                <a:cs typeface="+mn-lt"/>
              </a:rPr>
              <a:t>providing</a:t>
            </a:r>
            <a:r>
              <a:rPr lang="vi-VN" sz="2300">
                <a:ea typeface="+mn-lt"/>
                <a:cs typeface="+mn-lt"/>
              </a:rPr>
              <a:t> </a:t>
            </a:r>
            <a:r>
              <a:rPr lang="vi-VN" sz="2300" err="1">
                <a:ea typeface="+mn-lt"/>
                <a:cs typeface="+mn-lt"/>
              </a:rPr>
              <a:t>relevant</a:t>
            </a:r>
            <a:r>
              <a:rPr lang="vi-VN" sz="2300">
                <a:ea typeface="+mn-lt"/>
                <a:cs typeface="+mn-lt"/>
              </a:rPr>
              <a:t> </a:t>
            </a:r>
            <a:r>
              <a:rPr lang="vi-VN" sz="2300" err="1">
                <a:ea typeface="+mn-lt"/>
                <a:cs typeface="+mn-lt"/>
              </a:rPr>
              <a:t>and</a:t>
            </a:r>
            <a:r>
              <a:rPr lang="vi-VN" sz="2300">
                <a:ea typeface="+mn-lt"/>
                <a:cs typeface="+mn-lt"/>
              </a:rPr>
              <a:t> </a:t>
            </a:r>
            <a:r>
              <a:rPr lang="vi-VN" sz="2300" err="1">
                <a:ea typeface="+mn-lt"/>
                <a:cs typeface="+mn-lt"/>
              </a:rPr>
              <a:t>comprehensive</a:t>
            </a:r>
            <a:r>
              <a:rPr lang="vi-VN" sz="2300">
                <a:ea typeface="+mn-lt"/>
                <a:cs typeface="+mn-lt"/>
              </a:rPr>
              <a:t> </a:t>
            </a:r>
            <a:r>
              <a:rPr lang="vi-VN" sz="2300" err="1">
                <a:ea typeface="+mn-lt"/>
                <a:cs typeface="+mn-lt"/>
              </a:rPr>
              <a:t>recommendations</a:t>
            </a:r>
            <a:r>
              <a:rPr lang="vi-VN" sz="2300">
                <a:ea typeface="+mn-lt"/>
                <a:cs typeface="+mn-lt"/>
              </a:rPr>
              <a:t> </a:t>
            </a:r>
            <a:r>
              <a:rPr lang="vi-VN" sz="2300" err="1">
                <a:ea typeface="+mn-lt"/>
                <a:cs typeface="+mn-lt"/>
              </a:rPr>
              <a:t>across</a:t>
            </a:r>
            <a:r>
              <a:rPr lang="vi-VN" sz="2300">
                <a:ea typeface="+mn-lt"/>
                <a:cs typeface="+mn-lt"/>
              </a:rPr>
              <a:t> </a:t>
            </a:r>
            <a:r>
              <a:rPr lang="vi-VN" sz="2300" err="1">
                <a:ea typeface="+mn-lt"/>
                <a:cs typeface="+mn-lt"/>
              </a:rPr>
              <a:t>various</a:t>
            </a:r>
            <a:r>
              <a:rPr lang="vi-VN" sz="2300">
                <a:ea typeface="+mn-lt"/>
                <a:cs typeface="+mn-lt"/>
              </a:rPr>
              <a:t> </a:t>
            </a:r>
            <a:r>
              <a:rPr lang="vi-VN" sz="2300" err="1">
                <a:ea typeface="+mn-lt"/>
                <a:cs typeface="+mn-lt"/>
              </a:rPr>
              <a:t>scenarios</a:t>
            </a:r>
            <a:r>
              <a:rPr lang="vi-VN" sz="2300">
                <a:ea typeface="+mn-lt"/>
                <a:cs typeface="+mn-lt"/>
              </a:rPr>
              <a:t>.</a:t>
            </a:r>
            <a:endParaRPr lang="vi-VN" sz="2300">
              <a:ea typeface="Lato"/>
              <a:cs typeface="Lato"/>
            </a:endParaRPr>
          </a:p>
          <a:p>
            <a:pPr algn="just"/>
            <a:r>
              <a:rPr lang="vi-VN" sz="2300">
                <a:ea typeface="+mn-lt"/>
                <a:cs typeface="+mn-lt"/>
              </a:rPr>
              <a:t>To </a:t>
            </a:r>
            <a:r>
              <a:rPr lang="vi-VN" sz="2300" err="1">
                <a:ea typeface="+mn-lt"/>
                <a:cs typeface="+mn-lt"/>
              </a:rPr>
              <a:t>address</a:t>
            </a:r>
            <a:r>
              <a:rPr lang="vi-VN" sz="2300">
                <a:ea typeface="+mn-lt"/>
                <a:cs typeface="+mn-lt"/>
              </a:rPr>
              <a:t> the </a:t>
            </a:r>
            <a:r>
              <a:rPr lang="vi-VN" sz="2300" err="1">
                <a:ea typeface="+mn-lt"/>
                <a:cs typeface="+mn-lt"/>
              </a:rPr>
              <a:t>cold-start</a:t>
            </a:r>
            <a:r>
              <a:rPr lang="vi-VN" sz="2300">
                <a:ea typeface="+mn-lt"/>
                <a:cs typeface="+mn-lt"/>
              </a:rPr>
              <a:t> </a:t>
            </a:r>
            <a:r>
              <a:rPr lang="vi-VN" sz="2300" err="1">
                <a:ea typeface="+mn-lt"/>
                <a:cs typeface="+mn-lt"/>
              </a:rPr>
              <a:t>challenge</a:t>
            </a:r>
            <a:r>
              <a:rPr lang="vi-VN" sz="2300">
                <a:ea typeface="+mn-lt"/>
                <a:cs typeface="+mn-lt"/>
              </a:rPr>
              <a:t>, </a:t>
            </a:r>
            <a:r>
              <a:rPr lang="vi-VN" sz="2300" err="1">
                <a:ea typeface="+mn-lt"/>
                <a:cs typeface="+mn-lt"/>
              </a:rPr>
              <a:t>we</a:t>
            </a:r>
            <a:r>
              <a:rPr lang="vi-VN" sz="2300">
                <a:ea typeface="+mn-lt"/>
                <a:cs typeface="+mn-lt"/>
              </a:rPr>
              <a:t> </a:t>
            </a:r>
            <a:r>
              <a:rPr lang="vi-VN" sz="2300" err="1">
                <a:ea typeface="+mn-lt"/>
                <a:cs typeface="+mn-lt"/>
              </a:rPr>
              <a:t>explored</a:t>
            </a:r>
            <a:r>
              <a:rPr lang="vi-VN" sz="2300">
                <a:ea typeface="+mn-lt"/>
                <a:cs typeface="+mn-lt"/>
              </a:rPr>
              <a:t> </a:t>
            </a:r>
            <a:r>
              <a:rPr lang="vi-VN" sz="2300" err="1">
                <a:ea typeface="+mn-lt"/>
                <a:cs typeface="+mn-lt"/>
              </a:rPr>
              <a:t>EmerG</a:t>
            </a:r>
            <a:r>
              <a:rPr lang="vi-VN" sz="2300">
                <a:ea typeface="+mn-lt"/>
                <a:cs typeface="+mn-lt"/>
              </a:rPr>
              <a:t>, </a:t>
            </a:r>
            <a:r>
              <a:rPr lang="vi-VN" sz="2300" err="1">
                <a:ea typeface="+mn-lt"/>
                <a:cs typeface="+mn-lt"/>
              </a:rPr>
              <a:t>which</a:t>
            </a:r>
            <a:r>
              <a:rPr lang="vi-VN" sz="2300">
                <a:ea typeface="+mn-lt"/>
                <a:cs typeface="+mn-lt"/>
              </a:rPr>
              <a:t> </a:t>
            </a:r>
            <a:r>
              <a:rPr lang="vi-VN" sz="2300" err="1">
                <a:ea typeface="+mn-lt"/>
                <a:cs typeface="+mn-lt"/>
              </a:rPr>
              <a:t>emerged</a:t>
            </a:r>
            <a:r>
              <a:rPr lang="vi-VN" sz="2300">
                <a:ea typeface="+mn-lt"/>
                <a:cs typeface="+mn-lt"/>
              </a:rPr>
              <a:t> </a:t>
            </a:r>
            <a:r>
              <a:rPr lang="vi-VN" sz="2300" err="1">
                <a:ea typeface="+mn-lt"/>
                <a:cs typeface="+mn-lt"/>
              </a:rPr>
              <a:t>as</a:t>
            </a:r>
            <a:r>
              <a:rPr lang="vi-VN" sz="2300">
                <a:ea typeface="+mn-lt"/>
                <a:cs typeface="+mn-lt"/>
              </a:rPr>
              <a:t> a </a:t>
            </a:r>
            <a:r>
              <a:rPr lang="vi-VN" sz="2300" err="1">
                <a:ea typeface="+mn-lt"/>
                <a:cs typeface="+mn-lt"/>
              </a:rPr>
              <a:t>robust</a:t>
            </a:r>
            <a:r>
              <a:rPr lang="vi-VN" sz="2300">
                <a:ea typeface="+mn-lt"/>
                <a:cs typeface="+mn-lt"/>
              </a:rPr>
              <a:t> </a:t>
            </a:r>
            <a:r>
              <a:rPr lang="vi-VN" sz="2300" err="1">
                <a:ea typeface="+mn-lt"/>
                <a:cs typeface="+mn-lt"/>
              </a:rPr>
              <a:t>solution</a:t>
            </a:r>
            <a:r>
              <a:rPr lang="vi-VN" sz="2300">
                <a:ea typeface="+mn-lt"/>
                <a:cs typeface="+mn-lt"/>
              </a:rPr>
              <a:t>. </a:t>
            </a:r>
            <a:r>
              <a:rPr lang="vi-VN" sz="2300" err="1">
                <a:ea typeface="+mn-lt"/>
                <a:cs typeface="+mn-lt"/>
              </a:rPr>
              <a:t>Our</a:t>
            </a:r>
            <a:r>
              <a:rPr lang="vi-VN" sz="2300">
                <a:ea typeface="+mn-lt"/>
                <a:cs typeface="+mn-lt"/>
              </a:rPr>
              <a:t> </a:t>
            </a:r>
            <a:r>
              <a:rPr lang="vi-VN" sz="2300" err="1">
                <a:ea typeface="+mn-lt"/>
                <a:cs typeface="+mn-lt"/>
              </a:rPr>
              <a:t>experiments</a:t>
            </a:r>
            <a:r>
              <a:rPr lang="vi-VN" sz="2300">
                <a:ea typeface="+mn-lt"/>
                <a:cs typeface="+mn-lt"/>
              </a:rPr>
              <a:t> </a:t>
            </a:r>
            <a:r>
              <a:rPr lang="vi-VN" sz="2300" err="1">
                <a:ea typeface="+mn-lt"/>
                <a:cs typeface="+mn-lt"/>
              </a:rPr>
              <a:t>showed</a:t>
            </a:r>
            <a:r>
              <a:rPr lang="vi-VN" sz="2300">
                <a:ea typeface="+mn-lt"/>
                <a:cs typeface="+mn-lt"/>
              </a:rPr>
              <a:t> </a:t>
            </a:r>
            <a:r>
              <a:rPr lang="vi-VN" sz="2300" err="1">
                <a:ea typeface="+mn-lt"/>
                <a:cs typeface="+mn-lt"/>
              </a:rPr>
              <a:t>that</a:t>
            </a:r>
            <a:r>
              <a:rPr lang="vi-VN" sz="2300">
                <a:ea typeface="+mn-lt"/>
                <a:cs typeface="+mn-lt"/>
              </a:rPr>
              <a:t> </a:t>
            </a:r>
            <a:r>
              <a:rPr lang="vi-VN" sz="2300" err="1">
                <a:ea typeface="+mn-lt"/>
                <a:cs typeface="+mn-lt"/>
              </a:rPr>
              <a:t>EmerG</a:t>
            </a:r>
            <a:r>
              <a:rPr lang="vi-VN" sz="2300">
                <a:ea typeface="+mn-lt"/>
                <a:cs typeface="+mn-lt"/>
              </a:rPr>
              <a:t> </a:t>
            </a:r>
            <a:r>
              <a:rPr lang="vi-VN" sz="2300" err="1">
                <a:ea typeface="+mn-lt"/>
                <a:cs typeface="+mn-lt"/>
              </a:rPr>
              <a:t>effectively</a:t>
            </a:r>
            <a:r>
              <a:rPr lang="vi-VN" sz="2300">
                <a:ea typeface="+mn-lt"/>
                <a:cs typeface="+mn-lt"/>
              </a:rPr>
              <a:t> </a:t>
            </a:r>
            <a:r>
              <a:rPr lang="vi-VN" sz="2300" err="1">
                <a:ea typeface="+mn-lt"/>
                <a:cs typeface="+mn-lt"/>
              </a:rPr>
              <a:t>handled</a:t>
            </a:r>
            <a:r>
              <a:rPr lang="vi-VN" sz="2300">
                <a:ea typeface="+mn-lt"/>
                <a:cs typeface="+mn-lt"/>
              </a:rPr>
              <a:t> </a:t>
            </a:r>
            <a:r>
              <a:rPr lang="vi-VN" sz="2300" err="1">
                <a:ea typeface="+mn-lt"/>
                <a:cs typeface="+mn-lt"/>
              </a:rPr>
              <a:t>new</a:t>
            </a:r>
            <a:r>
              <a:rPr lang="vi-VN" sz="2300">
                <a:ea typeface="+mn-lt"/>
                <a:cs typeface="+mn-lt"/>
              </a:rPr>
              <a:t> </a:t>
            </a:r>
            <a:r>
              <a:rPr lang="vi-VN" sz="2300" err="1">
                <a:ea typeface="+mn-lt"/>
                <a:cs typeface="+mn-lt"/>
              </a:rPr>
              <a:t>users</a:t>
            </a:r>
            <a:r>
              <a:rPr lang="vi-VN" sz="2300">
                <a:ea typeface="+mn-lt"/>
                <a:cs typeface="+mn-lt"/>
              </a:rPr>
              <a:t> </a:t>
            </a:r>
            <a:r>
              <a:rPr lang="vi-VN" sz="2300" err="1">
                <a:ea typeface="+mn-lt"/>
                <a:cs typeface="+mn-lt"/>
              </a:rPr>
              <a:t>and</a:t>
            </a:r>
            <a:r>
              <a:rPr lang="vi-VN" sz="2300">
                <a:ea typeface="+mn-lt"/>
                <a:cs typeface="+mn-lt"/>
              </a:rPr>
              <a:t> </a:t>
            </a:r>
            <a:r>
              <a:rPr lang="vi-VN" sz="2300" err="1">
                <a:ea typeface="+mn-lt"/>
                <a:cs typeface="+mn-lt"/>
              </a:rPr>
              <a:t>items</a:t>
            </a:r>
            <a:r>
              <a:rPr lang="vi-VN" sz="2300">
                <a:ea typeface="+mn-lt"/>
                <a:cs typeface="+mn-lt"/>
              </a:rPr>
              <a:t>, </a:t>
            </a:r>
            <a:r>
              <a:rPr lang="vi-VN" sz="2300" err="1">
                <a:ea typeface="+mn-lt"/>
                <a:cs typeface="+mn-lt"/>
              </a:rPr>
              <a:t>improving</a:t>
            </a:r>
            <a:r>
              <a:rPr lang="vi-VN" sz="2300">
                <a:ea typeface="+mn-lt"/>
                <a:cs typeface="+mn-lt"/>
              </a:rPr>
              <a:t> </a:t>
            </a:r>
            <a:r>
              <a:rPr lang="vi-VN" sz="2300" err="1">
                <a:ea typeface="+mn-lt"/>
                <a:cs typeface="+mn-lt"/>
              </a:rPr>
              <a:t>recommendation</a:t>
            </a:r>
            <a:r>
              <a:rPr lang="vi-VN" sz="2300">
                <a:ea typeface="+mn-lt"/>
                <a:cs typeface="+mn-lt"/>
              </a:rPr>
              <a:t> </a:t>
            </a:r>
            <a:r>
              <a:rPr lang="vi-VN" sz="2300" err="1">
                <a:ea typeface="+mn-lt"/>
                <a:cs typeface="+mn-lt"/>
              </a:rPr>
              <a:t>quality</a:t>
            </a:r>
            <a:r>
              <a:rPr lang="vi-VN" sz="2300">
                <a:ea typeface="+mn-lt"/>
                <a:cs typeface="+mn-lt"/>
              </a:rPr>
              <a:t> </a:t>
            </a:r>
            <a:r>
              <a:rPr lang="vi-VN" sz="2300" err="1">
                <a:ea typeface="+mn-lt"/>
                <a:cs typeface="+mn-lt"/>
              </a:rPr>
              <a:t>for</a:t>
            </a:r>
            <a:r>
              <a:rPr lang="vi-VN" sz="2300">
                <a:ea typeface="+mn-lt"/>
                <a:cs typeface="+mn-lt"/>
              </a:rPr>
              <a:t> </a:t>
            </a:r>
            <a:r>
              <a:rPr lang="vi-VN" sz="2300" err="1">
                <a:ea typeface="+mn-lt"/>
                <a:cs typeface="+mn-lt"/>
              </a:rPr>
              <a:t>cold-start</a:t>
            </a:r>
            <a:r>
              <a:rPr lang="vi-VN" sz="2300">
                <a:ea typeface="+mn-lt"/>
                <a:cs typeface="+mn-lt"/>
              </a:rPr>
              <a:t>, </a:t>
            </a:r>
            <a:r>
              <a:rPr lang="vi-VN" sz="2300" err="1">
                <a:ea typeface="+mn-lt"/>
                <a:cs typeface="+mn-lt"/>
              </a:rPr>
              <a:t>and</a:t>
            </a:r>
            <a:r>
              <a:rPr lang="vi-VN" sz="2300">
                <a:ea typeface="+mn-lt"/>
                <a:cs typeface="+mn-lt"/>
              </a:rPr>
              <a:t> </a:t>
            </a:r>
            <a:r>
              <a:rPr lang="vi-VN" sz="2300" err="1">
                <a:ea typeface="+mn-lt"/>
                <a:cs typeface="+mn-lt"/>
              </a:rPr>
              <a:t>warm</a:t>
            </a:r>
            <a:r>
              <a:rPr lang="vi-VN" sz="2300">
                <a:ea typeface="+mn-lt"/>
                <a:cs typeface="+mn-lt"/>
              </a:rPr>
              <a:t> </a:t>
            </a:r>
            <a:r>
              <a:rPr lang="vi-VN" sz="2300" err="1">
                <a:ea typeface="+mn-lt"/>
                <a:cs typeface="+mn-lt"/>
              </a:rPr>
              <a:t>start</a:t>
            </a:r>
            <a:r>
              <a:rPr lang="vi-VN" sz="2300">
                <a:ea typeface="+mn-lt"/>
                <a:cs typeface="+mn-lt"/>
              </a:rPr>
              <a:t> </a:t>
            </a:r>
            <a:r>
              <a:rPr lang="vi-VN" sz="2300" err="1">
                <a:ea typeface="+mn-lt"/>
                <a:cs typeface="+mn-lt"/>
              </a:rPr>
              <a:t>scenarios</a:t>
            </a:r>
            <a:r>
              <a:rPr lang="vi-VN" sz="2300">
                <a:ea typeface="+mn-lt"/>
                <a:cs typeface="+mn-lt"/>
              </a:rPr>
              <a:t>. </a:t>
            </a:r>
            <a:endParaRPr lang="vi-VN" sz="2300"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2610940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75DE5-E84C-8DC2-5851-6C6C7F352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Questrial"/>
                <a:cs typeface="Questrial"/>
              </a:rPr>
              <a:t>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0D918-4D20-E570-A834-3467E0031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29454" cy="41936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buNone/>
            </a:pPr>
            <a:endParaRPr lang="en-US" sz="2500">
              <a:highlight>
                <a:srgbClr val="FFFFFF"/>
              </a:highlight>
              <a:ea typeface="Lato"/>
              <a:cs typeface="Lato"/>
            </a:endParaRPr>
          </a:p>
          <a:p>
            <a:pPr algn="just">
              <a:buFont typeface="Calibri" panose="020B0604020202020204" pitchFamily="34" charset="0"/>
              <a:buChar char="-"/>
            </a:pPr>
            <a:endParaRPr lang="en-US" sz="2500">
              <a:highlight>
                <a:srgbClr val="FFFFFF"/>
              </a:highlight>
              <a:ea typeface="Lato"/>
              <a:cs typeface="Lato"/>
            </a:endParaRPr>
          </a:p>
          <a:p>
            <a:pPr algn="just">
              <a:buNone/>
            </a:pPr>
            <a:endParaRPr lang="en-US" sz="2500">
              <a:highlight>
                <a:srgbClr val="FFFFFF"/>
              </a:highlight>
              <a:ea typeface="Lato"/>
              <a:cs typeface="Lato"/>
            </a:endParaRPr>
          </a:p>
        </p:txBody>
      </p:sp>
      <p:graphicFrame>
        <p:nvGraphicFramePr>
          <p:cNvPr id="4" name="Bảng 3">
            <a:extLst>
              <a:ext uri="{FF2B5EF4-FFF2-40B4-BE49-F238E27FC236}">
                <a16:creationId xmlns:a16="http://schemas.microsoft.com/office/drawing/2014/main" id="{88D91428-A5ED-AEF4-6340-16CACFCBEC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852400"/>
              </p:ext>
            </p:extLst>
          </p:nvPr>
        </p:nvGraphicFramePr>
        <p:xfrm>
          <a:off x="2197652" y="2717800"/>
          <a:ext cx="8168639" cy="2225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8699">
                  <a:extLst>
                    <a:ext uri="{9D8B030D-6E8A-4147-A177-3AD203B41FA5}">
                      <a16:colId xmlns:a16="http://schemas.microsoft.com/office/drawing/2014/main" val="3369018034"/>
                    </a:ext>
                  </a:extLst>
                </a:gridCol>
                <a:gridCol w="5869940">
                  <a:extLst>
                    <a:ext uri="{9D8B030D-6E8A-4147-A177-3AD203B41FA5}">
                      <a16:colId xmlns:a16="http://schemas.microsoft.com/office/drawing/2014/main" val="31826763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vi-VN" err="1"/>
                        <a:t>Member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err="1"/>
                        <a:t>Method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0702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/>
                        <a:t>Nguyễn Thanh Bình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/>
                        <a:t>MF, BPR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6815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/>
                        <a:t>Lê Ngọc Bình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/>
                        <a:t>NCF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2915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/>
                        <a:t>Trần Quốc Đệ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err="1"/>
                        <a:t>DeepFM</a:t>
                      </a:r>
                      <a:r>
                        <a:rPr lang="vi-VN"/>
                        <a:t>, FM</a:t>
                      </a:r>
                      <a:endParaRPr lang="vi-VN" err="1"/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313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/>
                        <a:t>Nguyễn Nam Hải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err="1"/>
                        <a:t>BiVAE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66130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vi-VN"/>
                        <a:t>Phan Đức Hưng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vi-VN" err="1"/>
                        <a:t>LightGCN</a:t>
                      </a:r>
                      <a:r>
                        <a:rPr lang="vi-VN"/>
                        <a:t>, </a:t>
                      </a:r>
                      <a:r>
                        <a:rPr lang="vi-VN" err="1"/>
                        <a:t>EmerG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30458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75359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">
      <a:dk1>
        <a:srgbClr val="800000"/>
      </a:dk1>
      <a:lt1>
        <a:srgbClr val="FFFFFF"/>
      </a:lt1>
      <a:dk2>
        <a:srgbClr val="800000"/>
      </a:dk2>
      <a:lt2>
        <a:srgbClr val="FFFFFF"/>
      </a:lt2>
      <a:accent1>
        <a:srgbClr val="993300"/>
      </a:accent1>
      <a:accent2>
        <a:srgbClr val="993300"/>
      </a:accent2>
      <a:accent3>
        <a:srgbClr val="993300"/>
      </a:accent3>
      <a:accent4>
        <a:srgbClr val="993300"/>
      </a:accent4>
      <a:accent5>
        <a:srgbClr val="993300"/>
      </a:accent5>
      <a:accent6>
        <a:srgbClr val="993300"/>
      </a:accent6>
      <a:hlink>
        <a:srgbClr val="00B0F0"/>
      </a:hlink>
      <a:folHlink>
        <a:srgbClr val="00B0F0"/>
      </a:folHlink>
    </a:clrScheme>
    <a:fontScheme name="Custom 2">
      <a:majorFont>
        <a:latin typeface="Questrial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6AD9C3C0A18A4CB4E623A847940151" ma:contentTypeVersion="17" ma:contentTypeDescription="Create a new document." ma:contentTypeScope="" ma:versionID="1db30ba6f19f4da5f2eccd435237e977">
  <xsd:schema xmlns:xsd="http://www.w3.org/2001/XMLSchema" xmlns:xs="http://www.w3.org/2001/XMLSchema" xmlns:p="http://schemas.microsoft.com/office/2006/metadata/properties" xmlns:ns3="d75950b8-cc20-4b12-94f0-0f10ff6a63e2" xmlns:ns4="9324405d-ea1e-43bc-a33f-0db1eb5beaf5" targetNamespace="http://schemas.microsoft.com/office/2006/metadata/properties" ma:root="true" ma:fieldsID="a3f5ab2f9fd05fdbe276ebd497d43d11" ns3:_="" ns4:_="">
    <xsd:import namespace="d75950b8-cc20-4b12-94f0-0f10ff6a63e2"/>
    <xsd:import namespace="9324405d-ea1e-43bc-a33f-0db1eb5beaf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5950b8-cc20-4b12-94f0-0f10ff6a63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24405d-ea1e-43bc-a33f-0db1eb5beaf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75950b8-cc20-4b12-94f0-0f10ff6a63e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333D55C-8326-47FC-9CA2-6783E2140B6F}">
  <ds:schemaRefs>
    <ds:schemaRef ds:uri="9324405d-ea1e-43bc-a33f-0db1eb5beaf5"/>
    <ds:schemaRef ds:uri="d75950b8-cc20-4b12-94f0-0f10ff6a63e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37AAD24-37D8-4A61-9FD1-97967D4011A6}">
  <ds:schemaRefs>
    <ds:schemaRef ds:uri="9324405d-ea1e-43bc-a33f-0db1eb5beaf5"/>
    <ds:schemaRef ds:uri="d75950b8-cc20-4b12-94f0-0f10ff6a63e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106FA0E-C873-40DD-BEAE-62156BC2FE9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Màn hình rộng</PresentationFormat>
  <Slides>20</Slides>
  <Notes>0</Notes>
  <HiddenSlides>0</HiddenSlides>
  <ScaleCrop>false</ScaleCrop>
  <HeadingPairs>
    <vt:vector size="4" baseType="variant">
      <vt:variant>
        <vt:lpstr>Chủ đề</vt:lpstr>
      </vt:variant>
      <vt:variant>
        <vt:i4>1</vt:i4>
      </vt:variant>
      <vt:variant>
        <vt:lpstr>Tiêu đề Bản chiếu</vt:lpstr>
      </vt:variant>
      <vt:variant>
        <vt:i4>20</vt:i4>
      </vt:variant>
    </vt:vector>
  </HeadingPairs>
  <TitlesOfParts>
    <vt:vector size="21" baseType="lpstr">
      <vt:lpstr>Office Theme</vt:lpstr>
      <vt:lpstr>Movielen Dataset Recommend System</vt:lpstr>
      <vt:lpstr>Bản trình bày PowerPoint</vt:lpstr>
      <vt:lpstr>1. Introduction</vt:lpstr>
      <vt:lpstr>2. Dataset</vt:lpstr>
      <vt:lpstr>2. Dataset</vt:lpstr>
      <vt:lpstr>2. Dataset</vt:lpstr>
      <vt:lpstr>2. Dataset</vt:lpstr>
      <vt:lpstr>2. Dataset</vt:lpstr>
      <vt:lpstr>3. Methods</vt:lpstr>
      <vt:lpstr>3. Methods</vt:lpstr>
      <vt:lpstr>3. Methods</vt:lpstr>
      <vt:lpstr>Experimental Results</vt:lpstr>
      <vt:lpstr>4. Cold Start Problem</vt:lpstr>
      <vt:lpstr>4. Cold Start Problem</vt:lpstr>
      <vt:lpstr>4. Cold Start Problem</vt:lpstr>
      <vt:lpstr>4. Cold Start Problem</vt:lpstr>
      <vt:lpstr>4. Cold Start Problem</vt:lpstr>
      <vt:lpstr>5. Experimental Results</vt:lpstr>
      <vt:lpstr>6. Conclusion</vt:lpstr>
      <vt:lpstr>Contribution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Algoritms for Solving Sudoku</dc:title>
  <dc:creator>Tran Duong Chinh 20210122</dc:creator>
  <cp:revision>2</cp:revision>
  <dcterms:created xsi:type="dcterms:W3CDTF">2023-02-12T06:05:02Z</dcterms:created>
  <dcterms:modified xsi:type="dcterms:W3CDTF">2024-12-23T01:32:42Z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0x0101001D6AD9C3C0A18A4CB4E623A847940151</vt:lpwstr>
  </property>
</Properties>
</file>